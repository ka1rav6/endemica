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am" id="{51a308ea-b6cd-729d-628e-dfda9a8770cc}">
          <p14:sldIdLst>
            <p14:sldId id="256"/>
          </p14:sldIdLst>
        </p14:section>
        <p14:section name="Problem" id="{2e597e01-7cd7-6efe-f12a-64eceb003265}">
          <p14:sldIdLst>
            <p14:sldId id="257"/>
          </p14:sldIdLst>
        </p14:section>
        <p14:section name="Solution" id="{1516c2dd-3228-b1b8-4a3f-9c1b2244959f}">
          <p14:sldIdLst>
            <p14:sldId id="258"/>
          </p14:sldIdLst>
        </p14:section>
        <p14:section name="Method" id="{ff1d9c2f-e9e1-d739-67d6-60e84ea0ab78}">
          <p14:sldIdLst>
            <p14:sldId id="259"/>
          </p14:sldIdLst>
        </p14:section>
        <p14:section name="TinyFish" id="{68106fbc-386e-aa27-febf-fbc1239d4c96}">
          <p14:sldIdLst>
            <p14:sldId id="260"/>
          </p14:sldIdLst>
        </p14:section>
        <p14:section name="Architecture" id="{5205dec0-cdf9-18f9-b642-2184bb636350}">
          <p14:sldIdLst>
            <p14:sldId id="261"/>
          </p14:sldIdLst>
        </p14:section>
        <p14:section name="Data" id="{00ff88ac-d99c-0be4-c722-bd031cf0d910}">
          <p14:sldIdLst>
            <p14:sldId id="262"/>
          </p14:sldIdLst>
        </p14:section>
        <p14:section name="Feasibility" id="{e20ddd05-aebd-4ec9-e53d-9d70f222b950}">
          <p14:sldIdLst>
            <p14:sldId id="263"/>
          </p14:sldIdLst>
        </p14:section>
        <p14:section name="Close" id="{5b992efd-4f2b-bc6e-645c-63eb0d0d450d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EF6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E8EEF6"/>
                </a:solidFill>
                <a:latin typeface="+mn-lt"/>
              </a:rPr>
              <a:t>P(≥1 infected arrival in 14 days) vs passengers/day on one route — illustrative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 per 100k at origin</c:v>
                </c:pt>
              </c:strCache>
            </c:strRef>
          </c:tx>
          <c:spPr>
            <a:solidFill>
              <a:srgbClr val="7A5A2A"/>
            </a:solidFill>
            <a:ln w="31750" cap="flat">
              <a:solidFill>
                <a:srgbClr val="7A5A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5A2A"/>
              </a:solidFill>
              <a:ln w="9525" cap="flat">
                <a:solidFill>
                  <a:srgbClr val="7A5A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200</c:v>
                  </c:pt>
                  <c:pt idx="2">
                    <c:v>500</c:v>
                  </c:pt>
                  <c:pt idx="3">
                    <c:v>2,000</c:v>
                  </c:pt>
                  <c:pt idx="4">
                    <c:v>8,000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13.1</c:v>
                </c:pt>
                <c:pt idx="2">
                  <c:v>29.5</c:v>
                </c:pt>
                <c:pt idx="3">
                  <c:v>75.3</c:v>
                </c:pt>
                <c:pt idx="4">
                  <c:v>99.6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100 per 100k</c:v>
                </c:pt>
              </c:strCache>
            </c:strRef>
          </c:tx>
          <c:spPr>
            <a:solidFill>
              <a:srgbClr val="C98B2E"/>
            </a:solidFill>
            <a:ln w="31750" cap="flat">
              <a:solidFill>
                <a:srgbClr val="C98B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8B2E"/>
              </a:solidFill>
              <a:ln w="9525" cap="flat">
                <a:solidFill>
                  <a:srgbClr val="C98B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200</c:v>
                  </c:pt>
                  <c:pt idx="2">
                    <c:v>500</c:v>
                  </c:pt>
                  <c:pt idx="3">
                    <c:v>2,000</c:v>
                  </c:pt>
                  <c:pt idx="4">
                    <c:v>8,000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29.5</c:v>
                </c:pt>
                <c:pt idx="1">
                  <c:v>75.3</c:v>
                </c:pt>
                <c:pt idx="2">
                  <c:v>97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1,000 per 100k</c:v>
                </c:pt>
              </c:strCache>
            </c:strRef>
          </c:tx>
          <c:spPr>
            <a:solidFill>
              <a:srgbClr val="FFB547"/>
            </a:solidFill>
            <a:ln w="31750" cap="flat">
              <a:solidFill>
                <a:srgbClr val="FFB5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547"/>
              </a:solidFill>
              <a:ln w="9525" cap="flat">
                <a:solidFill>
                  <a:srgbClr val="FFB5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200</c:v>
                  </c:pt>
                  <c:pt idx="2">
                    <c:v>500</c:v>
                  </c:pt>
                  <c:pt idx="3">
                    <c:v>2,000</c:v>
                  </c:pt>
                  <c:pt idx="4">
                    <c:v>8,000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97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344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4B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6344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4B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8EEF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+ team details (required section). Replace every [bracketed] placeholder before submitting. Product name 'EpiRoute' is a working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UI built in slides (allowed: Round 1 accepts UI/UX prototypes; no code or deployed links). All numbers are generated by our reference model from illustrative inputs: 300 reported active cases, population 70M, under-reporting 5x (2x-10x band), 6,000 passengers/day, alpha 0.5, sigma 0, R 1.8, k 0.3.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EpiRoute · HackIIITD 2026 · Round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4B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4B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ld map with illustrative flight arcs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scrim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B1320">
              <a:alpha val="88000"/>
            </a:srgbClr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4" name="event tag"/>
          <p:cNvSpPr/>
          <p:nvPr/>
        </p:nvSpPr>
        <p:spPr>
          <a:xfrm>
            <a:off x="548640" y="640080"/>
            <a:ext cx="3931920" cy="274320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640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HACKIIITD 2026 · ROUND 1 · OPEN INNOVATION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430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EpiRoute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4028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Outbreak intelligence that connects live public-health reports to the air-travel network — and shows the probability, the assumptions and the source behind every number.</a:t>
            </a:r>
            <a:endParaRPr lang="en-US" sz="1800" dirty="0"/>
          </a:p>
        </p:txBody>
      </p:sp>
      <p:sp>
        <p:nvSpPr>
          <p:cNvPr id="8" name="legend 0 ring"/>
          <p:cNvSpPr/>
          <p:nvPr/>
        </p:nvSpPr>
        <p:spPr>
          <a:xfrm>
            <a:off x="576072" y="3584448"/>
            <a:ext cx="237744" cy="237744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legend 0 core"/>
          <p:cNvSpPr/>
          <p:nvPr/>
        </p:nvSpPr>
        <p:spPr>
          <a:xfrm>
            <a:off x="645018" y="3653394"/>
            <a:ext cx="99852" cy="998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01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Importation risk</a:t>
            </a:r>
            <a:endParaRPr lang="en-US" sz="1400" dirty="0"/>
          </a:p>
        </p:txBody>
      </p:sp>
      <p:sp>
        <p:nvSpPr>
          <p:cNvPr id="11" name="legend 1 ring"/>
          <p:cNvSpPr/>
          <p:nvPr/>
        </p:nvSpPr>
        <p:spPr>
          <a:xfrm>
            <a:off x="576072" y="3968496"/>
            <a:ext cx="237744" cy="237744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legend 1 core"/>
          <p:cNvSpPr/>
          <p:nvPr/>
        </p:nvSpPr>
        <p:spPr>
          <a:xfrm>
            <a:off x="645018" y="4037442"/>
            <a:ext cx="99852" cy="998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Local establishment risk</a:t>
            </a:r>
            <a:endParaRPr lang="en-US" sz="1400" dirty="0"/>
          </a:p>
        </p:txBody>
      </p:sp>
      <p:sp>
        <p:nvSpPr>
          <p:cNvPr id="14" name="legend 2 ring"/>
          <p:cNvSpPr/>
          <p:nvPr/>
        </p:nvSpPr>
        <p:spPr>
          <a:xfrm>
            <a:off x="576072" y="4352544"/>
            <a:ext cx="237744" cy="237744"/>
          </a:xfrm>
          <a:prstGeom prst="ellipse">
            <a:avLst/>
          </a:prstGeom>
          <a:solidFill>
            <a:schemeClr val="accent3">
              <a:alpha val="3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legend 2 core"/>
          <p:cNvSpPr/>
          <p:nvPr/>
        </p:nvSpPr>
        <p:spPr>
          <a:xfrm>
            <a:off x="645018" y="4421490"/>
            <a:ext cx="99852" cy="9985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0120" y="4334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Sourced outbreak reports</a:t>
            </a:r>
            <a:endParaRPr lang="en-US" sz="1400" dirty="0"/>
          </a:p>
        </p:txBody>
      </p:sp>
      <p:sp>
        <p:nvSpPr>
          <p:cNvPr id="17" name="team card"/>
          <p:cNvSpPr/>
          <p:nvPr/>
        </p:nvSpPr>
        <p:spPr>
          <a:xfrm>
            <a:off x="7223760" y="640080"/>
            <a:ext cx="4434840" cy="5120640"/>
          </a:xfrm>
          <a:prstGeom prst="roundRect">
            <a:avLst>
              <a:gd name="adj" fmla="val 164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9808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Team details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13258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[Team name]</a:t>
            </a:r>
            <a:endParaRPr lang="en-US" sz="1400" dirty="0"/>
          </a:p>
        </p:txBody>
      </p:sp>
      <p:sp>
        <p:nvSpPr>
          <p:cNvPr id="20" name="member divider 0"/>
          <p:cNvSpPr/>
          <p:nvPr/>
        </p:nvSpPr>
        <p:spPr>
          <a:xfrm>
            <a:off x="7498080" y="1965960"/>
            <a:ext cx="3886200" cy="0"/>
          </a:xfrm>
          <a:prstGeom prst="line">
            <a:avLst/>
          </a:prstGeom>
          <a:noFill/>
          <a:ln w="12700">
            <a:solidFill>
              <a:srgbClr val="1621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0" y="20116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[Member 1 name] — Team lead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[Role]  ·  [College, year]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[email]  ·  [phone]</a:t>
            </a:r>
            <a:endParaRPr lang="en-US" sz="1300" dirty="0"/>
          </a:p>
        </p:txBody>
      </p:sp>
      <p:sp>
        <p:nvSpPr>
          <p:cNvPr id="22" name="member divider 1"/>
          <p:cNvSpPr/>
          <p:nvPr/>
        </p:nvSpPr>
        <p:spPr>
          <a:xfrm>
            <a:off x="7498080" y="2834640"/>
            <a:ext cx="3886200" cy="0"/>
          </a:xfrm>
          <a:prstGeom prst="line">
            <a:avLst/>
          </a:prstGeom>
          <a:noFill/>
          <a:ln w="12700">
            <a:solidFill>
              <a:srgbClr val="1621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[Member 2 name]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[Role]  ·  [College, year]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[email]  ·  [phone]</a:t>
            </a:r>
            <a:endParaRPr lang="en-US" sz="1300" dirty="0"/>
          </a:p>
        </p:txBody>
      </p:sp>
      <p:sp>
        <p:nvSpPr>
          <p:cNvPr id="24" name="member divider 2"/>
          <p:cNvSpPr/>
          <p:nvPr/>
        </p:nvSpPr>
        <p:spPr>
          <a:xfrm>
            <a:off x="7498080" y="3703320"/>
            <a:ext cx="3886200" cy="0"/>
          </a:xfrm>
          <a:prstGeom prst="line">
            <a:avLst/>
          </a:prstGeom>
          <a:noFill/>
          <a:ln w="12700">
            <a:solidFill>
              <a:srgbClr val="1621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0" y="3749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[Member 3 name]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[Role]  ·  [College, year]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[email]  ·  [phone]</a:t>
            </a:r>
            <a:endParaRPr lang="en-US" sz="1300" dirty="0"/>
          </a:p>
        </p:txBody>
      </p:sp>
      <p:sp>
        <p:nvSpPr>
          <p:cNvPr id="26" name="member divider 3"/>
          <p:cNvSpPr/>
          <p:nvPr/>
        </p:nvSpPr>
        <p:spPr>
          <a:xfrm>
            <a:off x="7498080" y="4572000"/>
            <a:ext cx="3886200" cy="0"/>
          </a:xfrm>
          <a:prstGeom prst="line">
            <a:avLst/>
          </a:prstGeom>
          <a:noFill/>
          <a:ln w="12700">
            <a:solidFill>
              <a:srgbClr val="1621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0" y="46177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[Member 4 name]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[Role]  ·  [College, year]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[email]  ·  [phone]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498080" y="5394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Team size 2–4 · edit or delete unused member rows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Map: Natural Earth boundaries; arcs are illustrative, not real traffic.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Outbreak reports and travel data never meet on one screen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645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Reports are prose, not data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993392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WHO Disease Outbreak News has a public API, but case counts, places and dates often sit inside narrative HTML (we checked: its Epidemiology field is frequently empty). Regional and national sources often have no API at all.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108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Maps show where, not who is next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456432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Disease spreads along flight networks. In Brockmann &amp; Helbing's simulated pandemic, network ‘effective distance’ explained arrival times with R² 0.97 vs 0.34 for geographic distance.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572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Risk is quoted as one opaque score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919472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Whether an infected traveller lands and whether an outbreak takes off are different events with different inputs. Merging them hides the assumptions people need to judge them.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188720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Target users</a:t>
            </a:r>
            <a:endParaRPr lang="en-US" sz="1800" dirty="0"/>
          </a:p>
        </p:txBody>
      </p:sp>
      <p:sp>
        <p:nvSpPr>
          <p:cNvPr id="14" name="user card 0"/>
          <p:cNvSpPr/>
          <p:nvPr/>
        </p:nvSpPr>
        <p:spPr>
          <a:xfrm>
            <a:off x="7589520" y="1645920"/>
            <a:ext cx="4050792" cy="128016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18120" y="1810512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Port &amp; airport health officers, district surveillance teams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33172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bg2"/>
                </a:solidFill>
              </a:rPr>
              <a:t>Which incoming routes deserve screening attention this fortnight?</a:t>
            </a:r>
            <a:endParaRPr lang="en-US" sz="1300" dirty="0"/>
          </a:p>
        </p:txBody>
      </p:sp>
      <p:sp>
        <p:nvSpPr>
          <p:cNvPr id="17" name="user card 1"/>
          <p:cNvSpPr/>
          <p:nvPr/>
        </p:nvSpPr>
        <p:spPr>
          <a:xfrm>
            <a:off x="7589520" y="3108960"/>
            <a:ext cx="4050792" cy="128016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3273552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Travel-medicine clinics, university &amp; corporate travel desks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79476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bg2"/>
                </a:solidFill>
              </a:rPr>
              <a:t>What is the sourced situation at a destination, and how fast could it change?</a:t>
            </a:r>
            <a:endParaRPr lang="en-US" sz="1300" dirty="0"/>
          </a:p>
        </p:txBody>
      </p:sp>
      <p:sp>
        <p:nvSpPr>
          <p:cNvPr id="20" name="user card 2"/>
          <p:cNvSpPr/>
          <p:nvPr/>
        </p:nvSpPr>
        <p:spPr>
          <a:xfrm>
            <a:off x="7589520" y="4572000"/>
            <a:ext cx="4050792" cy="128016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18120" y="4736592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Journalists, researchers, students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525780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bg2"/>
                </a:solidFill>
              </a:rPr>
              <a:t>A transparent, citable explanation of importation risk instead of a black-box score.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3504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Situational awareness only — not diagnosis, not an official forecast, not individual medical advice.  Source: Brockmann D, Helbing D. Science 2013;342:1337 (simulation result). WHO DON API checked 15 Oct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4B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One map: sourced outbreaks, flight links, separate risks</a:t>
            </a:r>
            <a:endParaRPr lang="en-US" sz="3200" dirty="0"/>
          </a:p>
        </p:txBody>
      </p:sp>
      <p:sp>
        <p:nvSpPr>
          <p:cNvPr id="3" name="mockup frame"/>
          <p:cNvSpPr/>
          <p:nvPr/>
        </p:nvSpPr>
        <p:spPr>
          <a:xfrm>
            <a:off x="548640" y="1188720"/>
            <a:ext cx="11091672" cy="4526280"/>
          </a:xfrm>
          <a:prstGeom prst="roundRect">
            <a:avLst>
              <a:gd name="adj" fmla="val 1212"/>
            </a:avLst>
          </a:prstGeom>
          <a:solidFill>
            <a:srgbClr val="0E1728"/>
          </a:solidFill>
          <a:ln w="19050">
            <a:solidFill>
              <a:srgbClr val="16213A"/>
            </a:solidFill>
            <a:prstDash val="solid"/>
          </a:ln>
        </p:spPr>
      </p:sp>
      <p:pic>
        <p:nvPicPr>
          <p:cNvPr id="4" name="Image 0" descr="Concept map: origin shaded red, arcs to destinations, rings sized by modelled importation ris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7178040" cy="4069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EpiRoute</a:t>
            </a:r>
            <a:endParaRPr lang="en-US" sz="1300" dirty="0"/>
          </a:p>
        </p:txBody>
      </p:sp>
      <p:sp>
        <p:nvSpPr>
          <p:cNvPr id="6" name="filter 0"/>
          <p:cNvSpPr/>
          <p:nvPr/>
        </p:nvSpPr>
        <p:spPr>
          <a:xfrm>
            <a:off x="1874520" y="1261872"/>
            <a:ext cx="1691640" cy="274320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74520" y="12618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Pathogen: hypothetical</a:t>
            </a:r>
            <a:endParaRPr lang="en-US" sz="1000" dirty="0"/>
          </a:p>
        </p:txBody>
      </p:sp>
      <p:sp>
        <p:nvSpPr>
          <p:cNvPr id="8" name="filter 1"/>
          <p:cNvSpPr/>
          <p:nvPr/>
        </p:nvSpPr>
        <p:spPr>
          <a:xfrm>
            <a:off x="3703320" y="1261872"/>
            <a:ext cx="1280160" cy="274320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03320" y="1261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Horizon: 14 d</a:t>
            </a:r>
            <a:endParaRPr lang="en-US" sz="1000" dirty="0"/>
          </a:p>
        </p:txBody>
      </p:sp>
      <p:sp>
        <p:nvSpPr>
          <p:cNvPr id="10" name="filter 2"/>
          <p:cNvSpPr/>
          <p:nvPr/>
        </p:nvSpPr>
        <p:spPr>
          <a:xfrm>
            <a:off x="5120640" y="1261872"/>
            <a:ext cx="2240280" cy="274320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20640" y="1261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Layers: reports · routes · risk</a:t>
            </a:r>
            <a:endParaRPr lang="en-US" sz="1000" dirty="0"/>
          </a:p>
        </p:txBody>
      </p:sp>
      <p:sp>
        <p:nvSpPr>
          <p:cNvPr id="12" name="concept label"/>
          <p:cNvSpPr/>
          <p:nvPr/>
        </p:nvSpPr>
        <p:spPr>
          <a:xfrm>
            <a:off x="7955280" y="1261872"/>
            <a:ext cx="3547872" cy="274320"/>
          </a:xfrm>
          <a:prstGeom prst="roundRect">
            <a:avLst>
              <a:gd name="adj" fmla="val 50000"/>
            </a:avLst>
          </a:prstGeom>
          <a:solidFill>
            <a:schemeClr val="accent6">
              <a:alpha val="2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55280" y="12618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CONCEPT UI · proposed design · illustrative numbers</a:t>
            </a:r>
            <a:endParaRPr lang="en-US" sz="1000" dirty="0"/>
          </a:p>
        </p:txBody>
      </p:sp>
      <p:sp>
        <p:nvSpPr>
          <p:cNvPr id="14" name="legend card"/>
          <p:cNvSpPr/>
          <p:nvPr/>
        </p:nvSpPr>
        <p:spPr>
          <a:xfrm>
            <a:off x="777240" y="48006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15" name="lg origin ring"/>
          <p:cNvSpPr/>
          <p:nvPr/>
        </p:nvSpPr>
        <p:spPr>
          <a:xfrm>
            <a:off x="877824" y="4901184"/>
            <a:ext cx="164592" cy="164592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lg origin core"/>
          <p:cNvSpPr/>
          <p:nvPr/>
        </p:nvSpPr>
        <p:spPr>
          <a:xfrm>
            <a:off x="925556" y="4948916"/>
            <a:ext cx="69129" cy="6912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5568" y="48920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Reported outbreak (sourced)</a:t>
            </a:r>
            <a:endParaRPr lang="en-US" sz="1000" dirty="0"/>
          </a:p>
        </p:txBody>
      </p:sp>
      <p:sp>
        <p:nvSpPr>
          <p:cNvPr id="18" name="lg arc ring"/>
          <p:cNvSpPr/>
          <p:nvPr/>
        </p:nvSpPr>
        <p:spPr>
          <a:xfrm>
            <a:off x="877824" y="5129784"/>
            <a:ext cx="164592" cy="164592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lg arc core"/>
          <p:cNvSpPr/>
          <p:nvPr/>
        </p:nvSpPr>
        <p:spPr>
          <a:xfrm>
            <a:off x="925556" y="5177516"/>
            <a:ext cx="69129" cy="6912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15568" y="51206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Ring = modelled importation risk</a:t>
            </a:r>
            <a:endParaRPr lang="en-US" sz="1000" dirty="0"/>
          </a:p>
        </p:txBody>
      </p:sp>
      <p:sp>
        <p:nvSpPr>
          <p:cNvPr id="21" name="lg hub ring"/>
          <p:cNvSpPr/>
          <p:nvPr/>
        </p:nvSpPr>
        <p:spPr>
          <a:xfrm>
            <a:off x="877824" y="5340096"/>
            <a:ext cx="164592" cy="164592"/>
          </a:xfrm>
          <a:prstGeom prst="ellipse">
            <a:avLst/>
          </a:prstGeom>
          <a:solidFill>
            <a:schemeClr val="accent4">
              <a:alpha val="3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lg hub core"/>
          <p:cNvSpPr/>
          <p:nvPr/>
        </p:nvSpPr>
        <p:spPr>
          <a:xfrm>
            <a:off x="925556" y="5387828"/>
            <a:ext cx="69129" cy="6912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115568" y="53309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Via hub (indirect path)</a:t>
            </a:r>
            <a:endParaRPr lang="en-US" sz="1000" dirty="0"/>
          </a:p>
        </p:txBody>
      </p:sp>
      <p:sp>
        <p:nvSpPr>
          <p:cNvPr id="24" name="country panel"/>
          <p:cNvSpPr/>
          <p:nvPr/>
        </p:nvSpPr>
        <p:spPr>
          <a:xfrm>
            <a:off x="7955280" y="1600200"/>
            <a:ext cx="3547872" cy="4069080"/>
          </a:xfrm>
          <a:prstGeom prst="roundRect">
            <a:avLst>
              <a:gd name="adj" fmla="val 2062"/>
            </a:avLst>
          </a:prstGeom>
          <a:solidFill>
            <a:srgbClr val="131F35"/>
          </a:solidFill>
          <a:ln w="12700">
            <a:solidFill>
              <a:srgbClr val="131F3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38160" y="171907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India · selected destination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138160" y="1993392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No local cases reported · data 2 h old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138160" y="233172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P(≥1 infected arrival, 14 d)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138160" y="2560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59%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0" y="26517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30–83% · under-reporting 2×–10×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329184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P(sustained local spread, 14 d)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138160" y="3520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19%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9144000" y="36118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8–34% · R 1.8, k 0.3 (assumed)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138160" y="425196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Top origin routes: Country A direct · via DXB · via SIN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138160" y="4572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Screening σ</a:t>
            </a:r>
            <a:endParaRPr lang="en-US" sz="1000" dirty="0"/>
          </a:p>
        </p:txBody>
      </p:sp>
      <p:sp>
        <p:nvSpPr>
          <p:cNvPr id="35" name="slider track 0"/>
          <p:cNvSpPr/>
          <p:nvPr/>
        </p:nvSpPr>
        <p:spPr>
          <a:xfrm>
            <a:off x="9555480" y="4672584"/>
            <a:ext cx="1691640" cy="0"/>
          </a:xfrm>
          <a:prstGeom prst="line">
            <a:avLst/>
          </a:prstGeom>
          <a:noFill/>
          <a:ln w="19050">
            <a:solidFill>
              <a:srgbClr val="93A4BD"/>
            </a:solidFill>
            <a:prstDash val="solid"/>
          </a:ln>
        </p:spPr>
      </p:sp>
      <p:sp>
        <p:nvSpPr>
          <p:cNvPr id="36" name="slider knob 0"/>
          <p:cNvSpPr/>
          <p:nvPr/>
        </p:nvSpPr>
        <p:spPr>
          <a:xfrm>
            <a:off x="9646920" y="4599432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138160" y="4846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Passenger volume</a:t>
            </a:r>
            <a:endParaRPr lang="en-US" sz="1000" dirty="0"/>
          </a:p>
        </p:txBody>
      </p:sp>
      <p:sp>
        <p:nvSpPr>
          <p:cNvPr id="38" name="slider track 1"/>
          <p:cNvSpPr/>
          <p:nvPr/>
        </p:nvSpPr>
        <p:spPr>
          <a:xfrm>
            <a:off x="9555480" y="4946904"/>
            <a:ext cx="1691640" cy="0"/>
          </a:xfrm>
          <a:prstGeom prst="line">
            <a:avLst/>
          </a:prstGeom>
          <a:noFill/>
          <a:ln w="19050">
            <a:solidFill>
              <a:srgbClr val="93A4BD"/>
            </a:solidFill>
            <a:prstDash val="solid"/>
          </a:ln>
        </p:spPr>
      </p:sp>
      <p:sp>
        <p:nvSpPr>
          <p:cNvPr id="39" name="slider knob 1"/>
          <p:cNvSpPr/>
          <p:nvPr/>
        </p:nvSpPr>
        <p:spPr>
          <a:xfrm>
            <a:off x="10469880" y="4873752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138160" y="5120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Under-reporting</a:t>
            </a:r>
            <a:endParaRPr lang="en-US" sz="1000" dirty="0"/>
          </a:p>
        </p:txBody>
      </p:sp>
      <p:sp>
        <p:nvSpPr>
          <p:cNvPr id="41" name="slider track 2"/>
          <p:cNvSpPr/>
          <p:nvPr/>
        </p:nvSpPr>
        <p:spPr>
          <a:xfrm>
            <a:off x="9555480" y="5221224"/>
            <a:ext cx="1691640" cy="0"/>
          </a:xfrm>
          <a:prstGeom prst="line">
            <a:avLst/>
          </a:prstGeom>
          <a:noFill/>
          <a:ln w="19050">
            <a:solidFill>
              <a:srgbClr val="93A4BD"/>
            </a:solidFill>
            <a:prstDash val="solid"/>
          </a:ln>
        </p:spPr>
      </p:sp>
      <p:sp>
        <p:nvSpPr>
          <p:cNvPr id="42" name="slider knob 2"/>
          <p:cNvSpPr/>
          <p:nvPr/>
        </p:nvSpPr>
        <p:spPr>
          <a:xfrm>
            <a:off x="10195560" y="5148072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step 0 ring"/>
          <p:cNvSpPr/>
          <p:nvPr/>
        </p:nvSpPr>
        <p:spPr>
          <a:xfrm>
            <a:off x="566928" y="5925312"/>
            <a:ext cx="256032" cy="256032"/>
          </a:xfrm>
          <a:prstGeom prst="ellipse">
            <a:avLst/>
          </a:prstGeom>
          <a:solidFill>
            <a:schemeClr val="accent3">
              <a:alpha val="3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4" name="step 0 core"/>
          <p:cNvSpPr/>
          <p:nvPr/>
        </p:nvSpPr>
        <p:spPr>
          <a:xfrm>
            <a:off x="641177" y="5999561"/>
            <a:ext cx="107533" cy="10753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32688" y="5870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Pick a reported outbreak</a:t>
            </a:r>
            <a:endParaRPr lang="en-US" sz="1200" dirty="0"/>
          </a:p>
        </p:txBody>
      </p:sp>
      <p:sp>
        <p:nvSpPr>
          <p:cNvPr id="46" name="step 1 ring"/>
          <p:cNvSpPr/>
          <p:nvPr/>
        </p:nvSpPr>
        <p:spPr>
          <a:xfrm>
            <a:off x="3374136" y="5925312"/>
            <a:ext cx="256032" cy="256032"/>
          </a:xfrm>
          <a:prstGeom prst="ellipse">
            <a:avLst/>
          </a:prstGeom>
          <a:solidFill>
            <a:schemeClr val="accent3">
              <a:alpha val="3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7" name="step 1 core"/>
          <p:cNvSpPr/>
          <p:nvPr/>
        </p:nvSpPr>
        <p:spPr>
          <a:xfrm>
            <a:off x="3448385" y="5999561"/>
            <a:ext cx="107533" cy="10753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739896" y="5870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See linked routes and hubs</a:t>
            </a:r>
            <a:endParaRPr lang="en-US" sz="1200" dirty="0"/>
          </a:p>
        </p:txBody>
      </p:sp>
      <p:sp>
        <p:nvSpPr>
          <p:cNvPr id="49" name="step 2 ring"/>
          <p:cNvSpPr/>
          <p:nvPr/>
        </p:nvSpPr>
        <p:spPr>
          <a:xfrm>
            <a:off x="6181344" y="5925312"/>
            <a:ext cx="256032" cy="256032"/>
          </a:xfrm>
          <a:prstGeom prst="ellipse">
            <a:avLst/>
          </a:prstGeom>
          <a:solidFill>
            <a:schemeClr val="accent3">
              <a:alpha val="3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0" name="step 2 core"/>
          <p:cNvSpPr/>
          <p:nvPr/>
        </p:nvSpPr>
        <p:spPr>
          <a:xfrm>
            <a:off x="6255593" y="5999561"/>
            <a:ext cx="107533" cy="10753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547104" y="5870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Select a destination country</a:t>
            </a:r>
            <a:endParaRPr lang="en-US" sz="1200" dirty="0"/>
          </a:p>
        </p:txBody>
      </p:sp>
      <p:sp>
        <p:nvSpPr>
          <p:cNvPr id="52" name="step 3 ring"/>
          <p:cNvSpPr/>
          <p:nvPr/>
        </p:nvSpPr>
        <p:spPr>
          <a:xfrm>
            <a:off x="8988552" y="5925312"/>
            <a:ext cx="256032" cy="256032"/>
          </a:xfrm>
          <a:prstGeom prst="ellipse">
            <a:avLst/>
          </a:prstGeom>
          <a:solidFill>
            <a:schemeClr val="accent3">
              <a:alpha val="3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3" name="step 3 core"/>
          <p:cNvSpPr/>
          <p:nvPr/>
        </p:nvSpPr>
        <p:spPr>
          <a:xfrm>
            <a:off x="9062801" y="5999561"/>
            <a:ext cx="107533" cy="10753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354312" y="5870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Move assumptions, watch ranges shift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4B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Three probabilities, three different inputs — never one score</a:t>
            </a:r>
            <a:endParaRPr lang="en-US" sz="3200" dirty="0"/>
          </a:p>
        </p:txBody>
      </p:sp>
      <p:sp>
        <p:nvSpPr>
          <p:cNvPr id="3" name="prob card 0"/>
          <p:cNvSpPr/>
          <p:nvPr/>
        </p:nvSpPr>
        <p:spPr>
          <a:xfrm>
            <a:off x="548640" y="1188720"/>
            <a:ext cx="3520440" cy="2377440"/>
          </a:xfrm>
          <a:prstGeom prst="roundRect">
            <a:avLst>
              <a:gd name="adj" fmla="val 307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prob dot 0 ring"/>
          <p:cNvSpPr/>
          <p:nvPr/>
        </p:nvSpPr>
        <p:spPr>
          <a:xfrm>
            <a:off x="749808" y="1389888"/>
            <a:ext cx="292608" cy="292608"/>
          </a:xfrm>
          <a:prstGeom prst="ellipse">
            <a:avLst/>
          </a:prstGeom>
          <a:solidFill>
            <a:schemeClr val="accent3">
              <a:alpha val="3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prob dot 0 core"/>
          <p:cNvSpPr/>
          <p:nvPr/>
        </p:nvSpPr>
        <p:spPr>
          <a:xfrm>
            <a:off x="834664" y="1474744"/>
            <a:ext cx="122895" cy="12289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38988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Already here?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470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P(present)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Local case reports + an under-reporting band. Flights are NOT an input — a flight link never implies presence.</a:t>
            </a:r>
            <a:endParaRPr lang="en-US" sz="1200" dirty="0"/>
          </a:p>
        </p:txBody>
      </p:sp>
      <p:sp>
        <p:nvSpPr>
          <p:cNvPr id="9" name="prob card 1"/>
          <p:cNvSpPr/>
          <p:nvPr/>
        </p:nvSpPr>
        <p:spPr>
          <a:xfrm>
            <a:off x="4297680" y="1188720"/>
            <a:ext cx="3520440" cy="2377440"/>
          </a:xfrm>
          <a:prstGeom prst="roundRect">
            <a:avLst>
              <a:gd name="adj" fmla="val 307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rob dot 1 ring"/>
          <p:cNvSpPr/>
          <p:nvPr/>
        </p:nvSpPr>
        <p:spPr>
          <a:xfrm>
            <a:off x="4498848" y="1389888"/>
            <a:ext cx="292608" cy="292608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rob dot 1 core"/>
          <p:cNvSpPr/>
          <p:nvPr/>
        </p:nvSpPr>
        <p:spPr>
          <a:xfrm>
            <a:off x="4583704" y="1474744"/>
            <a:ext cx="122895" cy="12289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38988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Will an infected traveller land?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18470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P(import, T days) = 1 − e^(−λT)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= Σₘ (Iₘ/Nₘ) · Fₘₙ · α · (1 − σ)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Iₘ/Nₘ origin prevalence · F passengers/day · α chance an infectious person still boards · σ screening</a:t>
            </a:r>
            <a:endParaRPr lang="en-US" sz="1200" dirty="0"/>
          </a:p>
        </p:txBody>
      </p:sp>
      <p:sp>
        <p:nvSpPr>
          <p:cNvPr id="15" name="prob card 2"/>
          <p:cNvSpPr/>
          <p:nvPr/>
        </p:nvSpPr>
        <p:spPr>
          <a:xfrm>
            <a:off x="8046720" y="1188720"/>
            <a:ext cx="3520440" cy="2377440"/>
          </a:xfrm>
          <a:prstGeom prst="roundRect">
            <a:avLst>
              <a:gd name="adj" fmla="val 307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prob dot 2 ring"/>
          <p:cNvSpPr/>
          <p:nvPr/>
        </p:nvSpPr>
        <p:spPr>
          <a:xfrm>
            <a:off x="8247888" y="1389888"/>
            <a:ext cx="292608" cy="29260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prob dot 2 core"/>
          <p:cNvSpPr/>
          <p:nvPr/>
        </p:nvSpPr>
        <p:spPr>
          <a:xfrm>
            <a:off x="8332744" y="1474744"/>
            <a:ext cx="122895" cy="12289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0" y="138988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Will it take off locally?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18470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P(establish | 1 intro) = 1 − q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= (1 + R(1 − q)/k)^(−k)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Branching process: R reproduction number, k dispersion (cluster-size studies). Vectors / climate decide this for Zika-like pathogens.</a:t>
            </a:r>
            <a:endParaRPr lang="en-US" sz="12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48640" y="3749040"/>
          <a:ext cx="61264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insight card"/>
          <p:cNvSpPr/>
          <p:nvPr/>
        </p:nvSpPr>
        <p:spPr>
          <a:xfrm>
            <a:off x="6949440" y="3749040"/>
            <a:ext cx="4690872" cy="2194560"/>
          </a:xfrm>
          <a:prstGeom prst="roundRect">
            <a:avLst>
              <a:gd name="adj" fmla="val 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78040" y="388620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Why busy routes ≠ outbreaks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178040" y="42062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14%</a:t>
            </a:r>
            <a:endParaRPr lang="en-US" sz="3600" dirty="0"/>
          </a:p>
        </p:txBody>
      </p:sp>
      <p:sp>
        <p:nvSpPr>
          <p:cNvPr id="25" name="Text 22"/>
          <p:cNvSpPr txBox="1"/>
          <p:nvPr/>
        </p:nvSpPr>
        <p:spPr>
          <a:xfrm>
            <a:off x="8458200" y="4251960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of single introductions establish when R = 2.5, k = 0.1 (COVID-like dispersion). Most chains die out.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178040" y="4983480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Ranking who is next: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edge d(m,n) = 1 − ln(Fₘₙ / Fₘ); shortest path over hubs gives effective distance, so Istanbul, Dubai or Singapore transfers count.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03504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Chart: our computation of the Poisson model with α = 0.5, σ = 0 (scenario, not an estimate for any outbreak). Method: briefing note ‘How disease-spread probabilities get their data’ (14 Oct 2026); Brockmann &amp; Helbing, Science 2013; Lloyd-Smith et al., Nature 2005.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4B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How do you plan to integrate the TinyFish API?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TinyFish turns official web pages into validated, sourced records — and fills the model input no free API provides: this week's border-screening policy (σ).</a:t>
            </a:r>
            <a:endParaRPr lang="en-US" sz="1600" dirty="0"/>
          </a:p>
        </p:txBody>
      </p:sp>
      <p:sp>
        <p:nvSpPr>
          <p:cNvPr id="4" name="tf step 0"/>
          <p:cNvSpPr/>
          <p:nvPr/>
        </p:nvSpPr>
        <p:spPr>
          <a:xfrm>
            <a:off x="548640" y="173736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  Discover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Search API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include_domains: who.int, ecdc.europa.eu, paho.org, africacdc.org · recency filter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3931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free</a:t>
            </a:r>
            <a:endParaRPr lang="en-US" sz="1000" dirty="0"/>
          </a:p>
        </p:txBody>
      </p:sp>
      <p:sp>
        <p:nvSpPr>
          <p:cNvPr id="9" name="tf arrow 0"/>
          <p:cNvSpPr/>
          <p:nvPr/>
        </p:nvSpPr>
        <p:spPr>
          <a:xfrm>
            <a:off x="3182112" y="2697480"/>
            <a:ext cx="146304" cy="27432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f step 1"/>
          <p:cNvSpPr/>
          <p:nvPr/>
        </p:nvSpPr>
        <p:spPr>
          <a:xfrm>
            <a:off x="3355848" y="173736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8728" y="1874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2  Watch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Monitor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2514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Page monitor on WHO DON + ECDC threat-report listings → webhook triggers ingest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363931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$0.005/run</a:t>
            </a:r>
            <a:endParaRPr lang="en-US" sz="1000" dirty="0"/>
          </a:p>
        </p:txBody>
      </p:sp>
      <p:sp>
        <p:nvSpPr>
          <p:cNvPr id="15" name="tf arrow 1"/>
          <p:cNvSpPr/>
          <p:nvPr/>
        </p:nvSpPr>
        <p:spPr>
          <a:xfrm>
            <a:off x="5989320" y="2697480"/>
            <a:ext cx="146304" cy="27432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f step 2"/>
          <p:cNvSpPr/>
          <p:nvPr/>
        </p:nvSpPr>
        <p:spPr>
          <a:xfrm>
            <a:off x="6163056" y="173736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45936" y="1874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3  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Fetch API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45936" y="2514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Report page → clean markdown/JSON, up to 10 URLs/call, with published_date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363931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free ≤1k URLs/day</a:t>
            </a:r>
            <a:endParaRPr lang="en-US" sz="1000" dirty="0"/>
          </a:p>
        </p:txBody>
      </p:sp>
      <p:sp>
        <p:nvSpPr>
          <p:cNvPr id="21" name="tf arrow 2"/>
          <p:cNvSpPr/>
          <p:nvPr/>
        </p:nvSpPr>
        <p:spPr>
          <a:xfrm>
            <a:off x="8796528" y="2697480"/>
            <a:ext cx="146304" cy="27432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f step 3"/>
          <p:cNvSpPr/>
          <p:nvPr/>
        </p:nvSpPr>
        <p:spPr>
          <a:xfrm>
            <a:off x="8970264" y="173736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53144" y="1874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4  Extract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53144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Agent API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53144" y="2514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POST /v1/automation/run-async with goal + output_schema → pathogen, places, cases, deaths, dates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153144" y="363931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$0.016/step</a:t>
            </a:r>
            <a:endParaRPr lang="en-US" sz="1000" dirty="0"/>
          </a:p>
        </p:txBody>
      </p:sp>
      <p:sp>
        <p:nvSpPr>
          <p:cNvPr id="27" name="validator card"/>
          <p:cNvSpPr/>
          <p:nvPr/>
        </p:nvSpPr>
        <p:spPr>
          <a:xfrm>
            <a:off x="548640" y="4160520"/>
            <a:ext cx="6675120" cy="1874520"/>
          </a:xfrm>
          <a:prstGeom prst="roundRect">
            <a:avLst>
              <a:gd name="adj" fmla="val 390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2976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Our validation gate — before anything reaches the map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636008"/>
            <a:ext cx="6263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Grounding check: every extracted number must appear verbatim in the Fetch text, else flagged ‘unverified’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Schema + ISO-3166 country codes, non-negative counts, report date ≤ retrieval date, dedupe by source URL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Provenance on every record: source URL, run_id, retrieved_at, published_at, status</a:t>
            </a:r>
            <a:endParaRPr lang="en-US" sz="1200" dirty="0"/>
          </a:p>
        </p:txBody>
      </p:sp>
      <p:sp>
        <p:nvSpPr>
          <p:cNvPr id="30" name="sigma card"/>
          <p:cNvSpPr/>
          <p:nvPr/>
        </p:nvSpPr>
        <p:spPr>
          <a:xfrm>
            <a:off x="7406640" y="4160520"/>
            <a:ext cx="4233672" cy="1874520"/>
          </a:xfrm>
          <a:prstGeom prst="roundRect">
            <a:avLst>
              <a:gd name="adj" fmla="val 390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35240" y="429768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Agent → border-policy flag σ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635240" y="4636008"/>
            <a:ext cx="3776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The briefing note says live outbreaks need a manual policy flag (OxCGRT ended in 2022). An Agent run reads official entry-screening / quarantine pages into {measure, date, url}; a human confirms it before σ changes.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03504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Server-side only; API key in env vars, never in the browser or repo. Limits per TinyFish docs/pricing (15 Oct 2026): Agent 2 concurrent runs, new wallets start with $8. TinyFish is an extractor — it is not a source of epidemiological truth or passenger data.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4B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Technical architecture and stack</a:t>
            </a:r>
            <a:endParaRPr lang="en-US" sz="3200" dirty="0"/>
          </a:p>
        </p:txBody>
      </p:sp>
      <p:sp>
        <p:nvSpPr>
          <p:cNvPr id="3" name="arch col 0"/>
          <p:cNvSpPr/>
          <p:nvPr/>
        </p:nvSpPr>
        <p:spPr>
          <a:xfrm>
            <a:off x="548640" y="1234440"/>
            <a:ext cx="2057400" cy="3794760"/>
          </a:xfrm>
          <a:prstGeom prst="roundRect">
            <a:avLst>
              <a:gd name="adj" fmla="val 355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arch dot 0 ring"/>
          <p:cNvSpPr/>
          <p:nvPr/>
        </p:nvSpPr>
        <p:spPr>
          <a:xfrm>
            <a:off x="722376" y="1417320"/>
            <a:ext cx="237744" cy="237744"/>
          </a:xfrm>
          <a:prstGeom prst="ellipse">
            <a:avLst/>
          </a:prstGeom>
          <a:solidFill>
            <a:schemeClr val="bg2">
              <a:alpha val="3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rch dot 0 core"/>
          <p:cNvSpPr/>
          <p:nvPr/>
        </p:nvSpPr>
        <p:spPr>
          <a:xfrm>
            <a:off x="791322" y="1486266"/>
            <a:ext cx="99852" cy="9985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399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Sources</a:t>
            </a:r>
            <a:endParaRPr lang="en-US" sz="1500" dirty="0"/>
          </a:p>
        </p:txBody>
      </p:sp>
      <p:sp>
        <p:nvSpPr>
          <p:cNvPr id="7" name="arch item 0-0"/>
          <p:cNvSpPr/>
          <p:nvPr/>
        </p:nvSpPr>
        <p:spPr>
          <a:xfrm>
            <a:off x="685800" y="1856232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5623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WHO DON API (JSON)</a:t>
            </a:r>
            <a:endParaRPr lang="en-US" sz="1100" dirty="0"/>
          </a:p>
        </p:txBody>
      </p:sp>
      <p:sp>
        <p:nvSpPr>
          <p:cNvPr id="9" name="arch item 0-1"/>
          <p:cNvSpPr/>
          <p:nvPr/>
        </p:nvSpPr>
        <p:spPr>
          <a:xfrm>
            <a:off x="685800" y="2377440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3774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Official report pages</a:t>
            </a:r>
            <a:endParaRPr lang="en-US" sz="1100" dirty="0"/>
          </a:p>
        </p:txBody>
      </p:sp>
      <p:sp>
        <p:nvSpPr>
          <p:cNvPr id="11" name="arch item 0-2"/>
          <p:cNvSpPr/>
          <p:nvPr/>
        </p:nvSpPr>
        <p:spPr>
          <a:xfrm>
            <a:off x="685800" y="2898648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8986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OpenFlights routes</a:t>
            </a:r>
            <a:endParaRPr lang="en-US" sz="1100" dirty="0"/>
          </a:p>
        </p:txBody>
      </p:sp>
      <p:sp>
        <p:nvSpPr>
          <p:cNvPr id="13" name="arch item 0-3"/>
          <p:cNvSpPr/>
          <p:nvPr/>
        </p:nvSpPr>
        <p:spPr>
          <a:xfrm>
            <a:off x="685800" y="3419856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41985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BTS T-100 · Eurostat</a:t>
            </a:r>
            <a:endParaRPr lang="en-US" sz="1100" dirty="0"/>
          </a:p>
        </p:txBody>
      </p:sp>
      <p:sp>
        <p:nvSpPr>
          <p:cNvPr id="15" name="arch item 0-4"/>
          <p:cNvSpPr/>
          <p:nvPr/>
        </p:nvSpPr>
        <p:spPr>
          <a:xfrm>
            <a:off x="685800" y="3941064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94106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WorldPop / UN population</a:t>
            </a:r>
            <a:endParaRPr lang="en-US" sz="1100" dirty="0"/>
          </a:p>
        </p:txBody>
      </p:sp>
      <p:sp>
        <p:nvSpPr>
          <p:cNvPr id="17" name="arch item 0-5"/>
          <p:cNvSpPr/>
          <p:nvPr/>
        </p:nvSpPr>
        <p:spPr>
          <a:xfrm>
            <a:off x="685800" y="4462272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4622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OWID · JHU · OxCGRT</a:t>
            </a:r>
            <a:endParaRPr lang="en-US" sz="1100" dirty="0"/>
          </a:p>
        </p:txBody>
      </p:sp>
      <p:sp>
        <p:nvSpPr>
          <p:cNvPr id="19" name="arch arrow 0"/>
          <p:cNvSpPr/>
          <p:nvPr/>
        </p:nvSpPr>
        <p:spPr>
          <a:xfrm>
            <a:off x="2642616" y="2971800"/>
            <a:ext cx="128016" cy="274320"/>
          </a:xfrm>
          <a:prstGeom prst="chevron">
            <a:avLst/>
          </a:prstGeom>
          <a:solidFill>
            <a:srgbClr val="93A4BD"/>
          </a:solidFill>
          <a:ln w="12700">
            <a:solidFill>
              <a:srgbClr val="93A4BD"/>
            </a:solidFill>
            <a:prstDash val="solid"/>
          </a:ln>
        </p:spPr>
      </p:sp>
      <p:sp>
        <p:nvSpPr>
          <p:cNvPr id="20" name="arch col 1"/>
          <p:cNvSpPr/>
          <p:nvPr/>
        </p:nvSpPr>
        <p:spPr>
          <a:xfrm>
            <a:off x="2807208" y="1234440"/>
            <a:ext cx="2057400" cy="3794760"/>
          </a:xfrm>
          <a:prstGeom prst="roundRect">
            <a:avLst>
              <a:gd name="adj" fmla="val 355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arch dot 1 ring"/>
          <p:cNvSpPr/>
          <p:nvPr/>
        </p:nvSpPr>
        <p:spPr>
          <a:xfrm>
            <a:off x="2980944" y="1417320"/>
            <a:ext cx="237744" cy="237744"/>
          </a:xfrm>
          <a:prstGeom prst="ellipse">
            <a:avLst/>
          </a:prstGeom>
          <a:solidFill>
            <a:schemeClr val="accent3">
              <a:alpha val="3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arch dot 1 core"/>
          <p:cNvSpPr/>
          <p:nvPr/>
        </p:nvSpPr>
        <p:spPr>
          <a:xfrm>
            <a:off x="3049890" y="1486266"/>
            <a:ext cx="99852" cy="9985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10128" y="1399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Ingest &amp; extract</a:t>
            </a:r>
            <a:endParaRPr lang="en-US" sz="1500" dirty="0"/>
          </a:p>
        </p:txBody>
      </p:sp>
      <p:sp>
        <p:nvSpPr>
          <p:cNvPr id="24" name="arch item 1-0"/>
          <p:cNvSpPr/>
          <p:nvPr/>
        </p:nvSpPr>
        <p:spPr>
          <a:xfrm>
            <a:off x="2944368" y="1856232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35808" y="185623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TinyFish Search · Monitor</a:t>
            </a:r>
            <a:endParaRPr lang="en-US" sz="1100" dirty="0"/>
          </a:p>
        </p:txBody>
      </p:sp>
      <p:sp>
        <p:nvSpPr>
          <p:cNvPr id="26" name="arch item 1-1"/>
          <p:cNvSpPr/>
          <p:nvPr/>
        </p:nvSpPr>
        <p:spPr>
          <a:xfrm>
            <a:off x="2944368" y="2377440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35808" y="23774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TinyFish Fetch · Agent</a:t>
            </a:r>
            <a:endParaRPr lang="en-US" sz="1100" dirty="0"/>
          </a:p>
        </p:txBody>
      </p:sp>
      <p:sp>
        <p:nvSpPr>
          <p:cNvPr id="28" name="arch item 1-2"/>
          <p:cNvSpPr/>
          <p:nvPr/>
        </p:nvSpPr>
        <p:spPr>
          <a:xfrm>
            <a:off x="2944368" y="2898648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35808" y="28986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Bulk CSV loaders</a:t>
            </a:r>
            <a:endParaRPr lang="en-US" sz="1100" dirty="0"/>
          </a:p>
        </p:txBody>
      </p:sp>
      <p:sp>
        <p:nvSpPr>
          <p:cNvPr id="30" name="arch item 1-3"/>
          <p:cNvSpPr/>
          <p:nvPr/>
        </p:nvSpPr>
        <p:spPr>
          <a:xfrm>
            <a:off x="2944368" y="3419856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35808" y="341985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Scheduler / manual trigger</a:t>
            </a:r>
            <a:endParaRPr lang="en-US" sz="1100" dirty="0"/>
          </a:p>
        </p:txBody>
      </p:sp>
      <p:sp>
        <p:nvSpPr>
          <p:cNvPr id="32" name="arch arrow 1"/>
          <p:cNvSpPr/>
          <p:nvPr/>
        </p:nvSpPr>
        <p:spPr>
          <a:xfrm>
            <a:off x="4901184" y="2971800"/>
            <a:ext cx="128016" cy="274320"/>
          </a:xfrm>
          <a:prstGeom prst="chevron">
            <a:avLst/>
          </a:prstGeom>
          <a:solidFill>
            <a:srgbClr val="93A4BD"/>
          </a:solidFill>
          <a:ln w="12700">
            <a:solidFill>
              <a:srgbClr val="93A4BD"/>
            </a:solidFill>
            <a:prstDash val="solid"/>
          </a:ln>
        </p:spPr>
      </p:sp>
      <p:sp>
        <p:nvSpPr>
          <p:cNvPr id="33" name="arch col 2"/>
          <p:cNvSpPr/>
          <p:nvPr/>
        </p:nvSpPr>
        <p:spPr>
          <a:xfrm>
            <a:off x="5065776" y="1234440"/>
            <a:ext cx="2057400" cy="3794760"/>
          </a:xfrm>
          <a:prstGeom prst="roundRect">
            <a:avLst>
              <a:gd name="adj" fmla="val 355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arch dot 2 ring"/>
          <p:cNvSpPr/>
          <p:nvPr/>
        </p:nvSpPr>
        <p:spPr>
          <a:xfrm>
            <a:off x="5239512" y="1417320"/>
            <a:ext cx="237744" cy="237744"/>
          </a:xfrm>
          <a:prstGeom prst="ellipse">
            <a:avLst/>
          </a:prstGeom>
          <a:solidFill>
            <a:schemeClr val="accent4">
              <a:alpha val="3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arch dot 2 core"/>
          <p:cNvSpPr/>
          <p:nvPr/>
        </p:nvSpPr>
        <p:spPr>
          <a:xfrm>
            <a:off x="5308458" y="1486266"/>
            <a:ext cx="99852" cy="9985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68696" y="1399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Validate &amp; store</a:t>
            </a:r>
            <a:endParaRPr lang="en-US" sz="1500" dirty="0"/>
          </a:p>
        </p:txBody>
      </p:sp>
      <p:sp>
        <p:nvSpPr>
          <p:cNvPr id="37" name="arch item 2-0"/>
          <p:cNvSpPr/>
          <p:nvPr/>
        </p:nvSpPr>
        <p:spPr>
          <a:xfrm>
            <a:off x="5202936" y="1856232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94376" y="185623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Pydantic schemas</a:t>
            </a:r>
            <a:endParaRPr lang="en-US" sz="1100" dirty="0"/>
          </a:p>
        </p:txBody>
      </p:sp>
      <p:sp>
        <p:nvSpPr>
          <p:cNvPr id="39" name="arch item 2-1"/>
          <p:cNvSpPr/>
          <p:nvPr/>
        </p:nvSpPr>
        <p:spPr>
          <a:xfrm>
            <a:off x="5202936" y="2377440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294376" y="23774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Grounding + dedupe</a:t>
            </a:r>
            <a:endParaRPr lang="en-US" sz="1100" dirty="0"/>
          </a:p>
        </p:txBody>
      </p:sp>
      <p:sp>
        <p:nvSpPr>
          <p:cNvPr id="41" name="arch item 2-2"/>
          <p:cNvSpPr/>
          <p:nvPr/>
        </p:nvSpPr>
        <p:spPr>
          <a:xfrm>
            <a:off x="5202936" y="2898648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94376" y="28986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ISO-3 normalisation</a:t>
            </a:r>
            <a:endParaRPr lang="en-US" sz="1100" dirty="0"/>
          </a:p>
        </p:txBody>
      </p:sp>
      <p:sp>
        <p:nvSpPr>
          <p:cNvPr id="43" name="arch item 2-3"/>
          <p:cNvSpPr/>
          <p:nvPr/>
        </p:nvSpPr>
        <p:spPr>
          <a:xfrm>
            <a:off x="5202936" y="3419856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294376" y="341985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SQLite + Parquet cache</a:t>
            </a:r>
            <a:endParaRPr lang="en-US" sz="1100" dirty="0"/>
          </a:p>
        </p:txBody>
      </p:sp>
      <p:sp>
        <p:nvSpPr>
          <p:cNvPr id="45" name="arch arrow 2"/>
          <p:cNvSpPr/>
          <p:nvPr/>
        </p:nvSpPr>
        <p:spPr>
          <a:xfrm>
            <a:off x="7159752" y="2971800"/>
            <a:ext cx="128016" cy="274320"/>
          </a:xfrm>
          <a:prstGeom prst="chevron">
            <a:avLst/>
          </a:prstGeom>
          <a:solidFill>
            <a:srgbClr val="93A4BD"/>
          </a:solidFill>
          <a:ln w="12700">
            <a:solidFill>
              <a:srgbClr val="93A4BD"/>
            </a:solidFill>
            <a:prstDash val="solid"/>
          </a:ln>
        </p:spPr>
      </p:sp>
      <p:sp>
        <p:nvSpPr>
          <p:cNvPr id="46" name="arch col 3"/>
          <p:cNvSpPr/>
          <p:nvPr/>
        </p:nvSpPr>
        <p:spPr>
          <a:xfrm>
            <a:off x="7324344" y="1234440"/>
            <a:ext cx="2057400" cy="3794760"/>
          </a:xfrm>
          <a:prstGeom prst="roundRect">
            <a:avLst>
              <a:gd name="adj" fmla="val 355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arch dot 3 ring"/>
          <p:cNvSpPr/>
          <p:nvPr/>
        </p:nvSpPr>
        <p:spPr>
          <a:xfrm>
            <a:off x="7498080" y="1417320"/>
            <a:ext cx="237744" cy="237744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arch dot 3 core"/>
          <p:cNvSpPr/>
          <p:nvPr/>
        </p:nvSpPr>
        <p:spPr>
          <a:xfrm>
            <a:off x="7567026" y="1486266"/>
            <a:ext cx="99852" cy="998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827264" y="1399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Model</a:t>
            </a:r>
            <a:endParaRPr lang="en-US" sz="1500" dirty="0"/>
          </a:p>
        </p:txBody>
      </p:sp>
      <p:sp>
        <p:nvSpPr>
          <p:cNvPr id="50" name="arch item 3-0"/>
          <p:cNvSpPr/>
          <p:nvPr/>
        </p:nvSpPr>
        <p:spPr>
          <a:xfrm>
            <a:off x="7461504" y="1856232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552944" y="185623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Gravity model: seats → passengers</a:t>
            </a:r>
            <a:endParaRPr lang="en-US" sz="1100" dirty="0"/>
          </a:p>
        </p:txBody>
      </p:sp>
      <p:sp>
        <p:nvSpPr>
          <p:cNvPr id="52" name="arch item 3-1"/>
          <p:cNvSpPr/>
          <p:nvPr/>
        </p:nvSpPr>
        <p:spPr>
          <a:xfrm>
            <a:off x="7461504" y="2377440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552944" y="23774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Effective distance (networkx)</a:t>
            </a:r>
            <a:endParaRPr lang="en-US" sz="1100" dirty="0"/>
          </a:p>
        </p:txBody>
      </p:sp>
      <p:sp>
        <p:nvSpPr>
          <p:cNvPr id="54" name="arch item 3-2"/>
          <p:cNvSpPr/>
          <p:nvPr/>
        </p:nvSpPr>
        <p:spPr>
          <a:xfrm>
            <a:off x="7461504" y="2898648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552944" y="28986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Import λ, P(import)</a:t>
            </a:r>
            <a:endParaRPr lang="en-US" sz="1100" dirty="0"/>
          </a:p>
        </p:txBody>
      </p:sp>
      <p:sp>
        <p:nvSpPr>
          <p:cNvPr id="56" name="arch item 3-3"/>
          <p:cNvSpPr/>
          <p:nvPr/>
        </p:nvSpPr>
        <p:spPr>
          <a:xfrm>
            <a:off x="7461504" y="3419856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552944" y="341985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Branching P(establish)</a:t>
            </a:r>
            <a:endParaRPr lang="en-US" sz="1100" dirty="0"/>
          </a:p>
        </p:txBody>
      </p:sp>
      <p:sp>
        <p:nvSpPr>
          <p:cNvPr id="58" name="arch item 3-4"/>
          <p:cNvSpPr/>
          <p:nvPr/>
        </p:nvSpPr>
        <p:spPr>
          <a:xfrm>
            <a:off x="7461504" y="3941064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552944" y="394106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Low / central / high bands</a:t>
            </a:r>
            <a:endParaRPr lang="en-US" sz="1100" dirty="0"/>
          </a:p>
        </p:txBody>
      </p:sp>
      <p:sp>
        <p:nvSpPr>
          <p:cNvPr id="60" name="arch arrow 3"/>
          <p:cNvSpPr/>
          <p:nvPr/>
        </p:nvSpPr>
        <p:spPr>
          <a:xfrm>
            <a:off x="9418320" y="2971800"/>
            <a:ext cx="128016" cy="274320"/>
          </a:xfrm>
          <a:prstGeom prst="chevron">
            <a:avLst/>
          </a:prstGeom>
          <a:solidFill>
            <a:srgbClr val="93A4BD"/>
          </a:solidFill>
          <a:ln w="12700">
            <a:solidFill>
              <a:srgbClr val="93A4BD"/>
            </a:solidFill>
            <a:prstDash val="solid"/>
          </a:ln>
        </p:spPr>
      </p:sp>
      <p:sp>
        <p:nvSpPr>
          <p:cNvPr id="61" name="arch col 4"/>
          <p:cNvSpPr/>
          <p:nvPr/>
        </p:nvSpPr>
        <p:spPr>
          <a:xfrm>
            <a:off x="9582912" y="1234440"/>
            <a:ext cx="2057400" cy="3794760"/>
          </a:xfrm>
          <a:prstGeom prst="roundRect">
            <a:avLst>
              <a:gd name="adj" fmla="val 355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2" name="arch dot 4 ring"/>
          <p:cNvSpPr/>
          <p:nvPr/>
        </p:nvSpPr>
        <p:spPr>
          <a:xfrm>
            <a:off x="9756648" y="1417320"/>
            <a:ext cx="237744" cy="237744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3" name="arch dot 4 core"/>
          <p:cNvSpPr/>
          <p:nvPr/>
        </p:nvSpPr>
        <p:spPr>
          <a:xfrm>
            <a:off x="9825594" y="1486266"/>
            <a:ext cx="99852" cy="998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085832" y="1399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Serve &amp; show</a:t>
            </a:r>
            <a:endParaRPr lang="en-US" sz="1500" dirty="0"/>
          </a:p>
        </p:txBody>
      </p:sp>
      <p:sp>
        <p:nvSpPr>
          <p:cNvPr id="65" name="arch item 4-0"/>
          <p:cNvSpPr/>
          <p:nvPr/>
        </p:nvSpPr>
        <p:spPr>
          <a:xfrm>
            <a:off x="9720072" y="1856232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811512" y="185623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FastAPI JSON endpoints</a:t>
            </a:r>
            <a:endParaRPr lang="en-US" sz="1100" dirty="0"/>
          </a:p>
        </p:txBody>
      </p:sp>
      <p:sp>
        <p:nvSpPr>
          <p:cNvPr id="67" name="arch item 4-1"/>
          <p:cNvSpPr/>
          <p:nvPr/>
        </p:nvSpPr>
        <p:spPr>
          <a:xfrm>
            <a:off x="9720072" y="2377440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811512" y="23774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React + TypeScript (Vite)</a:t>
            </a:r>
            <a:endParaRPr lang="en-US" sz="1100" dirty="0"/>
          </a:p>
        </p:txBody>
      </p:sp>
      <p:sp>
        <p:nvSpPr>
          <p:cNvPr id="69" name="arch item 4-2"/>
          <p:cNvSpPr/>
          <p:nvPr/>
        </p:nvSpPr>
        <p:spPr>
          <a:xfrm>
            <a:off x="9720072" y="2898648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811512" y="28986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MapLibre GL + deck.gl arcs</a:t>
            </a:r>
            <a:endParaRPr lang="en-US" sz="1100" dirty="0"/>
          </a:p>
        </p:txBody>
      </p:sp>
      <p:sp>
        <p:nvSpPr>
          <p:cNvPr id="71" name="arch item 4-3"/>
          <p:cNvSpPr/>
          <p:nvPr/>
        </p:nvSpPr>
        <p:spPr>
          <a:xfrm>
            <a:off x="9720072" y="3419856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811512" y="341985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Scenario sliders · timeline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548640" y="5230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Every value carries a type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548640" y="55229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observed · estimated · modelled · scenario — the UI colours and labels each differently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4297680" y="5230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Works offline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297680" y="55229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 cached snapshot of sources lets the demo run if any live API fails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8046720" y="5230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One small service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8046720" y="55229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no microservices or paid data; a laptop runs the whole stack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4B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Calibrate on COVID-19, test on outbreaks it never saw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0350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60604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EF6"/>
                          </a:solidFill>
                        </a:rPr>
                        <a:t>Input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EF6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EF6"/>
                          </a:solidFill>
                        </a:rPr>
                        <a:t>Honest caveat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</a:rPr>
                        <a:t>Live outbreaks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</a:rPr>
                        <a:t>WHO DON API + TinyFish-extracted pages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</a:rPr>
                        <a:t>Narrative counts; reporting lags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</a:rPr>
                        <a:t>Passengers F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</a:rPr>
                        <a:t>BTS T-100 &amp; Eurostat (observed); gravity model elsewhere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</a:rPr>
                        <a:t>No free global O–D bookings → labelled proxy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</a:rPr>
                        <a:t>Route topology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</a:rPr>
                        <a:t>OpenFlights; OpenSky flight counts 2019–22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</a:rPr>
                        <a:t>Counts flights, not people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</a:rPr>
                        <a:t>Prevalence I/N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</a:rPr>
                        <a:t>OWID / JHU cases ÷ WorldPop or UN population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</a:rPr>
                        <a:t>Testing bias → under-reporting band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</a:rPr>
                        <a:t>Policy σ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</a:rPr>
                        <a:t>OxCGRT (to 2022); TinyFish flag for live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</a:rPr>
                        <a:t>Needs human confirmation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903720" y="1234440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Validation plan (to be run — no accuracy claimed yet)</a:t>
            </a:r>
            <a:endParaRPr lang="en-US" sz="1400" dirty="0"/>
          </a:p>
        </p:txBody>
      </p:sp>
      <p:sp>
        <p:nvSpPr>
          <p:cNvPr id="5" name="val 0 ring"/>
          <p:cNvSpPr/>
          <p:nvPr/>
        </p:nvSpPr>
        <p:spPr>
          <a:xfrm>
            <a:off x="6922008" y="1746504"/>
            <a:ext cx="256032" cy="256032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val 0 core"/>
          <p:cNvSpPr/>
          <p:nvPr/>
        </p:nvSpPr>
        <p:spPr>
          <a:xfrm>
            <a:off x="6996257" y="1820753"/>
            <a:ext cx="107533" cy="10753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0" y="17190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691640"/>
            <a:ext cx="3410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COVID-19 first wave: arrival time vs effective distance; fit the passenger coefficient, then freeze it</a:t>
            </a:r>
            <a:endParaRPr lang="en-US" sz="1200" dirty="0"/>
          </a:p>
        </p:txBody>
      </p:sp>
      <p:sp>
        <p:nvSpPr>
          <p:cNvPr id="9" name="val 1 ring"/>
          <p:cNvSpPr/>
          <p:nvPr/>
        </p:nvSpPr>
        <p:spPr>
          <a:xfrm>
            <a:off x="6922008" y="2615184"/>
            <a:ext cx="256032" cy="256032"/>
          </a:xfrm>
          <a:prstGeom prst="ellipse">
            <a:avLst/>
          </a:prstGeom>
          <a:solidFill>
            <a:schemeClr val="accent4">
              <a:alpha val="3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val 1 core"/>
          <p:cNvSpPr/>
          <p:nvPr/>
        </p:nvSpPr>
        <p:spPr>
          <a:xfrm>
            <a:off x="6996257" y="2689433"/>
            <a:ext cx="107533" cy="10753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0" y="25877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Test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560320"/>
            <a:ext cx="3410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Delta &amp; Omicron introduction order; H1N1 2009 and SARS 2003 rank correlation, nothing refit</a:t>
            </a:r>
            <a:endParaRPr lang="en-US" sz="1200" dirty="0"/>
          </a:p>
        </p:txBody>
      </p:sp>
      <p:sp>
        <p:nvSpPr>
          <p:cNvPr id="13" name="val 2 ring"/>
          <p:cNvSpPr/>
          <p:nvPr/>
        </p:nvSpPr>
        <p:spPr>
          <a:xfrm>
            <a:off x="6922008" y="3483864"/>
            <a:ext cx="256032" cy="256032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val 2 core"/>
          <p:cNvSpPr/>
          <p:nvPr/>
        </p:nvSpPr>
        <p:spPr>
          <a:xfrm>
            <a:off x="6996257" y="3558113"/>
            <a:ext cx="107533" cy="10753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0" y="34564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Control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3429000"/>
            <a:ext cx="3410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MERS &amp; Ebola: low α must keep international establishment low — if it fires, α is wrong</a:t>
            </a:r>
            <a:endParaRPr lang="en-US" sz="1200" dirty="0"/>
          </a:p>
        </p:txBody>
      </p:sp>
      <p:sp>
        <p:nvSpPr>
          <p:cNvPr id="17" name="val 3 ring"/>
          <p:cNvSpPr/>
          <p:nvPr/>
        </p:nvSpPr>
        <p:spPr>
          <a:xfrm>
            <a:off x="6922008" y="4352544"/>
            <a:ext cx="256032" cy="256032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val 3 core"/>
          <p:cNvSpPr/>
          <p:nvPr/>
        </p:nvSpPr>
        <p:spPr>
          <a:xfrm>
            <a:off x="6996257" y="4426793"/>
            <a:ext cx="107533" cy="107533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0" y="43251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Contrast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4297680"/>
            <a:ext cx="3410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Zika: high importation, establishment set by mosquito climate, not flights</a:t>
            </a:r>
            <a:endParaRPr lang="en-US" sz="1200" dirty="0"/>
          </a:p>
        </p:txBody>
      </p:sp>
      <p:sp>
        <p:nvSpPr>
          <p:cNvPr id="21" name="label card"/>
          <p:cNvSpPr/>
          <p:nvPr/>
        </p:nvSpPr>
        <p:spPr>
          <a:xfrm>
            <a:off x="548640" y="4206240"/>
            <a:ext cx="6035040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3434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Better labels than ‘first confirmed case’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66344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First official case dates mostly measure who was testing. Where available we use Nextstrain lineage-introduction dates as the arrival label, and we report rank correlation per outbreak — one pandemic cannot prove universal accuracy.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03504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Sources: OWID covid-19-data; JHU CSSE archive; OxCGRT final release; BTS T-100; Eurostat avia; OpenFlights; OpenSky COVID dataset (Zenodo); WorldPop (Huang 2013, Mao 2015); Nextstrain. Plan from the 14 Oct 2026 briefing note.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4B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Scalability, feasibility and use case</a:t>
            </a:r>
            <a:endParaRPr lang="en-US" sz="3200" dirty="0"/>
          </a:p>
        </p:txBody>
      </p:sp>
      <p:sp>
        <p:nvSpPr>
          <p:cNvPr id="3" name="prio 0"/>
          <p:cNvSpPr/>
          <p:nvPr/>
        </p:nvSpPr>
        <p:spPr>
          <a:xfrm>
            <a:off x="548640" y="1188720"/>
            <a:ext cx="2240280" cy="3429000"/>
          </a:xfrm>
          <a:prstGeom prst="roundRect">
            <a:avLst>
              <a:gd name="adj" fmla="val 326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P0 · demo in 24 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1920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Map with real WHO DON records + source links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TinyFish Fetch→Agent extraction with validation gate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Import model with low/central/high bands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Country panel: presence vs import vs establish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Offline cached snapshot</a:t>
            </a:r>
            <a:endParaRPr lang="en-US" sz="1200" dirty="0"/>
          </a:p>
        </p:txBody>
      </p:sp>
      <p:sp>
        <p:nvSpPr>
          <p:cNvPr id="6" name="prio 1"/>
          <p:cNvSpPr/>
          <p:nvPr/>
        </p:nvSpPr>
        <p:spPr>
          <a:xfrm>
            <a:off x="2944368" y="1188720"/>
            <a:ext cx="2240280" cy="3429000"/>
          </a:xfrm>
          <a:prstGeom prst="roundRect">
            <a:avLst>
              <a:gd name="adj" fmla="val 326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27248" y="13258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P1 · if core works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27248" y="1691640"/>
            <a:ext cx="1920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Hub arcs + effective-distance ranking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Gravity-model passenger proxy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TinyFish Monitor webhook ingest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σ policy flags with human confirm</a:t>
            </a:r>
            <a:endParaRPr lang="en-US" sz="1200" dirty="0"/>
          </a:p>
        </p:txBody>
      </p:sp>
      <p:sp>
        <p:nvSpPr>
          <p:cNvPr id="9" name="prio 2"/>
          <p:cNvSpPr/>
          <p:nvPr/>
        </p:nvSpPr>
        <p:spPr>
          <a:xfrm>
            <a:off x="5340096" y="1188720"/>
            <a:ext cx="2240280" cy="3429000"/>
          </a:xfrm>
          <a:prstGeom prst="roundRect">
            <a:avLst>
              <a:gd name="adj" fmla="val 326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22976" y="13258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P2 · after the hackathon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522976" y="1691640"/>
            <a:ext cx="1920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Full COVID calibration + held-out tests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Seats × load factor from live schedules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Sub-national (admin-1) resolution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Licensed O–D bookings if available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18872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Why it is feasible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Free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160020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every dataset is free; paid feeds are optional upgrades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377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$8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237744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starter wallet ≈ 500 Agent steps; TinyFish Search and Fetch are free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3154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Offline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315468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cached snapshot keeps the demo alive if APIs fail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397764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How it scales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4297680"/>
            <a:ext cx="3730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Countries are nodes and routes are edges (~200 × 200), so recomputing every destination is a sub-second matrix job; new sources are a new extraction goal + schema, not new code.</a:t>
            </a:r>
            <a:endParaRPr lang="en-US" sz="1200" dirty="0"/>
          </a:p>
        </p:txBody>
      </p:sp>
      <p:sp>
        <p:nvSpPr>
          <p:cNvPr id="21" name="use case card"/>
          <p:cNvSpPr/>
          <p:nvPr/>
        </p:nvSpPr>
        <p:spPr>
          <a:xfrm>
            <a:off x="548640" y="4846320"/>
            <a:ext cx="7223760" cy="1234440"/>
          </a:xfrm>
          <a:prstGeom prst="roundRect">
            <a:avLst>
              <a:gd name="adj" fmla="val 5926"/>
            </a:avLst>
          </a:prstGeom>
          <a:solidFill>
            <a:srgbClr val="131F35"/>
          </a:solidFill>
          <a:ln w="12700">
            <a:solidFill>
              <a:srgbClr val="131F3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956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 case walk-through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25780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WHO publishes a new outbreak report → Monitor fires → Fetch + Agent extract it → it appears on the map within minutes with its source → an airport health officer selects India, sees the 14-day importation range and the top three origin routes, and drags σ to compare screening options.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4B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Honest by design: safeguards, scenario timeline, roadmap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Safeguards built into the product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Observed, estimated, modelled and scenario values are labelled and coloured differently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No number without inputs: missing data shows ‘not estimable’, never a guess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Ranges, not point values; every assumption is a visible slider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Official WHO / national travel guidance stays the action layer; we link to it</a:t>
            </a:r>
            <a:endParaRPr lang="en-US" sz="1300" dirty="0"/>
          </a:p>
        </p:txBody>
      </p:sp>
      <p:sp>
        <p:nvSpPr>
          <p:cNvPr id="5" name="timeline card"/>
          <p:cNvSpPr/>
          <p:nvPr/>
        </p:nvSpPr>
        <p:spPr>
          <a:xfrm>
            <a:off x="548640" y="3520440"/>
            <a:ext cx="5486400" cy="2240280"/>
          </a:xfrm>
          <a:prstGeom prst="roundRect">
            <a:avLst>
              <a:gd name="adj" fmla="val 326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6393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Scenario risk-threshold timeline (replaces ‘last safe day to leave’)</a:t>
            </a:r>
            <a:endParaRPr lang="en-US" sz="1300" dirty="0"/>
          </a:p>
        </p:txBody>
      </p:sp>
      <p:sp>
        <p:nvSpPr>
          <p:cNvPr id="7" name="timeline axis"/>
          <p:cNvSpPr/>
          <p:nvPr/>
        </p:nvSpPr>
        <p:spPr>
          <a:xfrm>
            <a:off x="914400" y="4526280"/>
            <a:ext cx="4754880" cy="0"/>
          </a:xfrm>
          <a:prstGeom prst="line">
            <a:avLst/>
          </a:prstGeom>
          <a:noFill/>
          <a:ln w="19050">
            <a:solidFill>
              <a:srgbClr val="93A4BD"/>
            </a:solidFill>
            <a:prstDash val="solid"/>
          </a:ln>
        </p:spPr>
      </p:sp>
      <p:sp>
        <p:nvSpPr>
          <p:cNvPr id="8" name="tl 0 ring"/>
          <p:cNvSpPr/>
          <p:nvPr/>
        </p:nvSpPr>
        <p:spPr>
          <a:xfrm>
            <a:off x="1660550" y="4416552"/>
            <a:ext cx="219456" cy="219456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l 0 core"/>
          <p:cNvSpPr/>
          <p:nvPr/>
        </p:nvSpPr>
        <p:spPr>
          <a:xfrm>
            <a:off x="1724193" y="4480194"/>
            <a:ext cx="92172" cy="921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8758" y="40416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Import ≥ 50%</a:t>
            </a:r>
            <a:endParaRPr lang="en-US" sz="1000" dirty="0"/>
          </a:p>
        </p:txBody>
      </p:sp>
      <p:sp>
        <p:nvSpPr>
          <p:cNvPr id="11" name="tl 1 ring"/>
          <p:cNvSpPr/>
          <p:nvPr/>
        </p:nvSpPr>
        <p:spPr>
          <a:xfrm>
            <a:off x="3087014" y="4416552"/>
            <a:ext cx="219456" cy="219456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l 1 core"/>
          <p:cNvSpPr/>
          <p:nvPr/>
        </p:nvSpPr>
        <p:spPr>
          <a:xfrm>
            <a:off x="3150657" y="4480194"/>
            <a:ext cx="92172" cy="921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65222" y="40416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Establish ≥ 50%</a:t>
            </a:r>
            <a:endParaRPr lang="en-US" sz="1000" dirty="0"/>
          </a:p>
        </p:txBody>
      </p:sp>
      <p:sp>
        <p:nvSpPr>
          <p:cNvPr id="14" name="tl 2 ring"/>
          <p:cNvSpPr/>
          <p:nvPr/>
        </p:nvSpPr>
        <p:spPr>
          <a:xfrm>
            <a:off x="4608576" y="4416552"/>
            <a:ext cx="219456" cy="219456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l 2 core"/>
          <p:cNvSpPr/>
          <p:nvPr/>
        </p:nvSpPr>
        <p:spPr>
          <a:xfrm>
            <a:off x="4672218" y="4480194"/>
            <a:ext cx="92172" cy="9217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86784" y="40416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Local prevalence &gt; reachable places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006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Upper-band inputs (high under-reporting, high R, σ = 0, schedules unchanged) with a user-set threshold. It is a scenario marker, not a safety date; leaving late can export infection to others. Follow WHO and national advisories.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118872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Roadmap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1572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Finale (24 h)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1572768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P0 demo with live WHO data and TinyFish ingest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1396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+1 month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2139696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COVID calibration and held-out H1N1 / SARS report, published openly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27066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+3 months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270662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Alerts for subscribed destinations; regional sources via new TinyFish goals</a:t>
            </a:r>
            <a:endParaRPr lang="en-US" sz="1200" dirty="0"/>
          </a:p>
        </p:txBody>
      </p:sp>
      <p:sp>
        <p:nvSpPr>
          <p:cNvPr id="25" name="refs card"/>
          <p:cNvSpPr/>
          <p:nvPr/>
        </p:nvSpPr>
        <p:spPr>
          <a:xfrm>
            <a:off x="6446520" y="3520440"/>
            <a:ext cx="5193792" cy="2240280"/>
          </a:xfrm>
          <a:prstGeom prst="roundRect">
            <a:avLst>
              <a:gd name="adj" fmla="val 326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3639312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References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959352"/>
            <a:ext cx="47823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bg2"/>
                </a:solidFill>
              </a:rPr>
              <a:t>Brockmann &amp; Helbing. Science 2013;342:1337–42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bg2"/>
                </a:solidFill>
              </a:rPr>
              <a:t>Lloyd-Smith et al. Nature 2005;438:355–9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bg2"/>
                </a:solidFill>
              </a:rPr>
              <a:t>Huang et al. PLOS ONE 2013;8:e64317 · Mao et al. J Transp Geogr 2015;48:52–60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bg2"/>
                </a:solidFill>
              </a:rPr>
              <a:t>WHO DON API: who.int/api/news/diseaseoutbreaknews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bg2"/>
                </a:solidFill>
              </a:rPr>
              <a:t>OWID covid-19-data · JHU CSSE · OxCGRT · BTS T-100 · Eurostat · OpenFlights · OpenSky · Nextstrain · GLEAM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bg2"/>
                </a:solidFill>
              </a:rPr>
              <a:t>TinyFish docs: docs.tinyfish.ai (Agent, Fetch, Search, Monitor), accessed 15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4B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piRoute Night">
  <a:themeElements>
    <a:clrScheme name="EpiRoute Night">
      <a:dk1>
        <a:srgbClr val="0B1320"/>
      </a:dk1>
      <a:lt1>
        <a:srgbClr val="E8EEF6"/>
      </a:lt1>
      <a:dk2>
        <a:srgbClr val="16213A"/>
      </a:dk2>
      <a:lt2>
        <a:srgbClr val="93A4BD"/>
      </a:lt2>
      <a:accent1>
        <a:srgbClr val="FFB547"/>
      </a:accent1>
      <a:accent2>
        <a:srgbClr val="FF6B5B"/>
      </a:accent2>
      <a:accent3>
        <a:srgbClr val="2EC4B6"/>
      </a:accent3>
      <a:accent4>
        <a:srgbClr val="8FB3FF"/>
      </a:accent4>
      <a:accent5>
        <a:srgbClr val="1C2A44"/>
      </a:accent5>
      <a:accent6>
        <a:srgbClr val="C792EA"/>
      </a:accent6>
      <a:hlink>
        <a:srgbClr val="8FB3FF"/>
      </a:hlink>
      <a:folHlink>
        <a:srgbClr val="C792EA"/>
      </a:folHlink>
    </a:clrScheme>
    <a:fontScheme name="EpiRoute N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EpiRoute — HackIIITD 2026 Round 1</dc:title>
  <dc:subject>PptxGenJS Presentation</dc:subject>
  <dc:creator>Team [Team name]</dc:creator>
  <cp:lastModifiedBy>Team [Team name]</cp:lastModifiedBy>
  <cp:revision>1</cp:revision>
  <dcterms:created xsi:type="dcterms:W3CDTF">2026-10-14T21:01:32Z</dcterms:created>
  <dcterms:modified xsi:type="dcterms:W3CDTF">2026-10-14T21:01:32Z</dcterms:modified>
</cp:coreProperties>
</file>