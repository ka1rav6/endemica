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2DCF246-D80A-C4E3-F969-D830A276DBBA}">
          <p14:sldIdLst>
            <p14:sldId id="256"/>
          </p14:sldIdLst>
        </p14:section>
        <p14:section name="Problem and solution" id="{463C55AA-E08F-4217-5577-A607DEDBA49A}">
          <p14:sldIdLst>
            <p14:sldId id="257"/>
            <p14:sldId id="258"/>
            <p14:sldId id="259"/>
          </p14:sldIdLst>
        </p14:section>
        <p14:section name="How it is built" id="{DE4316B2-0051-B0C6-E2F6-5BBDD2008A03}">
          <p14:sldIdLst>
            <p14:sldId id="260"/>
            <p14:sldId id="261"/>
          </p14:sldIdLst>
        </p14:section>
        <p14:section name="TinyFish" id="{B244881F-3366-4E8E-2136-74BB7643CF25}">
          <p14:sldIdLst>
            <p14:sldId id="262"/>
            <p14:sldId id="263"/>
          </p14:sldIdLst>
        </p14:section>
        <p14:section name="Impact" id="{A5396798-D648-194F-F4C6-39606B1A03F3}">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7" d="100"/>
          <a:sy n="87" d="100"/>
        </p:scale>
        <p:origin x="68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7647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with team contributions. endemica reads official outbreak bulletins, pairs each case count with the death toll from the same report, and answers four separate questions about a selected country. Every number says whether it was observed, estimated, modelled or a scenario.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gaps. 1) WHO Disease Outbreak News is a public source, but the numbers sit inside narrative text. 2) Geographic maps show where an outbreak is, not which country is next; disease follows the flight network. R² 0.97 vs 0.34 is the Brockmann &amp; Helbing 2013 simulation result for effective distance vs geographic distance. 3) Importation, local establishment and presence are three different events; one blended score hides the assumptions.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answers are never merged into one score. 1) Presence: grounded case reports. 2) Importation: Poisson arrivals, lambda = prevalence x passengers x alpha x (1 - screening). 3) Establishment: branching process with negative binomial offspring (R, k). 4) Most likely to report next: complementary log-log survival model fitted on COVID-19 (2020) and mpox (2022). Held-out numbers are from MODEL_EVALUATION.md (4818-row panel, 28-day horizon): AUC 0.783 on COVID-19 and 0.768 on mpox. Status is ranking_validated, not calibrated: the ordering passed held-out gates on both outbreaks; the calibration-intercept and arrival-order gates did not, and the screen says so. A gradient-boosted challenger is recorded, not served. A missing input is left out of the 0-10 travel-risk index and weights are rescaled, never replaced with zero. Situational awareness only: not a forecast, a diagnosis or travel advice.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users are port and airport health officers and district surveillance teams deciding where to focus screening. Secondary users are travel-medicine clinics and corporate or university travel desks, then journalists, researchers and students who need a citable explanation instead of a black-box score, and the general public. Situational awareness only: not diagnosis, not an official forecast, not individual medical advice.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Sources: WHO Disease Outbreak News, official agency pages found by TinyFish Search, Eurostat and US DoT passenger counts, UN population. Ingest: TinyFish Search, Fetch and Agent, with a deterministic parser as fallback. Validate: every extracted number must pass the grounding gate before it is stored as usable. Model: closed-form importation and establishment, a gravity model for unobserved passenger flows, effective distance via networkx, and a fitted survival model for who reports next. Serve: FastAPI JSON endpoints behind a React 18 + TypeScript + Vite front end with a MapLibre GL map.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request for a destination country flows through the API layer to the risk service, which assembles presence, importation, establishment and the travel-risk index from repository reads. Tables: countries, outbreak_reports, outbreak_observations (with grounding verdicts), observation_corroborations, country_flows, gravity_model_fits, policy_flags, ingestion_runs, dataset_versions. The next-country model is trained offline (just train-model) and requests only read its model card; if the card is missing the screen says the model is not validated. Ingestion isolates failures per record and logs each run.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integrate TinyFish. Search finds official pages only (who.int, ecdc.europa.eu, paho.org, africacdc.org, cdc.gov, gov.uk); a news article's number is never used. Fetch returns clean markdown, up to 10 URLs per call. Agent runs a goal plus JSON schema over the page and returns disease, places, case and death counts, dates and the exact quoted sentence each number came from. Our grounding gate then checks every number against the Fetch text. The client handles 401 (bad key) and 402 (credits exhausted) explicitly and degrades to Fetch plus the deterministic parser, then to the WHO API narrative. Planned: Monitor webhooks to trigger ingestion, and an Agent run over official entry-requirements pages to propose the screening parameter sigma, confirmed by a person before it changes.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saved Agent response (tests/fixtures/tinyfish/agent_run_don622_completed.json) is a genuine TinyFish run over WHO DON 2026-DON622 and is wrong in several places: two suspected-case values appear nowhere in the page, two numbers sit in the page but not in the sentence they cite, one death figure was borrowed from another sentence, one 'case' count was actually recoveries, one pair was swapped, and one was a vaccination-coverage ratio. Only one of eight rows survives unmodified. Each of the four checks exists because that response failed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WHO publishes a report, TinyFish reads and extracts it, the gate grounds each number, and an airport health officer selects a destination to see the 14-day arrival range, the top origin routes, and how it moves with screening. Feasible now: everything runs from one repository with `just setup`, `just db-up`, `just dev`; reference datasets are free; the WHO archive ingest is offline and deterministic. Scales: adding a source is a new extraction goal plus schema; adding a pathogen is a new parameter profile; the country matrix is small. Roadmap: Monitor webhooks, border-policy screening input, sub-national resolution, licensed booking data if available.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data for the models includes flight routes with approximate traveller counts, population density, the outbreak archive, the Johns Hopkins COVID-19 series and neighbouring countries. Future scope: show the user flight paths with risk along them; run a Monte Carlo simulation of possible outbreak spread over the next T days; reuse the same engine for other crises such as revolutions, wars and famines; give a safety report with realistic scores out of 10; and suggest vaccines based on where the traveller is coming from and going to. Situational awareness only: not a forecast, a diagnosis or travel advice.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502920"/>
            <a:ext cx="4754880" cy="274320"/>
          </a:xfrm>
          <a:prstGeom prst="rect">
            <a:avLst/>
          </a:prstGeom>
          <a:noFill/>
          <a:ln/>
        </p:spPr>
        <p:txBody>
          <a:bodyPr wrap="square" rtlCol="0"/>
          <a:lstStyle>
            <a:lvl1pPr marL="0" indent="0">
              <a:buNone/>
              <a:defRPr lang="en-US" sz="1200" b="1" kern="0" spc="300" dirty="0">
                <a:solidFill>
                  <a:schemeClr val="accent5"/>
                </a:solidFill>
              </a:defRPr>
            </a:lvl1pPr>
          </a:lstStyle>
          <a:p>
            <a:pPr marL="0" indent="0">
              <a:buNone/>
            </a:pPr>
            <a:endParaRPr lang="en-US" sz="1200" dirty="0"/>
          </a:p>
        </p:txBody>
      </p:sp>
      <p:sp>
        <p:nvSpPr>
          <p:cNvPr id="3" name="Text 0"/>
          <p:cNvSpPr>
            <a:spLocks noGrp="1"/>
          </p:cNvSpPr>
          <p:nvPr>
            <p:ph type="title" idx="101" hasCustomPrompt="1"/>
          </p:nvPr>
        </p:nvSpPr>
        <p:spPr>
          <a:xfrm>
            <a:off x="548640" y="822960"/>
            <a:ext cx="4754880" cy="1005840"/>
          </a:xfrm>
          <a:prstGeom prst="rect">
            <a:avLst/>
          </a:prstGeom>
          <a:noFill/>
          <a:ln/>
        </p:spPr>
        <p:txBody>
          <a:bodyPr wrap="square" rtlCol="0"/>
          <a:lstStyle>
            <a:lvl1pPr marL="0" indent="0" algn="l">
              <a:buNone/>
              <a:defRPr lang="en-US" sz="6000" b="1" dirty="0">
                <a:solidFill>
                  <a:schemeClr val="bg1"/>
                </a:solidFill>
              </a:defRPr>
            </a:lvl1pPr>
          </a:lstStyle>
          <a:p>
            <a:pPr marL="0" indent="0" algn="l">
              <a:buNone/>
            </a:pPr>
            <a:endParaRPr lang="en-US" sz="6000" dirty="0"/>
          </a:p>
        </p:txBody>
      </p:sp>
      <p:sp>
        <p:nvSpPr>
          <p:cNvPr id="4" name="Text 0"/>
          <p:cNvSpPr>
            <a:spLocks noGrp="1"/>
          </p:cNvSpPr>
          <p:nvPr>
            <p:ph type="body" idx="102" hasCustomPrompt="1"/>
          </p:nvPr>
        </p:nvSpPr>
        <p:spPr>
          <a:xfrm>
            <a:off x="548640" y="1920240"/>
            <a:ext cx="4572000" cy="1005840"/>
          </a:xfrm>
          <a:prstGeom prst="rect">
            <a:avLst/>
          </a:prstGeom>
          <a:noFill/>
          <a:ln/>
        </p:spPr>
        <p:txBody>
          <a:bodyPr wrap="square" rtlCol="0"/>
          <a:lstStyle>
            <a:lvl1pPr marL="0" indent="0" algn="l">
              <a:buNone/>
              <a:defRPr lang="en-US" sz="1800" dirty="0">
                <a:solidFill>
                  <a:schemeClr val="bg2"/>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200" y="4773168"/>
            <a:ext cx="5486400" cy="228600"/>
          </a:xfrm>
          <a:prstGeom prst="rect">
            <a:avLst/>
          </a:prstGeom>
          <a:noFill/>
          <a:ln/>
        </p:spPr>
        <p:txBody>
          <a:bodyPr wrap="square" lIns="0" tIns="0" rIns="0" bIns="0" rtlCol="0" anchor="ctr"/>
          <a:lstStyle/>
          <a:p>
            <a:pPr marL="0" indent="0">
              <a:buNone/>
            </a:pPr>
            <a:r>
              <a:rPr lang="en-US" sz="1000" dirty="0">
                <a:solidFill>
                  <a:schemeClr val="accent4"/>
                </a:solidFill>
              </a:rPr>
              <a:t>endemica  ·  hackIIITD 2026  ·  Team Prometheus</a:t>
            </a:r>
            <a:endParaRPr lang="en-US" sz="1000" dirty="0"/>
          </a:p>
        </p:txBody>
      </p:sp>
      <p:sp>
        <p:nvSpPr>
          <p:cNvPr id="3" name="Text 1"/>
          <p:cNvSpPr>
            <a:spLocks noGrp="1"/>
          </p:cNvSpPr>
          <p:nvPr>
            <p:ph type="body" idx="101" hasCustomPrompt="1"/>
          </p:nvPr>
        </p:nvSpPr>
        <p:spPr>
          <a:xfrm>
            <a:off x="457200" y="347472"/>
            <a:ext cx="8229600" cy="274320"/>
          </a:xfrm>
          <a:prstGeom prst="rect">
            <a:avLst/>
          </a:prstGeom>
          <a:noFill/>
          <a:ln/>
        </p:spPr>
        <p:txBody>
          <a:bodyPr wrap="square" rtlCol="0"/>
          <a:lstStyle>
            <a:lvl1pPr marL="0" indent="0">
              <a:buNone/>
              <a:defRPr lang="en-US" sz="1200" b="1" kern="0" spc="200" dirty="0">
                <a:solidFill>
                  <a:schemeClr val="accent1"/>
                </a:solidFill>
              </a:defRPr>
            </a:lvl1pPr>
          </a:lstStyle>
          <a:p>
            <a:pPr marL="0" indent="0">
              <a:buNone/>
            </a:pPr>
            <a:endParaRPr lang="en-US" sz="1200" dirty="0"/>
          </a:p>
        </p:txBody>
      </p:sp>
      <p:sp>
        <p:nvSpPr>
          <p:cNvPr id="4" name="Text 1"/>
          <p:cNvSpPr>
            <a:spLocks noGrp="1"/>
          </p:cNvSpPr>
          <p:nvPr>
            <p:ph type="title" idx="102" hasCustomPrompt="1"/>
          </p:nvPr>
        </p:nvSpPr>
        <p:spPr>
          <a:xfrm>
            <a:off x="457200" y="621792"/>
            <a:ext cx="8229600" cy="64008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822960"/>
            <a:ext cx="8046720" cy="274320"/>
          </a:xfrm>
          <a:prstGeom prst="rect">
            <a:avLst/>
          </a:prstGeom>
          <a:noFill/>
          <a:ln/>
        </p:spPr>
        <p:txBody>
          <a:bodyPr wrap="square" rtlCol="0"/>
          <a:lstStyle>
            <a:lvl1pPr marL="0" indent="0">
              <a:buNone/>
              <a:defRPr lang="en-US" sz="1200" b="1" kern="0" spc="300" dirty="0">
                <a:solidFill>
                  <a:schemeClr val="accent5"/>
                </a:solidFill>
              </a:defRPr>
            </a:lvl1pPr>
          </a:lstStyle>
          <a:p>
            <a:pPr marL="0" indent="0">
              <a:buNone/>
            </a:pPr>
            <a:endParaRPr lang="en-US" sz="1200" dirty="0"/>
          </a:p>
        </p:txBody>
      </p:sp>
      <p:sp>
        <p:nvSpPr>
          <p:cNvPr id="3" name="Text 0"/>
          <p:cNvSpPr>
            <a:spLocks noGrp="1"/>
          </p:cNvSpPr>
          <p:nvPr>
            <p:ph type="title" idx="101" hasCustomPrompt="1"/>
          </p:nvPr>
        </p:nvSpPr>
        <p:spPr>
          <a:xfrm>
            <a:off x="548640" y="1097280"/>
            <a:ext cx="8046720" cy="128016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502920"/>
            <a:ext cx="4754880" cy="274320"/>
          </a:xfrm>
          <a:prstGeom prst="rect">
            <a:avLst/>
          </a:prstGeom>
          <a:noFill/>
          <a:ln/>
        </p:spPr>
        <p:txBody>
          <a:bodyPr wrap="square" lIns="0" tIns="0" rIns="0" bIns="0" rtlCol="0" anchor="t"/>
          <a:lstStyle/>
          <a:p>
            <a:pPr marL="0" indent="0">
              <a:buNone/>
            </a:pPr>
            <a:r>
              <a:rPr lang="en-US" sz="1200" b="1" kern="0" spc="300" dirty="0">
                <a:solidFill>
                  <a:schemeClr val="accent5"/>
                </a:solidFill>
              </a:rPr>
              <a:t>HACKIIITD 2026  ·  TEAM PROMETHEUS</a:t>
            </a:r>
            <a:endParaRPr lang="en-US" sz="1200" dirty="0"/>
          </a:p>
        </p:txBody>
      </p:sp>
      <p:sp>
        <p:nvSpPr>
          <p:cNvPr id="3" name="Text 0"/>
          <p:cNvSpPr>
            <a:spLocks noGrp="1"/>
          </p:cNvSpPr>
          <p:nvPr>
            <p:ph type="title" idx="101" hasCustomPrompt="1"/>
          </p:nvPr>
        </p:nvSpPr>
        <p:spPr>
          <a:xfrm>
            <a:off x="548640" y="822960"/>
            <a:ext cx="4754880" cy="1005840"/>
          </a:xfrm>
          <a:prstGeom prst="rect">
            <a:avLst/>
          </a:prstGeom>
          <a:noFill/>
          <a:ln/>
        </p:spPr>
        <p:txBody>
          <a:bodyPr wrap="square" lIns="0" tIns="0" rIns="0" bIns="0" rtlCol="0" anchor="ctr"/>
          <a:lstStyle/>
          <a:p>
            <a:pPr marL="0" indent="0" algn="l">
              <a:buNone/>
            </a:pPr>
            <a:r>
              <a:rPr lang="en-US" sz="6000" b="1" dirty="0">
                <a:solidFill>
                  <a:schemeClr val="bg1"/>
                </a:solidFill>
              </a:rPr>
              <a:t>endemica</a:t>
            </a:r>
            <a:endParaRPr lang="en-US" sz="6000" dirty="0"/>
          </a:p>
        </p:txBody>
      </p:sp>
      <p:sp>
        <p:nvSpPr>
          <p:cNvPr id="4" name="Text 0"/>
          <p:cNvSpPr>
            <a:spLocks noGrp="1"/>
          </p:cNvSpPr>
          <p:nvPr>
            <p:ph type="body" idx="102" hasCustomPrompt="1"/>
          </p:nvPr>
        </p:nvSpPr>
        <p:spPr>
          <a:xfrm>
            <a:off x="548640" y="1920240"/>
            <a:ext cx="4572000" cy="1005840"/>
          </a:xfrm>
          <a:prstGeom prst="rect">
            <a:avLst/>
          </a:prstGeom>
          <a:noFill/>
          <a:ln/>
        </p:spPr>
        <p:txBody>
          <a:bodyPr wrap="square" lIns="0" tIns="0" rIns="0" bIns="0" rtlCol="0" anchor="t"/>
          <a:lstStyle/>
          <a:p>
            <a:pPr marL="0" indent="0" algn="l">
              <a:buNone/>
            </a:pPr>
            <a:r>
              <a:rPr lang="en-US" sz="1800" dirty="0">
                <a:solidFill>
                  <a:schemeClr val="bg2"/>
                </a:solidFill>
              </a:rPr>
              <a:t>Outbreak intelligence from official health reports, with the source and the assumption behind every number.</a:t>
            </a:r>
            <a:endParaRPr lang="en-US" sz="1800" dirty="0"/>
          </a:p>
        </p:txBody>
      </p:sp>
      <p:sp>
        <p:nvSpPr>
          <p:cNvPr id="5" name="Text 3"/>
          <p:cNvSpPr txBox="1"/>
          <p:nvPr/>
        </p:nvSpPr>
        <p:spPr>
          <a:xfrm>
            <a:off x="548640" y="3108960"/>
            <a:ext cx="4572000" cy="201168"/>
          </a:xfrm>
          <a:prstGeom prst="rect">
            <a:avLst/>
          </a:prstGeom>
          <a:noFill/>
          <a:ln/>
        </p:spPr>
        <p:txBody>
          <a:bodyPr wrap="square" lIns="0" tIns="0" rIns="0" bIns="0" rtlCol="0" anchor="t"/>
          <a:lstStyle/>
          <a:p>
            <a:pPr marL="0" indent="0">
              <a:buNone/>
            </a:pPr>
            <a:r>
              <a:rPr lang="en-US" sz="1100" b="1" kern="0" spc="200" dirty="0">
                <a:solidFill>
                  <a:schemeClr val="accent5"/>
                </a:solidFill>
              </a:rPr>
              <a:t>TEAM &amp; CONTRIBUTIONS</a:t>
            </a:r>
            <a:endParaRPr lang="en-US" sz="1100" dirty="0"/>
          </a:p>
        </p:txBody>
      </p:sp>
      <p:sp>
        <p:nvSpPr>
          <p:cNvPr id="6" name="Team card Pranshi Mittal"/>
          <p:cNvSpPr/>
          <p:nvPr/>
        </p:nvSpPr>
        <p:spPr>
          <a:xfrm>
            <a:off x="548640" y="3383280"/>
            <a:ext cx="1828800" cy="1371600"/>
          </a:xfrm>
          <a:prstGeom prst="roundRect">
            <a:avLst>
              <a:gd name="adj" fmla="val 6667"/>
            </a:avLst>
          </a:prstGeom>
          <a:solidFill>
            <a:schemeClr val="tx2"/>
          </a:solidFill>
          <a:ln/>
        </p:spPr>
      </p:sp>
      <p:sp>
        <p:nvSpPr>
          <p:cNvPr id="7" name="Text 5"/>
          <p:cNvSpPr txBox="1"/>
          <p:nvPr/>
        </p:nvSpPr>
        <p:spPr>
          <a:xfrm>
            <a:off x="685800" y="3493008"/>
            <a:ext cx="1600200" cy="256032"/>
          </a:xfrm>
          <a:prstGeom prst="rect">
            <a:avLst/>
          </a:prstGeom>
          <a:noFill/>
          <a:ln/>
        </p:spPr>
        <p:txBody>
          <a:bodyPr wrap="square" lIns="0" tIns="0" rIns="0" bIns="0" rtlCol="0" anchor="t"/>
          <a:lstStyle/>
          <a:p>
            <a:pPr marL="0" indent="0">
              <a:buNone/>
            </a:pPr>
            <a:r>
              <a:rPr lang="en-US" sz="1400" b="1" dirty="0">
                <a:solidFill>
                  <a:schemeClr val="bg1"/>
                </a:solidFill>
              </a:rPr>
              <a:t>Pranshi Mittal</a:t>
            </a:r>
            <a:endParaRPr lang="en-US" sz="1400" dirty="0"/>
          </a:p>
        </p:txBody>
      </p:sp>
      <p:sp>
        <p:nvSpPr>
          <p:cNvPr id="8" name="Text 6"/>
          <p:cNvSpPr txBox="1"/>
          <p:nvPr/>
        </p:nvSpPr>
        <p:spPr>
          <a:xfrm>
            <a:off x="685800" y="3749040"/>
            <a:ext cx="1600200" cy="182880"/>
          </a:xfrm>
          <a:prstGeom prst="rect">
            <a:avLst/>
          </a:prstGeom>
          <a:noFill/>
          <a:ln/>
        </p:spPr>
        <p:txBody>
          <a:bodyPr wrap="square" lIns="0" tIns="0" rIns="0" bIns="0" rtlCol="0" anchor="t"/>
          <a:lstStyle/>
          <a:p>
            <a:pPr marL="0" indent="0">
              <a:buNone/>
            </a:pPr>
            <a:r>
              <a:rPr lang="en-US" sz="1000" b="1" dirty="0">
                <a:solidFill>
                  <a:schemeClr val="accent3"/>
                </a:solidFill>
              </a:rPr>
              <a:t>Team lead</a:t>
            </a:r>
            <a:endParaRPr lang="en-US" sz="1000" dirty="0"/>
          </a:p>
        </p:txBody>
      </p:sp>
      <p:sp>
        <p:nvSpPr>
          <p:cNvPr id="9" name="Text 7"/>
          <p:cNvSpPr txBox="1"/>
          <p:nvPr/>
        </p:nvSpPr>
        <p:spPr>
          <a:xfrm>
            <a:off x="685800" y="3977640"/>
            <a:ext cx="1600200" cy="822960"/>
          </a:xfrm>
          <a:prstGeom prst="rect">
            <a:avLst/>
          </a:prstGeom>
          <a:noFill/>
          <a:ln/>
        </p:spPr>
        <p:txBody>
          <a:bodyPr wrap="square" lIns="0" tIns="0" rIns="0" bIns="0" rtlCol="0" anchor="t"/>
          <a:lstStyle/>
          <a:p>
            <a:pPr marL="0" indent="0">
              <a:buNone/>
            </a:pPr>
            <a:r>
              <a:rPr lang="en-US" sz="1200" dirty="0">
                <a:solidFill>
                  <a:schemeClr val="bg2"/>
                </a:solidFill>
              </a:rPr>
              <a:t>Frontend developing &amp; debugging and TinyFish integration</a:t>
            </a:r>
            <a:endParaRPr lang="en-US" sz="1200" dirty="0"/>
          </a:p>
        </p:txBody>
      </p:sp>
      <p:sp>
        <p:nvSpPr>
          <p:cNvPr id="10" name="Team card Kairav Dutta"/>
          <p:cNvSpPr/>
          <p:nvPr/>
        </p:nvSpPr>
        <p:spPr>
          <a:xfrm>
            <a:off x="2560320" y="3383280"/>
            <a:ext cx="1828800" cy="1371600"/>
          </a:xfrm>
          <a:prstGeom prst="roundRect">
            <a:avLst>
              <a:gd name="adj" fmla="val 6667"/>
            </a:avLst>
          </a:prstGeom>
          <a:solidFill>
            <a:schemeClr val="tx2"/>
          </a:solidFill>
          <a:ln/>
        </p:spPr>
      </p:sp>
      <p:sp>
        <p:nvSpPr>
          <p:cNvPr id="11" name="Text 9"/>
          <p:cNvSpPr txBox="1"/>
          <p:nvPr/>
        </p:nvSpPr>
        <p:spPr>
          <a:xfrm>
            <a:off x="2697480" y="3493008"/>
            <a:ext cx="1600200" cy="256032"/>
          </a:xfrm>
          <a:prstGeom prst="rect">
            <a:avLst/>
          </a:prstGeom>
          <a:noFill/>
          <a:ln/>
        </p:spPr>
        <p:txBody>
          <a:bodyPr wrap="square" lIns="0" tIns="0" rIns="0" bIns="0" rtlCol="0" anchor="t"/>
          <a:lstStyle/>
          <a:p>
            <a:pPr marL="0" indent="0">
              <a:buNone/>
            </a:pPr>
            <a:r>
              <a:rPr lang="en-US" sz="1400" b="1" dirty="0">
                <a:solidFill>
                  <a:schemeClr val="bg1"/>
                </a:solidFill>
              </a:rPr>
              <a:t>Kairav Dutta</a:t>
            </a:r>
            <a:endParaRPr lang="en-US" sz="1400" dirty="0"/>
          </a:p>
        </p:txBody>
      </p:sp>
      <p:sp>
        <p:nvSpPr>
          <p:cNvPr id="12" name="Text 10"/>
          <p:cNvSpPr txBox="1"/>
          <p:nvPr/>
        </p:nvSpPr>
        <p:spPr>
          <a:xfrm>
            <a:off x="2697480" y="3840480"/>
            <a:ext cx="1600200" cy="822960"/>
          </a:xfrm>
          <a:prstGeom prst="rect">
            <a:avLst/>
          </a:prstGeom>
          <a:noFill/>
          <a:ln/>
        </p:spPr>
        <p:txBody>
          <a:bodyPr wrap="square" lIns="0" tIns="0" rIns="0" bIns="0" rtlCol="0" anchor="t"/>
          <a:lstStyle/>
          <a:p>
            <a:pPr marL="0" indent="0">
              <a:buNone/>
            </a:pPr>
            <a:r>
              <a:rPr lang="en-US" sz="1200" dirty="0">
                <a:solidFill>
                  <a:schemeClr val="bg2"/>
                </a:solidFill>
              </a:rPr>
              <a:t>Backend developing and ML model brainstorming, training and implementation</a:t>
            </a:r>
            <a:endParaRPr lang="en-US" sz="1200" dirty="0"/>
          </a:p>
        </p:txBody>
      </p:sp>
      <p:sp>
        <p:nvSpPr>
          <p:cNvPr id="13" name="Team card Kinshuk Tripathi"/>
          <p:cNvSpPr/>
          <p:nvPr/>
        </p:nvSpPr>
        <p:spPr>
          <a:xfrm>
            <a:off x="4572000" y="3383280"/>
            <a:ext cx="1828800" cy="1371600"/>
          </a:xfrm>
          <a:prstGeom prst="roundRect">
            <a:avLst>
              <a:gd name="adj" fmla="val 6667"/>
            </a:avLst>
          </a:prstGeom>
          <a:solidFill>
            <a:schemeClr val="tx2"/>
          </a:solidFill>
          <a:ln/>
        </p:spPr>
      </p:sp>
      <p:sp>
        <p:nvSpPr>
          <p:cNvPr id="14" name="Text 12"/>
          <p:cNvSpPr txBox="1"/>
          <p:nvPr/>
        </p:nvSpPr>
        <p:spPr>
          <a:xfrm>
            <a:off x="4709160" y="3493008"/>
            <a:ext cx="1600200" cy="256032"/>
          </a:xfrm>
          <a:prstGeom prst="rect">
            <a:avLst/>
          </a:prstGeom>
          <a:noFill/>
          <a:ln/>
        </p:spPr>
        <p:txBody>
          <a:bodyPr wrap="square" lIns="0" tIns="0" rIns="0" bIns="0" rtlCol="0" anchor="t"/>
          <a:lstStyle/>
          <a:p>
            <a:pPr marL="0" indent="0">
              <a:buNone/>
            </a:pPr>
            <a:r>
              <a:rPr lang="en-US" sz="1400" b="1" dirty="0">
                <a:solidFill>
                  <a:schemeClr val="bg1"/>
                </a:solidFill>
              </a:rPr>
              <a:t>Kinshuk Tripathi</a:t>
            </a:r>
            <a:endParaRPr lang="en-US" sz="1400" dirty="0"/>
          </a:p>
        </p:txBody>
      </p:sp>
      <p:sp>
        <p:nvSpPr>
          <p:cNvPr id="15" name="Text 13"/>
          <p:cNvSpPr txBox="1"/>
          <p:nvPr/>
        </p:nvSpPr>
        <p:spPr>
          <a:xfrm>
            <a:off x="4709160" y="3840480"/>
            <a:ext cx="1600200" cy="822960"/>
          </a:xfrm>
          <a:prstGeom prst="rect">
            <a:avLst/>
          </a:prstGeom>
          <a:noFill/>
          <a:ln/>
        </p:spPr>
        <p:txBody>
          <a:bodyPr wrap="square" lIns="0" tIns="0" rIns="0" bIns="0" rtlCol="0" anchor="t"/>
          <a:lstStyle/>
          <a:p>
            <a:pPr marL="0" indent="0">
              <a:buNone/>
            </a:pPr>
            <a:r>
              <a:rPr lang="en-US" sz="1200" dirty="0">
                <a:solidFill>
                  <a:schemeClr val="bg2"/>
                </a:solidFill>
              </a:rPr>
              <a:t>Probabilistic model and mathematical aspect, research</a:t>
            </a:r>
            <a:endParaRPr lang="en-US" sz="1200" dirty="0"/>
          </a:p>
        </p:txBody>
      </p:sp>
      <p:sp>
        <p:nvSpPr>
          <p:cNvPr id="16" name="Team card Krunal Patel"/>
          <p:cNvSpPr/>
          <p:nvPr/>
        </p:nvSpPr>
        <p:spPr>
          <a:xfrm>
            <a:off x="6583680" y="3383280"/>
            <a:ext cx="1828800" cy="1371600"/>
          </a:xfrm>
          <a:prstGeom prst="roundRect">
            <a:avLst>
              <a:gd name="adj" fmla="val 6667"/>
            </a:avLst>
          </a:prstGeom>
          <a:solidFill>
            <a:schemeClr val="tx2"/>
          </a:solidFill>
          <a:ln/>
        </p:spPr>
      </p:sp>
      <p:sp>
        <p:nvSpPr>
          <p:cNvPr id="17" name="Text 15"/>
          <p:cNvSpPr txBox="1"/>
          <p:nvPr/>
        </p:nvSpPr>
        <p:spPr>
          <a:xfrm>
            <a:off x="6720840" y="3493008"/>
            <a:ext cx="1600200" cy="256032"/>
          </a:xfrm>
          <a:prstGeom prst="rect">
            <a:avLst/>
          </a:prstGeom>
          <a:noFill/>
          <a:ln/>
        </p:spPr>
        <p:txBody>
          <a:bodyPr wrap="square" lIns="0" tIns="0" rIns="0" bIns="0" rtlCol="0" anchor="t"/>
          <a:lstStyle/>
          <a:p>
            <a:pPr marL="0" indent="0">
              <a:buNone/>
            </a:pPr>
            <a:r>
              <a:rPr lang="en-US" sz="1400" b="1" dirty="0">
                <a:solidFill>
                  <a:schemeClr val="bg1"/>
                </a:solidFill>
              </a:rPr>
              <a:t>Krunal Patel</a:t>
            </a:r>
            <a:endParaRPr lang="en-US" sz="1400" dirty="0"/>
          </a:p>
        </p:txBody>
      </p:sp>
      <p:sp>
        <p:nvSpPr>
          <p:cNvPr id="18" name="Text 16"/>
          <p:cNvSpPr txBox="1"/>
          <p:nvPr/>
        </p:nvSpPr>
        <p:spPr>
          <a:xfrm>
            <a:off x="6720840" y="3840480"/>
            <a:ext cx="1600200" cy="822960"/>
          </a:xfrm>
          <a:prstGeom prst="rect">
            <a:avLst/>
          </a:prstGeom>
          <a:noFill/>
          <a:ln/>
        </p:spPr>
        <p:txBody>
          <a:bodyPr wrap="square" lIns="0" tIns="0" rIns="0" bIns="0" rtlCol="0" anchor="t"/>
          <a:lstStyle/>
          <a:p>
            <a:pPr marL="0" indent="0">
              <a:buNone/>
            </a:pPr>
            <a:r>
              <a:rPr lang="en-US" sz="1200" dirty="0">
                <a:solidFill>
                  <a:schemeClr val="bg2"/>
                </a:solidFill>
              </a:rPr>
              <a:t>Testing, debugging and implementation of the probabilistic model</a:t>
            </a:r>
            <a:endParaRPr lang="en-US" sz="1200" dirty="0"/>
          </a:p>
        </p:txBody>
      </p:sp>
      <p:sp>
        <p:nvSpPr>
          <p:cNvPr id="19" name="Outbreak ring"/>
          <p:cNvSpPr/>
          <p:nvPr/>
        </p:nvSpPr>
        <p:spPr>
          <a:xfrm>
            <a:off x="5468112" y="1356970"/>
            <a:ext cx="914400" cy="914400"/>
          </a:xfrm>
          <a:prstGeom prst="ellipse">
            <a:avLst/>
          </a:prstGeom>
          <a:ln w="12700">
            <a:solidFill>
              <a:schemeClr val="accent1">
                <a:alpha val="45000"/>
              </a:schemeClr>
            </a:solidFill>
            <a:prstDash val="solid"/>
          </a:ln>
        </p:spPr>
      </p:sp>
      <p:sp>
        <p:nvSpPr>
          <p:cNvPr id="20" name="Outbreak ring"/>
          <p:cNvSpPr/>
          <p:nvPr/>
        </p:nvSpPr>
        <p:spPr>
          <a:xfrm>
            <a:off x="5623560" y="1512418"/>
            <a:ext cx="603504" cy="603504"/>
          </a:xfrm>
          <a:prstGeom prst="ellipse">
            <a:avLst/>
          </a:prstGeom>
          <a:ln w="12700">
            <a:solidFill>
              <a:schemeClr val="accent1">
                <a:alpha val="30000"/>
              </a:schemeClr>
            </a:solidFill>
            <a:prstDash val="solid"/>
          </a:ln>
        </p:spPr>
      </p:sp>
      <p:sp>
        <p:nvSpPr>
          <p:cNvPr id="21" name="Route"/>
          <p:cNvSpPr/>
          <p:nvPr/>
        </p:nvSpPr>
        <p:spPr>
          <a:xfrm flipV="1">
            <a:off x="5925312" y="892454"/>
            <a:ext cx="877824" cy="921715"/>
          </a:xfrm>
          <a:prstGeom prst="line">
            <a:avLst/>
          </a:prstGeom>
          <a:noFill/>
          <a:ln w="15875">
            <a:solidFill>
              <a:schemeClr val="accent2">
                <a:alpha val="75000"/>
              </a:schemeClr>
            </a:solidFill>
            <a:prstDash val="solid"/>
          </a:ln>
        </p:spPr>
      </p:sp>
      <p:sp>
        <p:nvSpPr>
          <p:cNvPr id="22" name="Route"/>
          <p:cNvSpPr/>
          <p:nvPr/>
        </p:nvSpPr>
        <p:spPr>
          <a:xfrm>
            <a:off x="5925312" y="1814170"/>
            <a:ext cx="1024128" cy="526694"/>
          </a:xfrm>
          <a:prstGeom prst="line">
            <a:avLst/>
          </a:prstGeom>
          <a:noFill/>
          <a:ln w="15875">
            <a:solidFill>
              <a:schemeClr val="accent2">
                <a:alpha val="75000"/>
              </a:schemeClr>
            </a:solidFill>
            <a:prstDash val="solid"/>
          </a:ln>
        </p:spPr>
      </p:sp>
      <p:sp>
        <p:nvSpPr>
          <p:cNvPr id="23" name="Route"/>
          <p:cNvSpPr/>
          <p:nvPr/>
        </p:nvSpPr>
        <p:spPr>
          <a:xfrm flipV="1">
            <a:off x="5925312" y="1366479"/>
            <a:ext cx="438912" cy="447690"/>
          </a:xfrm>
          <a:prstGeom prst="line">
            <a:avLst/>
          </a:prstGeom>
          <a:noFill/>
          <a:ln w="15875">
            <a:solidFill>
              <a:schemeClr val="accent2">
                <a:alpha val="75000"/>
              </a:schemeClr>
            </a:solidFill>
            <a:prstDash val="solid"/>
          </a:ln>
        </p:spPr>
      </p:sp>
      <p:sp>
        <p:nvSpPr>
          <p:cNvPr id="24" name="Route"/>
          <p:cNvSpPr/>
          <p:nvPr/>
        </p:nvSpPr>
        <p:spPr>
          <a:xfrm>
            <a:off x="6803136" y="892454"/>
            <a:ext cx="1024128" cy="658368"/>
          </a:xfrm>
          <a:prstGeom prst="line">
            <a:avLst/>
          </a:prstGeom>
          <a:noFill/>
          <a:ln w="15875">
            <a:solidFill>
              <a:schemeClr val="accent2">
                <a:alpha val="75000"/>
              </a:schemeClr>
            </a:solidFill>
            <a:prstDash val="solid"/>
          </a:ln>
        </p:spPr>
      </p:sp>
      <p:sp>
        <p:nvSpPr>
          <p:cNvPr id="25" name="Route"/>
          <p:cNvSpPr/>
          <p:nvPr/>
        </p:nvSpPr>
        <p:spPr>
          <a:xfrm flipV="1">
            <a:off x="6949440" y="1550822"/>
            <a:ext cx="877824" cy="790042"/>
          </a:xfrm>
          <a:prstGeom prst="line">
            <a:avLst/>
          </a:prstGeom>
          <a:noFill/>
          <a:ln w="15875">
            <a:solidFill>
              <a:schemeClr val="accent2">
                <a:alpha val="75000"/>
              </a:schemeClr>
            </a:solidFill>
            <a:prstDash val="solid"/>
          </a:ln>
        </p:spPr>
      </p:sp>
      <p:sp>
        <p:nvSpPr>
          <p:cNvPr id="26" name="Route"/>
          <p:cNvSpPr/>
          <p:nvPr/>
        </p:nvSpPr>
        <p:spPr>
          <a:xfrm flipV="1">
            <a:off x="6803136" y="576438"/>
            <a:ext cx="497434" cy="316017"/>
          </a:xfrm>
          <a:prstGeom prst="line">
            <a:avLst/>
          </a:prstGeom>
          <a:noFill/>
          <a:ln w="15875">
            <a:solidFill>
              <a:schemeClr val="accent2">
                <a:alpha val="75000"/>
              </a:schemeClr>
            </a:solidFill>
            <a:prstDash val="solid"/>
          </a:ln>
        </p:spPr>
      </p:sp>
      <p:sp>
        <p:nvSpPr>
          <p:cNvPr id="27" name="Route"/>
          <p:cNvSpPr/>
          <p:nvPr/>
        </p:nvSpPr>
        <p:spPr>
          <a:xfrm flipV="1">
            <a:off x="7827264" y="760781"/>
            <a:ext cx="351130" cy="790042"/>
          </a:xfrm>
          <a:prstGeom prst="line">
            <a:avLst/>
          </a:prstGeom>
          <a:noFill/>
          <a:ln w="15875">
            <a:solidFill>
              <a:schemeClr val="accent2">
                <a:alpha val="75000"/>
              </a:schemeClr>
            </a:solidFill>
            <a:prstDash val="solid"/>
          </a:ln>
        </p:spPr>
      </p:sp>
      <p:sp>
        <p:nvSpPr>
          <p:cNvPr id="28" name="Route"/>
          <p:cNvSpPr/>
          <p:nvPr/>
        </p:nvSpPr>
        <p:spPr>
          <a:xfrm>
            <a:off x="7827264" y="1550822"/>
            <a:ext cx="438912" cy="869046"/>
          </a:xfrm>
          <a:prstGeom prst="line">
            <a:avLst/>
          </a:prstGeom>
          <a:noFill/>
          <a:ln w="15875">
            <a:solidFill>
              <a:schemeClr val="accent2">
                <a:alpha val="75000"/>
              </a:schemeClr>
            </a:solidFill>
            <a:prstDash val="solid"/>
          </a:ln>
        </p:spPr>
      </p:sp>
      <p:sp>
        <p:nvSpPr>
          <p:cNvPr id="29" name="Route"/>
          <p:cNvSpPr/>
          <p:nvPr/>
        </p:nvSpPr>
        <p:spPr>
          <a:xfrm>
            <a:off x="6949440" y="2340864"/>
            <a:ext cx="643738" cy="474025"/>
          </a:xfrm>
          <a:prstGeom prst="line">
            <a:avLst/>
          </a:prstGeom>
          <a:noFill/>
          <a:ln w="15875">
            <a:solidFill>
              <a:schemeClr val="accent2">
                <a:alpha val="75000"/>
              </a:schemeClr>
            </a:solidFill>
            <a:prstDash val="solid"/>
          </a:ln>
        </p:spPr>
      </p:sp>
      <p:sp>
        <p:nvSpPr>
          <p:cNvPr id="30" name="Route"/>
          <p:cNvSpPr/>
          <p:nvPr/>
        </p:nvSpPr>
        <p:spPr>
          <a:xfrm flipV="1">
            <a:off x="6364224" y="2340864"/>
            <a:ext cx="585216" cy="526694"/>
          </a:xfrm>
          <a:prstGeom prst="line">
            <a:avLst/>
          </a:prstGeom>
          <a:noFill/>
          <a:ln w="15875">
            <a:solidFill>
              <a:schemeClr val="accent2">
                <a:alpha val="75000"/>
              </a:schemeClr>
            </a:solidFill>
            <a:prstDash val="solid"/>
          </a:ln>
        </p:spPr>
      </p:sp>
      <p:sp>
        <p:nvSpPr>
          <p:cNvPr id="31" name="Route"/>
          <p:cNvSpPr/>
          <p:nvPr/>
        </p:nvSpPr>
        <p:spPr>
          <a:xfrm flipV="1">
            <a:off x="6364224" y="892454"/>
            <a:ext cx="438912" cy="474025"/>
          </a:xfrm>
          <a:prstGeom prst="line">
            <a:avLst/>
          </a:prstGeom>
          <a:noFill/>
          <a:ln w="15875">
            <a:solidFill>
              <a:schemeClr val="accent2">
                <a:alpha val="75000"/>
              </a:schemeClr>
            </a:solidFill>
            <a:prstDash val="solid"/>
          </a:ln>
        </p:spPr>
      </p:sp>
      <p:sp>
        <p:nvSpPr>
          <p:cNvPr id="32" name="Route"/>
          <p:cNvSpPr/>
          <p:nvPr/>
        </p:nvSpPr>
        <p:spPr>
          <a:xfrm>
            <a:off x="7300570" y="576438"/>
            <a:ext cx="877824" cy="184343"/>
          </a:xfrm>
          <a:prstGeom prst="line">
            <a:avLst/>
          </a:prstGeom>
          <a:noFill/>
          <a:ln w="15875">
            <a:solidFill>
              <a:schemeClr val="accent2">
                <a:alpha val="75000"/>
              </a:schemeClr>
            </a:solidFill>
            <a:prstDash val="solid"/>
          </a:ln>
        </p:spPr>
      </p:sp>
      <p:sp>
        <p:nvSpPr>
          <p:cNvPr id="33" name="Outbreak origin"/>
          <p:cNvSpPr/>
          <p:nvPr/>
        </p:nvSpPr>
        <p:spPr>
          <a:xfrm>
            <a:off x="5691226" y="1580083"/>
            <a:ext cx="468173" cy="468173"/>
          </a:xfrm>
          <a:prstGeom prst="ellipse">
            <a:avLst/>
          </a:prstGeom>
          <a:solidFill>
            <a:schemeClr val="accent1"/>
          </a:solidFill>
          <a:ln/>
        </p:spPr>
      </p:sp>
      <p:sp>
        <p:nvSpPr>
          <p:cNvPr id="34" name="Airport node"/>
          <p:cNvSpPr/>
          <p:nvPr/>
        </p:nvSpPr>
        <p:spPr>
          <a:xfrm>
            <a:off x="6656832" y="746150"/>
            <a:ext cx="292608" cy="292608"/>
          </a:xfrm>
          <a:prstGeom prst="ellipse">
            <a:avLst/>
          </a:prstGeom>
          <a:solidFill>
            <a:schemeClr val="accent5"/>
          </a:solidFill>
          <a:ln/>
        </p:spPr>
      </p:sp>
      <p:sp>
        <p:nvSpPr>
          <p:cNvPr id="35" name="Airport node"/>
          <p:cNvSpPr/>
          <p:nvPr/>
        </p:nvSpPr>
        <p:spPr>
          <a:xfrm>
            <a:off x="6803136" y="2194560"/>
            <a:ext cx="292608" cy="292608"/>
          </a:xfrm>
          <a:prstGeom prst="ellipse">
            <a:avLst/>
          </a:prstGeom>
          <a:solidFill>
            <a:schemeClr val="accent5"/>
          </a:solidFill>
          <a:ln/>
        </p:spPr>
      </p:sp>
      <p:sp>
        <p:nvSpPr>
          <p:cNvPr id="36" name="Airport node"/>
          <p:cNvSpPr/>
          <p:nvPr/>
        </p:nvSpPr>
        <p:spPr>
          <a:xfrm>
            <a:off x="7651699" y="1375258"/>
            <a:ext cx="351130" cy="351130"/>
          </a:xfrm>
          <a:prstGeom prst="ellipse">
            <a:avLst/>
          </a:prstGeom>
          <a:solidFill>
            <a:schemeClr val="accent5"/>
          </a:solidFill>
          <a:ln/>
        </p:spPr>
      </p:sp>
      <p:sp>
        <p:nvSpPr>
          <p:cNvPr id="37" name="Airport node"/>
          <p:cNvSpPr/>
          <p:nvPr/>
        </p:nvSpPr>
        <p:spPr>
          <a:xfrm>
            <a:off x="7212787" y="488655"/>
            <a:ext cx="175565" cy="175565"/>
          </a:xfrm>
          <a:prstGeom prst="ellipse">
            <a:avLst/>
          </a:prstGeom>
          <a:solidFill>
            <a:schemeClr val="accent2"/>
          </a:solidFill>
          <a:ln/>
        </p:spPr>
      </p:sp>
      <p:sp>
        <p:nvSpPr>
          <p:cNvPr id="38" name="Airport node"/>
          <p:cNvSpPr/>
          <p:nvPr/>
        </p:nvSpPr>
        <p:spPr>
          <a:xfrm>
            <a:off x="8090611" y="672998"/>
            <a:ext cx="175565" cy="175565"/>
          </a:xfrm>
          <a:prstGeom prst="ellipse">
            <a:avLst/>
          </a:prstGeom>
          <a:solidFill>
            <a:schemeClr val="accent2"/>
          </a:solidFill>
          <a:ln/>
        </p:spPr>
      </p:sp>
      <p:sp>
        <p:nvSpPr>
          <p:cNvPr id="39" name="Airport node"/>
          <p:cNvSpPr/>
          <p:nvPr/>
        </p:nvSpPr>
        <p:spPr>
          <a:xfrm>
            <a:off x="8178394" y="2332086"/>
            <a:ext cx="175565" cy="175565"/>
          </a:xfrm>
          <a:prstGeom prst="ellipse">
            <a:avLst/>
          </a:prstGeom>
          <a:solidFill>
            <a:schemeClr val="accent2"/>
          </a:solidFill>
          <a:ln/>
        </p:spPr>
      </p:sp>
      <p:sp>
        <p:nvSpPr>
          <p:cNvPr id="40" name="Airport node"/>
          <p:cNvSpPr/>
          <p:nvPr/>
        </p:nvSpPr>
        <p:spPr>
          <a:xfrm>
            <a:off x="7505395" y="2727107"/>
            <a:ext cx="175565" cy="175565"/>
          </a:xfrm>
          <a:prstGeom prst="ellipse">
            <a:avLst/>
          </a:prstGeom>
          <a:solidFill>
            <a:schemeClr val="accent2"/>
          </a:solidFill>
          <a:ln/>
        </p:spPr>
      </p:sp>
      <p:sp>
        <p:nvSpPr>
          <p:cNvPr id="41" name="Airport node"/>
          <p:cNvSpPr/>
          <p:nvPr/>
        </p:nvSpPr>
        <p:spPr>
          <a:xfrm>
            <a:off x="6276442" y="2779776"/>
            <a:ext cx="175565" cy="175565"/>
          </a:xfrm>
          <a:prstGeom prst="ellipse">
            <a:avLst/>
          </a:prstGeom>
          <a:solidFill>
            <a:schemeClr val="accent2"/>
          </a:solidFill>
          <a:ln/>
        </p:spPr>
      </p:sp>
      <p:sp>
        <p:nvSpPr>
          <p:cNvPr id="42" name="Airport node"/>
          <p:cNvSpPr/>
          <p:nvPr/>
        </p:nvSpPr>
        <p:spPr>
          <a:xfrm>
            <a:off x="6291072" y="1293327"/>
            <a:ext cx="146304" cy="146304"/>
          </a:xfrm>
          <a:prstGeom prst="ellipse">
            <a:avLst/>
          </a:prstGeom>
          <a:solidFill>
            <a:schemeClr val="accent2"/>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47472"/>
            <a:ext cx="82296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01  ·  PROBLEM STATEMENT</a:t>
            </a:r>
            <a:endParaRPr lang="en-US" sz="1200" dirty="0"/>
          </a:p>
        </p:txBody>
      </p:sp>
      <p:sp>
        <p:nvSpPr>
          <p:cNvPr id="3" name="Text 1"/>
          <p:cNvSpPr>
            <a:spLocks noGrp="1"/>
          </p:cNvSpPr>
          <p:nvPr>
            <p:ph type="title" idx="102" hasCustomPrompt="1"/>
          </p:nvPr>
        </p:nvSpPr>
        <p:spPr>
          <a:xfrm>
            <a:off x="457200" y="621792"/>
            <a:ext cx="8229600" cy="640080"/>
          </a:xfrm>
          <a:prstGeom prst="rect">
            <a:avLst/>
          </a:prstGeom>
          <a:noFill/>
          <a:ln/>
        </p:spPr>
        <p:txBody>
          <a:bodyPr wrap="square" lIns="0" tIns="0" rIns="0" bIns="0" rtlCol="0" anchor="ctr"/>
          <a:lstStyle/>
          <a:p>
            <a:pPr marL="0" indent="0" algn="l">
              <a:buNone/>
            </a:pPr>
            <a:r>
              <a:rPr lang="en-US" sz="3200" b="1" dirty="0">
                <a:solidFill>
                  <a:schemeClr val="tx1"/>
                </a:solidFill>
              </a:rPr>
              <a:t>Reports and routes never meet</a:t>
            </a:r>
            <a:endParaRPr lang="en-US" sz="3200" dirty="0"/>
          </a:p>
        </p:txBody>
      </p:sp>
      <p:sp>
        <p:nvSpPr>
          <p:cNvPr id="4" name="Problem card 1"/>
          <p:cNvSpPr/>
          <p:nvPr/>
        </p:nvSpPr>
        <p:spPr>
          <a:xfrm>
            <a:off x="457200" y="1463040"/>
            <a:ext cx="2560320" cy="2606040"/>
          </a:xfrm>
          <a:prstGeom prst="roundRect">
            <a:avLst>
              <a:gd name="adj" fmla="val 3571"/>
            </a:avLst>
          </a:prstGeom>
          <a:solidFill>
            <a:schemeClr val="bg2"/>
          </a:solidFill>
          <a:ln/>
        </p:spPr>
      </p:sp>
      <p:sp>
        <p:nvSpPr>
          <p:cNvPr id="5" name="Icon Reports are prose, not data circle"/>
          <p:cNvSpPr/>
          <p:nvPr/>
        </p:nvSpPr>
        <p:spPr>
          <a:xfrm>
            <a:off x="685800" y="1691640"/>
            <a:ext cx="548640" cy="548640"/>
          </a:xfrm>
          <a:prstGeom prst="ellipse">
            <a:avLst/>
          </a:prstGeom>
          <a:solidFill>
            <a:schemeClr val="accent1"/>
          </a:solidFill>
          <a:ln/>
        </p:spPr>
      </p:sp>
      <p:pic>
        <p:nvPicPr>
          <p:cNvPr id="6" name="Icon Reports are prose, not data" descr="Icon Reports are prose, not data"/>
          <p:cNvPicPr>
            <a:picLocks noChangeAspect="1"/>
          </p:cNvPicPr>
          <p:nvPr/>
        </p:nvPicPr>
        <p:blipFill>
          <a:blip r:embed="rId3"/>
          <a:stretch>
            <a:fillRect/>
          </a:stretch>
        </p:blipFill>
        <p:spPr>
          <a:xfrm>
            <a:off x="828446" y="1834286"/>
            <a:ext cx="263347" cy="263347"/>
          </a:xfrm>
          <a:prstGeom prst="rect">
            <a:avLst/>
          </a:prstGeom>
        </p:spPr>
      </p:pic>
      <p:sp>
        <p:nvSpPr>
          <p:cNvPr id="7" name="Text 4"/>
          <p:cNvSpPr txBox="1"/>
          <p:nvPr/>
        </p:nvSpPr>
        <p:spPr>
          <a:xfrm>
            <a:off x="685800" y="2377440"/>
            <a:ext cx="2103120" cy="594360"/>
          </a:xfrm>
          <a:prstGeom prst="rect">
            <a:avLst/>
          </a:prstGeom>
          <a:noFill/>
          <a:ln/>
        </p:spPr>
        <p:txBody>
          <a:bodyPr wrap="square" lIns="0" tIns="0" rIns="0" bIns="0" rtlCol="0" anchor="t"/>
          <a:lstStyle/>
          <a:p>
            <a:pPr marL="0" indent="0">
              <a:buNone/>
            </a:pPr>
            <a:r>
              <a:rPr lang="en-US" sz="1600" b="1" dirty="0">
                <a:solidFill>
                  <a:schemeClr val="tx1"/>
                </a:solidFill>
              </a:rPr>
              <a:t>Reports are prose, not data</a:t>
            </a:r>
            <a:endParaRPr lang="en-US" sz="1600" dirty="0"/>
          </a:p>
        </p:txBody>
      </p:sp>
      <p:sp>
        <p:nvSpPr>
          <p:cNvPr id="8" name="Text 5"/>
          <p:cNvSpPr txBox="1"/>
          <p:nvPr/>
        </p:nvSpPr>
        <p:spPr>
          <a:xfrm>
            <a:off x="685800" y="3017520"/>
            <a:ext cx="2103120" cy="960120"/>
          </a:xfrm>
          <a:prstGeom prst="rect">
            <a:avLst/>
          </a:prstGeom>
          <a:noFill/>
          <a:ln/>
        </p:spPr>
        <p:txBody>
          <a:bodyPr wrap="square" lIns="0" tIns="0" rIns="0" bIns="0" rtlCol="0" anchor="t"/>
          <a:lstStyle/>
          <a:p>
            <a:pPr marL="0" indent="0">
              <a:buNone/>
            </a:pPr>
            <a:r>
              <a:rPr lang="en-US" sz="1400" dirty="0">
                <a:solidFill>
                  <a:schemeClr val="tx2"/>
                </a:solidFill>
              </a:rPr>
              <a:t>WHO publishes case counts inside narrative pages. The structured field is often empty.</a:t>
            </a:r>
            <a:endParaRPr lang="en-US" sz="1400" dirty="0"/>
          </a:p>
        </p:txBody>
      </p:sp>
      <p:sp>
        <p:nvSpPr>
          <p:cNvPr id="9" name="Problem card 2"/>
          <p:cNvSpPr/>
          <p:nvPr/>
        </p:nvSpPr>
        <p:spPr>
          <a:xfrm>
            <a:off x="3291840" y="1463040"/>
            <a:ext cx="2560320" cy="2606040"/>
          </a:xfrm>
          <a:prstGeom prst="roundRect">
            <a:avLst>
              <a:gd name="adj" fmla="val 3571"/>
            </a:avLst>
          </a:prstGeom>
          <a:solidFill>
            <a:schemeClr val="bg2"/>
          </a:solidFill>
          <a:ln/>
        </p:spPr>
      </p:sp>
      <p:sp>
        <p:nvSpPr>
          <p:cNvPr id="10" name="Icon Maps show where, not who is next circle"/>
          <p:cNvSpPr/>
          <p:nvPr/>
        </p:nvSpPr>
        <p:spPr>
          <a:xfrm>
            <a:off x="3520440" y="1691640"/>
            <a:ext cx="548640" cy="548640"/>
          </a:xfrm>
          <a:prstGeom prst="ellipse">
            <a:avLst/>
          </a:prstGeom>
          <a:solidFill>
            <a:schemeClr val="accent1"/>
          </a:solidFill>
          <a:ln/>
        </p:spPr>
      </p:sp>
      <p:pic>
        <p:nvPicPr>
          <p:cNvPr id="11" name="Icon Maps show where, not who is next" descr="Icon Maps show where, not who is next"/>
          <p:cNvPicPr>
            <a:picLocks noChangeAspect="1"/>
          </p:cNvPicPr>
          <p:nvPr/>
        </p:nvPicPr>
        <p:blipFill>
          <a:blip r:embed="rId4"/>
          <a:stretch>
            <a:fillRect/>
          </a:stretch>
        </p:blipFill>
        <p:spPr>
          <a:xfrm>
            <a:off x="3663086" y="1834286"/>
            <a:ext cx="263347" cy="263347"/>
          </a:xfrm>
          <a:prstGeom prst="rect">
            <a:avLst/>
          </a:prstGeom>
        </p:spPr>
      </p:pic>
      <p:sp>
        <p:nvSpPr>
          <p:cNvPr id="12" name="Text 8"/>
          <p:cNvSpPr txBox="1"/>
          <p:nvPr/>
        </p:nvSpPr>
        <p:spPr>
          <a:xfrm>
            <a:off x="3520440" y="2377440"/>
            <a:ext cx="2103120" cy="594360"/>
          </a:xfrm>
          <a:prstGeom prst="rect">
            <a:avLst/>
          </a:prstGeom>
          <a:noFill/>
          <a:ln/>
        </p:spPr>
        <p:txBody>
          <a:bodyPr wrap="square" lIns="0" tIns="0" rIns="0" bIns="0" rtlCol="0" anchor="t"/>
          <a:lstStyle/>
          <a:p>
            <a:pPr marL="0" indent="0">
              <a:buNone/>
            </a:pPr>
            <a:r>
              <a:rPr lang="en-US" sz="1600" b="1" dirty="0">
                <a:solidFill>
                  <a:schemeClr val="tx1"/>
                </a:solidFill>
              </a:rPr>
              <a:t>Maps show where, not who is next</a:t>
            </a:r>
            <a:endParaRPr lang="en-US" sz="1600" dirty="0"/>
          </a:p>
        </p:txBody>
      </p:sp>
      <p:sp>
        <p:nvSpPr>
          <p:cNvPr id="13" name="Text 9"/>
          <p:cNvSpPr txBox="1"/>
          <p:nvPr/>
        </p:nvSpPr>
        <p:spPr>
          <a:xfrm>
            <a:off x="3520440" y="3017520"/>
            <a:ext cx="2103120" cy="960120"/>
          </a:xfrm>
          <a:prstGeom prst="rect">
            <a:avLst/>
          </a:prstGeom>
          <a:noFill/>
          <a:ln/>
        </p:spPr>
        <p:txBody>
          <a:bodyPr wrap="square" lIns="0" tIns="0" rIns="0" bIns="0" rtlCol="0" anchor="t"/>
          <a:lstStyle/>
          <a:p>
            <a:pPr marL="0" indent="0">
              <a:buNone/>
            </a:pPr>
            <a:r>
              <a:rPr lang="en-US" sz="1400" dirty="0">
                <a:solidFill>
                  <a:schemeClr val="tx2"/>
                </a:solidFill>
              </a:rPr>
              <a:t>Network distance explained arrival timing (R² 0.97) far better than geography (0.34).</a:t>
            </a:r>
            <a:endParaRPr lang="en-US" sz="1400" dirty="0"/>
          </a:p>
        </p:txBody>
      </p:sp>
      <p:sp>
        <p:nvSpPr>
          <p:cNvPr id="14" name="Problem card 3"/>
          <p:cNvSpPr/>
          <p:nvPr/>
        </p:nvSpPr>
        <p:spPr>
          <a:xfrm>
            <a:off x="6126480" y="1463040"/>
            <a:ext cx="2560320" cy="2606040"/>
          </a:xfrm>
          <a:prstGeom prst="roundRect">
            <a:avLst>
              <a:gd name="adj" fmla="val 3571"/>
            </a:avLst>
          </a:prstGeom>
          <a:solidFill>
            <a:schemeClr val="bg2"/>
          </a:solidFill>
          <a:ln/>
        </p:spPr>
      </p:sp>
      <p:sp>
        <p:nvSpPr>
          <p:cNvPr id="15" name="Icon Risk arrives as one opaque score circle"/>
          <p:cNvSpPr/>
          <p:nvPr/>
        </p:nvSpPr>
        <p:spPr>
          <a:xfrm>
            <a:off x="6355080" y="1691640"/>
            <a:ext cx="548640" cy="548640"/>
          </a:xfrm>
          <a:prstGeom prst="ellipse">
            <a:avLst/>
          </a:prstGeom>
          <a:solidFill>
            <a:schemeClr val="accent1"/>
          </a:solidFill>
          <a:ln/>
        </p:spPr>
      </p:sp>
      <p:pic>
        <p:nvPicPr>
          <p:cNvPr id="16" name="Icon Risk arrives as one opaque score" descr="Icon Risk arrives as one opaque score"/>
          <p:cNvPicPr>
            <a:picLocks noChangeAspect="1"/>
          </p:cNvPicPr>
          <p:nvPr/>
        </p:nvPicPr>
        <p:blipFill>
          <a:blip r:embed="rId5"/>
          <a:stretch>
            <a:fillRect/>
          </a:stretch>
        </p:blipFill>
        <p:spPr>
          <a:xfrm>
            <a:off x="6497726" y="1834286"/>
            <a:ext cx="263347" cy="263347"/>
          </a:xfrm>
          <a:prstGeom prst="rect">
            <a:avLst/>
          </a:prstGeom>
        </p:spPr>
      </p:pic>
      <p:sp>
        <p:nvSpPr>
          <p:cNvPr id="17" name="Text 12"/>
          <p:cNvSpPr txBox="1"/>
          <p:nvPr/>
        </p:nvSpPr>
        <p:spPr>
          <a:xfrm>
            <a:off x="6355080" y="2377440"/>
            <a:ext cx="2103120" cy="594360"/>
          </a:xfrm>
          <a:prstGeom prst="rect">
            <a:avLst/>
          </a:prstGeom>
          <a:noFill/>
          <a:ln/>
        </p:spPr>
        <p:txBody>
          <a:bodyPr wrap="square" lIns="0" tIns="0" rIns="0" bIns="0" rtlCol="0" anchor="t"/>
          <a:lstStyle/>
          <a:p>
            <a:pPr marL="0" indent="0">
              <a:buNone/>
            </a:pPr>
            <a:r>
              <a:rPr lang="en-US" sz="1600" b="1" dirty="0">
                <a:solidFill>
                  <a:schemeClr val="tx1"/>
                </a:solidFill>
              </a:rPr>
              <a:t>Risk arrives as one opaque score</a:t>
            </a:r>
            <a:endParaRPr lang="en-US" sz="1600" dirty="0"/>
          </a:p>
        </p:txBody>
      </p:sp>
      <p:sp>
        <p:nvSpPr>
          <p:cNvPr id="18" name="Text 13"/>
          <p:cNvSpPr txBox="1"/>
          <p:nvPr/>
        </p:nvSpPr>
        <p:spPr>
          <a:xfrm>
            <a:off x="6355080" y="3017520"/>
            <a:ext cx="2103120" cy="960120"/>
          </a:xfrm>
          <a:prstGeom prst="rect">
            <a:avLst/>
          </a:prstGeom>
          <a:noFill/>
          <a:ln/>
        </p:spPr>
        <p:txBody>
          <a:bodyPr wrap="square" lIns="0" tIns="0" rIns="0" bIns="0" rtlCol="0" anchor="t"/>
          <a:lstStyle/>
          <a:p>
            <a:pPr marL="0" indent="0">
              <a:buNone/>
            </a:pPr>
            <a:r>
              <a:rPr lang="en-US" sz="1400" dirty="0">
                <a:solidFill>
                  <a:schemeClr val="tx2"/>
                </a:solidFill>
              </a:rPr>
              <a:t>“Is it here?” and “will it spread?” are different questions, merged into one number.</a:t>
            </a:r>
            <a:endParaRPr lang="en-US" sz="1400" dirty="0"/>
          </a:p>
        </p:txBody>
      </p:sp>
      <p:sp>
        <p:nvSpPr>
          <p:cNvPr id="19" name="Text 14"/>
          <p:cNvSpPr txBox="1"/>
          <p:nvPr/>
        </p:nvSpPr>
        <p:spPr>
          <a:xfrm>
            <a:off x="457200" y="4224528"/>
            <a:ext cx="5486400" cy="365760"/>
          </a:xfrm>
          <a:prstGeom prst="rect">
            <a:avLst/>
          </a:prstGeom>
          <a:noFill/>
          <a:ln/>
        </p:spPr>
        <p:txBody>
          <a:bodyPr wrap="square" lIns="0" tIns="0" rIns="0" bIns="0" rtlCol="0" anchor="ctr"/>
          <a:lstStyle/>
          <a:p>
            <a:pPr marL="0" indent="0">
              <a:buNone/>
            </a:pPr>
            <a:r>
              <a:rPr lang="en-US" sz="1400" b="1" i="1" dirty="0">
                <a:solidFill>
                  <a:schemeClr val="tx1"/>
                </a:solidFill>
              </a:rPr>
              <a:t>Officials end up acting on late, unsourced, blended signals.</a:t>
            </a:r>
            <a:endParaRPr lang="en-US" sz="1400" dirty="0"/>
          </a:p>
        </p:txBody>
      </p:sp>
      <p:sp>
        <p:nvSpPr>
          <p:cNvPr id="20" name="Text 15"/>
          <p:cNvSpPr txBox="1"/>
          <p:nvPr/>
        </p:nvSpPr>
        <p:spPr>
          <a:xfrm>
            <a:off x="6035040" y="4224528"/>
            <a:ext cx="2651760" cy="365760"/>
          </a:xfrm>
          <a:prstGeom prst="rect">
            <a:avLst/>
          </a:prstGeom>
          <a:noFill/>
          <a:ln/>
        </p:spPr>
        <p:txBody>
          <a:bodyPr wrap="square" lIns="0" tIns="0" rIns="0" bIns="0" rtlCol="0" anchor="ctr"/>
          <a:lstStyle/>
          <a:p>
            <a:pPr marL="0" indent="0" algn="r">
              <a:buNone/>
            </a:pPr>
            <a:r>
              <a:rPr lang="en-US" sz="1000" dirty="0">
                <a:solidFill>
                  <a:schemeClr val="accent4"/>
                </a:solidFill>
              </a:rPr>
              <a:t>R²: Brockmann &amp; Helbing, Science 2013 (simulation).</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47472"/>
            <a:ext cx="82296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02  ·  PROPOSED SOLUTION &amp; RESEARCH</a:t>
            </a:r>
            <a:endParaRPr lang="en-US" sz="1200" dirty="0"/>
          </a:p>
        </p:txBody>
      </p:sp>
      <p:sp>
        <p:nvSpPr>
          <p:cNvPr id="3" name="Text 1"/>
          <p:cNvSpPr>
            <a:spLocks noGrp="1"/>
          </p:cNvSpPr>
          <p:nvPr>
            <p:ph type="title" idx="102" hasCustomPrompt="1"/>
          </p:nvPr>
        </p:nvSpPr>
        <p:spPr>
          <a:xfrm>
            <a:off x="457200" y="621792"/>
            <a:ext cx="8229600" cy="640080"/>
          </a:xfrm>
          <a:prstGeom prst="rect">
            <a:avLst/>
          </a:prstGeom>
          <a:noFill/>
          <a:ln/>
        </p:spPr>
        <p:txBody>
          <a:bodyPr wrap="square" lIns="0" tIns="0" rIns="0" bIns="0" rtlCol="0" anchor="ctr"/>
          <a:lstStyle/>
          <a:p>
            <a:pPr marL="0" indent="0" algn="l">
              <a:buNone/>
            </a:pPr>
            <a:r>
              <a:rPr lang="en-US" sz="3200" b="1" dirty="0">
                <a:solidFill>
                  <a:schemeClr val="tx1"/>
                </a:solidFill>
              </a:rPr>
              <a:t>Four questions, four methods</a:t>
            </a:r>
            <a:endParaRPr lang="en-US" sz="3200" dirty="0"/>
          </a:p>
        </p:txBody>
      </p:sp>
      <p:graphicFrame>
        <p:nvGraphicFramePr>
          <p:cNvPr id="4" name="Solution and research table"/>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2121408"/>
        </p:xfrm>
        <a:graphic>
          <a:graphicData uri="http://schemas.openxmlformats.org/drawingml/2006/table">
            <a:tbl>
              <a:tblPr/>
              <a:tblGrid>
                <a:gridCol w="173736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7452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tblGrid>
              <a:tr h="292608">
                <a:tc>
                  <a:txBody>
                    <a:bodyPr/>
                    <a:lstStyle/>
                    <a:p>
                      <a:pPr marL="0" indent="0">
                        <a:buNone/>
                      </a:pPr>
                      <a:r>
                        <a:rPr lang="en-US" sz="1200" b="1" dirty="0">
                          <a:solidFill>
                            <a:schemeClr val="bg1"/>
                          </a:solidFill>
                        </a:rPr>
                        <a:t>Question</a:t>
                      </a:r>
                      <a:endParaRPr lang="en-US" sz="1200" dirty="0"/>
                    </a:p>
                  </a:txBody>
                  <a:tcPr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Type</a:t>
                      </a:r>
                      <a:endParaRPr lang="en-US" sz="1200" dirty="0"/>
                    </a:p>
                  </a:txBody>
                  <a:tcPr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What it answers</a:t>
                      </a:r>
                      <a:endParaRPr lang="en-US" sz="1200" dirty="0"/>
                    </a:p>
                  </a:txBody>
                  <a:tcPr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Method</a:t>
                      </a:r>
                      <a:endParaRPr lang="en-US" sz="1200" dirty="0"/>
                    </a:p>
                  </a:txBody>
                  <a:tcPr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Research basis</a:t>
                      </a:r>
                      <a:endParaRPr lang="en-US" sz="1200" dirty="0"/>
                    </a:p>
                  </a:txBody>
                  <a:tcPr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57200">
                <a:tc>
                  <a:txBody>
                    <a:bodyPr/>
                    <a:lstStyle/>
                    <a:p>
                      <a:pPr marL="0" indent="0">
                        <a:buNone/>
                      </a:pPr>
                      <a:r>
                        <a:rPr lang="en-US" sz="1400" b="1" dirty="0">
                          <a:solidFill>
                            <a:schemeClr val="tx1"/>
                          </a:solidFill>
                        </a:rPr>
                        <a:t>Is it already here?</a:t>
                      </a:r>
                      <a:endParaRPr lang="en-US" sz="1400" dirty="0"/>
                    </a:p>
                  </a:txBody>
                  <a:tcPr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b="1" dirty="0">
                          <a:solidFill>
                            <a:schemeClr val="accent2"/>
                          </a:solidFill>
                        </a:rPr>
                        <a:t>OBSERVED</a:t>
                      </a:r>
                      <a:endParaRPr lang="en-US" sz="1200" dirty="0"/>
                    </a:p>
                  </a:txBody>
                  <a:tcPr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Counts and deaths from official reports</a:t>
                      </a:r>
                      <a:endParaRPr lang="en-US" sz="1200" dirty="0"/>
                    </a:p>
                  </a:txBody>
                  <a:tcPr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Case counts grounded in the report text</a:t>
                      </a:r>
                      <a:endParaRPr lang="en-US" sz="1200" dirty="0"/>
                    </a:p>
                  </a:txBody>
                  <a:tcPr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WHO Disease Outbreak News</a:t>
                      </a:r>
                      <a:endParaRPr lang="en-US" sz="1200" dirty="0"/>
                    </a:p>
                  </a:txBody>
                  <a:tcPr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57200">
                <a:tc>
                  <a:txBody>
                    <a:bodyPr/>
                    <a:lstStyle/>
                    <a:p>
                      <a:pPr marL="0" indent="0">
                        <a:buNone/>
                      </a:pPr>
                      <a:r>
                        <a:rPr lang="en-US" sz="1400" b="1" dirty="0">
                          <a:solidFill>
                            <a:schemeClr val="tx1"/>
                          </a:solidFill>
                        </a:rPr>
                        <a:t>Will a traveller bring it?</a:t>
                      </a:r>
                      <a:endParaRPr lang="en-US" sz="1400" dirty="0"/>
                    </a:p>
                  </a:txBody>
                  <a:tcPr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b="1" dirty="0">
                          <a:solidFill>
                            <a:schemeClr val="accent1"/>
                          </a:solidFill>
                        </a:rPr>
                        <a:t>MODELLED</a:t>
                      </a:r>
                      <a:endParaRPr lang="en-US" sz="1200" dirty="0"/>
                    </a:p>
                  </a:txBody>
                  <a:tcPr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Chance an infectious passenger lands</a:t>
                      </a:r>
                      <a:endParaRPr lang="en-US" sz="1200" dirty="0"/>
                    </a:p>
                  </a:txBody>
                  <a:tcPr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Poisson arrivals over passenger flows</a:t>
                      </a:r>
                      <a:endParaRPr lang="en-US" sz="1200" dirty="0"/>
                    </a:p>
                  </a:txBody>
                  <a:tcPr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Eurostat, US DoT; gravity model</a:t>
                      </a:r>
                      <a:endParaRPr lang="en-US" sz="1200" dirty="0"/>
                    </a:p>
                  </a:txBody>
                  <a:tcPr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57200">
                <a:tc>
                  <a:txBody>
                    <a:bodyPr/>
                    <a:lstStyle/>
                    <a:p>
                      <a:pPr marL="0" indent="0">
                        <a:buNone/>
                      </a:pPr>
                      <a:r>
                        <a:rPr lang="en-US" sz="1400" b="1" dirty="0">
                          <a:solidFill>
                            <a:schemeClr val="tx1"/>
                          </a:solidFill>
                        </a:rPr>
                        <a:t>Will local spread take off?</a:t>
                      </a:r>
                      <a:endParaRPr lang="en-US" sz="1400" dirty="0"/>
                    </a:p>
                  </a:txBody>
                  <a:tcPr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b="1" dirty="0">
                          <a:solidFill>
                            <a:schemeClr val="accent1"/>
                          </a:solidFill>
                        </a:rPr>
                        <a:t>MODELLED</a:t>
                      </a:r>
                      <a:endParaRPr lang="en-US" sz="1200" dirty="0"/>
                    </a:p>
                  </a:txBody>
                  <a:tcPr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Chance an arrival starts local spread</a:t>
                      </a:r>
                      <a:endParaRPr lang="en-US" sz="1200" dirty="0"/>
                    </a:p>
                  </a:txBody>
                  <a:tcPr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Branching process with R and k</a:t>
                      </a:r>
                      <a:endParaRPr lang="en-US" sz="1200" dirty="0"/>
                    </a:p>
                  </a:txBody>
                  <a:tcPr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Lloyd-Smith et al., Nature 2005</a:t>
                      </a:r>
                      <a:endParaRPr lang="en-US" sz="1200" dirty="0"/>
                    </a:p>
                  </a:txBody>
                  <a:tcPr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57200">
                <a:tc>
                  <a:txBody>
                    <a:bodyPr/>
                    <a:lstStyle/>
                    <a:p>
                      <a:pPr marL="0" indent="0">
                        <a:buNone/>
                      </a:pPr>
                      <a:r>
                        <a:rPr lang="en-US" sz="1400" b="1" dirty="0">
                          <a:solidFill>
                            <a:schemeClr val="tx1"/>
                          </a:solidFill>
                        </a:rPr>
                        <a:t>Who reports next?</a:t>
                      </a:r>
                      <a:endParaRPr lang="en-US" sz="1400" dirty="0"/>
                    </a:p>
                  </a:txBody>
                  <a:tcPr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b="1" dirty="0">
                          <a:solidFill>
                            <a:schemeClr val="accent1"/>
                          </a:solidFill>
                        </a:rPr>
                        <a:t>FITTED</a:t>
                      </a:r>
                      <a:endParaRPr lang="en-US" sz="1200" dirty="0"/>
                    </a:p>
                  </a:txBody>
                  <a:tcPr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28-day chance a country reports first</a:t>
                      </a:r>
                      <a:endParaRPr lang="en-US" sz="1200" dirty="0"/>
                    </a:p>
                  </a:txBody>
                  <a:tcPr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Survival model, held-out outbreaks</a:t>
                      </a:r>
                      <a:endParaRPr lang="en-US" sz="1200" dirty="0"/>
                    </a:p>
                  </a:txBody>
                  <a:tcPr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COVID-19 2020, mpox 2022</a:t>
                      </a:r>
                      <a:endParaRPr lang="en-US" sz="1200" dirty="0"/>
                    </a:p>
                  </a:txBody>
                  <a:tcPr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457200" y="3566160"/>
            <a:ext cx="8229600" cy="201168"/>
          </a:xfrm>
          <a:prstGeom prst="rect">
            <a:avLst/>
          </a:prstGeom>
          <a:noFill/>
          <a:ln/>
        </p:spPr>
        <p:txBody>
          <a:bodyPr wrap="square" lIns="0" tIns="0" rIns="0" bIns="0" rtlCol="0" anchor="t"/>
          <a:lstStyle/>
          <a:p>
            <a:pPr marL="0" indent="0">
              <a:buNone/>
            </a:pPr>
            <a:r>
              <a:rPr lang="en-US" sz="1100" i="1" dirty="0">
                <a:solidFill>
                  <a:schemeClr val="accent4"/>
                </a:solidFill>
              </a:rPr>
              <a:t>Effective-distance ranking follows Brockmann &amp; Helbing, Science 2013.</a:t>
            </a:r>
            <a:endParaRPr lang="en-US" sz="1100" dirty="0"/>
          </a:p>
        </p:txBody>
      </p:sp>
      <p:sp>
        <p:nvSpPr>
          <p:cNvPr id="6" name="Principle banner"/>
          <p:cNvSpPr/>
          <p:nvPr/>
        </p:nvSpPr>
        <p:spPr>
          <a:xfrm>
            <a:off x="457200" y="3840480"/>
            <a:ext cx="8229600" cy="329184"/>
          </a:xfrm>
          <a:prstGeom prst="roundRect">
            <a:avLst>
              <a:gd name="adj" fmla="val 22222"/>
            </a:avLst>
          </a:prstGeom>
          <a:solidFill>
            <a:schemeClr val="accent2"/>
          </a:solidFill>
          <a:ln/>
        </p:spPr>
      </p:sp>
      <p:sp>
        <p:nvSpPr>
          <p:cNvPr id="7" name="Text 4"/>
          <p:cNvSpPr txBox="1"/>
          <p:nvPr/>
        </p:nvSpPr>
        <p:spPr>
          <a:xfrm>
            <a:off x="640080" y="3840480"/>
            <a:ext cx="7863840" cy="329184"/>
          </a:xfrm>
          <a:prstGeom prst="rect">
            <a:avLst/>
          </a:prstGeom>
          <a:noFill/>
          <a:ln/>
        </p:spPr>
        <p:txBody>
          <a:bodyPr wrap="square" lIns="0" tIns="0" rIns="0" bIns="0" rtlCol="0" anchor="ctr"/>
          <a:lstStyle/>
          <a:p>
            <a:pPr marL="0" indent="0">
              <a:buNone/>
            </a:pPr>
            <a:r>
              <a:rPr lang="en-US" sz="1400" dirty="0">
                <a:solidFill>
                  <a:schemeClr val="bg1"/>
                </a:solidFill>
              </a:rPr>
              <a:t>A missing input shows “not estimable”, never zero. Every value is labelled by type.</a:t>
            </a:r>
            <a:endParaRPr lang="en-US" sz="1400" dirty="0"/>
          </a:p>
        </p:txBody>
      </p:sp>
      <p:sp>
        <p:nvSpPr>
          <p:cNvPr id="8" name="Validation strip"/>
          <p:cNvSpPr/>
          <p:nvPr/>
        </p:nvSpPr>
        <p:spPr>
          <a:xfrm>
            <a:off x="457200" y="4251960"/>
            <a:ext cx="8229600" cy="475488"/>
          </a:xfrm>
          <a:prstGeom prst="roundRect">
            <a:avLst>
              <a:gd name="adj" fmla="val 19231"/>
            </a:avLst>
          </a:prstGeom>
          <a:solidFill>
            <a:schemeClr val="tx1"/>
          </a:solidFill>
          <a:ln/>
        </p:spPr>
      </p:sp>
      <p:sp>
        <p:nvSpPr>
          <p:cNvPr id="9" name="Text 6"/>
          <p:cNvSpPr txBox="1"/>
          <p:nvPr/>
        </p:nvSpPr>
        <p:spPr>
          <a:xfrm>
            <a:off x="640080" y="4279392"/>
            <a:ext cx="2560320" cy="246888"/>
          </a:xfrm>
          <a:prstGeom prst="rect">
            <a:avLst/>
          </a:prstGeom>
          <a:noFill/>
          <a:ln/>
        </p:spPr>
        <p:txBody>
          <a:bodyPr wrap="square" lIns="0" tIns="0" rIns="0" bIns="0" rtlCol="0" anchor="ctr"/>
          <a:lstStyle/>
          <a:p>
            <a:pPr marL="0" indent="0">
              <a:buNone/>
            </a:pPr>
            <a:r>
              <a:rPr lang="en-US" sz="1600" b="1" dirty="0">
                <a:solidFill>
                  <a:schemeClr val="accent3"/>
                </a:solidFill>
                <a:latin typeface="+mj-lt" pitchFamily="34" charset="0"/>
                <a:ea typeface="+mj-lt" pitchFamily="34" charset="-122"/>
                <a:cs typeface="+mj-lt" pitchFamily="34" charset="-120"/>
              </a:rPr>
              <a:t>0.78 / 0.77</a:t>
            </a:r>
            <a:endParaRPr lang="en-US" sz="1600" dirty="0"/>
          </a:p>
        </p:txBody>
      </p:sp>
      <p:sp>
        <p:nvSpPr>
          <p:cNvPr id="10" name="Text 7"/>
          <p:cNvSpPr txBox="1"/>
          <p:nvPr/>
        </p:nvSpPr>
        <p:spPr>
          <a:xfrm>
            <a:off x="640080" y="4526280"/>
            <a:ext cx="2560320" cy="164592"/>
          </a:xfrm>
          <a:prstGeom prst="rect">
            <a:avLst/>
          </a:prstGeom>
          <a:noFill/>
          <a:ln/>
        </p:spPr>
        <p:txBody>
          <a:bodyPr wrap="square" lIns="0" tIns="0" rIns="0" bIns="0" rtlCol="0" anchor="t"/>
          <a:lstStyle/>
          <a:p>
            <a:pPr marL="0" indent="0">
              <a:buNone/>
            </a:pPr>
            <a:r>
              <a:rPr lang="en-US" sz="1000" dirty="0">
                <a:solidFill>
                  <a:schemeClr val="bg2"/>
                </a:solidFill>
              </a:rPr>
              <a:t>held-out AUC, COVID-19 / mpox</a:t>
            </a:r>
            <a:endParaRPr lang="en-US" sz="1000" dirty="0"/>
          </a:p>
        </p:txBody>
      </p:sp>
      <p:sp>
        <p:nvSpPr>
          <p:cNvPr id="11" name="Text 8"/>
          <p:cNvSpPr txBox="1"/>
          <p:nvPr/>
        </p:nvSpPr>
        <p:spPr>
          <a:xfrm>
            <a:off x="3337560" y="4279392"/>
            <a:ext cx="2560320" cy="246888"/>
          </a:xfrm>
          <a:prstGeom prst="rect">
            <a:avLst/>
          </a:prstGeom>
          <a:noFill/>
          <a:ln/>
        </p:spPr>
        <p:txBody>
          <a:bodyPr wrap="square" lIns="0" tIns="0" rIns="0" bIns="0" rtlCol="0" anchor="ctr"/>
          <a:lstStyle/>
          <a:p>
            <a:pPr marL="0" indent="0">
              <a:buNone/>
            </a:pPr>
            <a:r>
              <a:rPr lang="en-US" sz="1600" b="1" dirty="0">
                <a:solidFill>
                  <a:schemeClr val="accent3"/>
                </a:solidFill>
                <a:latin typeface="+mj-lt" pitchFamily="34" charset="0"/>
                <a:ea typeface="+mj-lt" pitchFamily="34" charset="-122"/>
                <a:cs typeface="+mj-lt" pitchFamily="34" charset="-120"/>
              </a:rPr>
              <a:t>4 parameters</a:t>
            </a:r>
            <a:endParaRPr lang="en-US" sz="1600" dirty="0"/>
          </a:p>
        </p:txBody>
      </p:sp>
      <p:sp>
        <p:nvSpPr>
          <p:cNvPr id="12" name="Text 9"/>
          <p:cNvSpPr txBox="1"/>
          <p:nvPr/>
        </p:nvSpPr>
        <p:spPr>
          <a:xfrm>
            <a:off x="3337560" y="4526280"/>
            <a:ext cx="2560320" cy="164592"/>
          </a:xfrm>
          <a:prstGeom prst="rect">
            <a:avLst/>
          </a:prstGeom>
          <a:noFill/>
          <a:ln/>
        </p:spPr>
        <p:txBody>
          <a:bodyPr wrap="square" lIns="0" tIns="0" rIns="0" bIns="0" rtlCol="0" anchor="t"/>
          <a:lstStyle/>
          <a:p>
            <a:pPr marL="0" indent="0">
              <a:buNone/>
            </a:pPr>
            <a:r>
              <a:rPr lang="en-US" sz="1000" dirty="0">
                <a:solidFill>
                  <a:schemeClr val="bg2"/>
                </a:solidFill>
              </a:rPr>
              <a:t>survival model, leave-one-outbreak-out</a:t>
            </a:r>
            <a:endParaRPr lang="en-US" sz="1000" dirty="0"/>
          </a:p>
        </p:txBody>
      </p:sp>
      <p:sp>
        <p:nvSpPr>
          <p:cNvPr id="13" name="Text 10"/>
          <p:cNvSpPr txBox="1"/>
          <p:nvPr/>
        </p:nvSpPr>
        <p:spPr>
          <a:xfrm>
            <a:off x="6035040" y="4279392"/>
            <a:ext cx="2560320" cy="246888"/>
          </a:xfrm>
          <a:prstGeom prst="rect">
            <a:avLst/>
          </a:prstGeom>
          <a:noFill/>
          <a:ln/>
        </p:spPr>
        <p:txBody>
          <a:bodyPr wrap="square" lIns="0" tIns="0" rIns="0" bIns="0" rtlCol="0" anchor="ctr"/>
          <a:lstStyle/>
          <a:p>
            <a:pPr marL="0" indent="0">
              <a:buNone/>
            </a:pPr>
            <a:r>
              <a:rPr lang="en-US" sz="1600" b="1" dirty="0">
                <a:solidFill>
                  <a:schemeClr val="accent3"/>
                </a:solidFill>
                <a:latin typeface="+mj-lt" pitchFamily="34" charset="0"/>
                <a:ea typeface="+mj-lt" pitchFamily="34" charset="-122"/>
                <a:cs typeface="+mj-lt" pitchFamily="34" charset="-120"/>
              </a:rPr>
              <a:t>Ranking validated</a:t>
            </a:r>
            <a:endParaRPr lang="en-US" sz="1600" dirty="0"/>
          </a:p>
        </p:txBody>
      </p:sp>
      <p:sp>
        <p:nvSpPr>
          <p:cNvPr id="14" name="Text 11"/>
          <p:cNvSpPr txBox="1"/>
          <p:nvPr/>
        </p:nvSpPr>
        <p:spPr>
          <a:xfrm>
            <a:off x="6035040" y="4526280"/>
            <a:ext cx="2560320" cy="164592"/>
          </a:xfrm>
          <a:prstGeom prst="rect">
            <a:avLst/>
          </a:prstGeom>
          <a:noFill/>
          <a:ln/>
        </p:spPr>
        <p:txBody>
          <a:bodyPr wrap="square" lIns="0" tIns="0" rIns="0" bIns="0" rtlCol="0" anchor="t"/>
          <a:lstStyle/>
          <a:p>
            <a:pPr marL="0" indent="0">
              <a:buNone/>
            </a:pPr>
            <a:r>
              <a:rPr lang="en-US" sz="1000" dirty="0">
                <a:solidFill>
                  <a:schemeClr val="bg2"/>
                </a:solidFill>
              </a:rPr>
              <a:t>order passed; absolute level did not</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a:t>
            </a:fld>
            <a:endParaRPr lang="en-US"/>
          </a:p>
        </p:txBody>
      </p:sp>
      <p:pic>
        <p:nvPicPr>
          <p:cNvPr id="16" name="Picture 15">
            <a:extLst>
              <a:ext uri="{FF2B5EF4-FFF2-40B4-BE49-F238E27FC236}">
                <a16:creationId xmlns:a16="http://schemas.microsoft.com/office/drawing/2014/main" id="{0CE4EB58-5FAD-3873-73B1-65C11AB94AD3}"/>
              </a:ext>
            </a:extLst>
          </p:cNvPr>
          <p:cNvPicPr>
            <a:picLocks noChangeAspect="1"/>
          </p:cNvPicPr>
          <p:nvPr/>
        </p:nvPicPr>
        <p:blipFill>
          <a:blip r:embed="rId3"/>
          <a:srcRect l="22666" t="2" r="21409" b="-6"/>
          <a:stretch>
            <a:fillRect/>
          </a:stretch>
        </p:blipFill>
        <p:spPr>
          <a:xfrm>
            <a:off x="6652260" y="373504"/>
            <a:ext cx="845820" cy="84417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47472"/>
            <a:ext cx="82296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03  ·  TARGET USERS</a:t>
            </a:r>
            <a:endParaRPr lang="en-US" sz="1200" dirty="0"/>
          </a:p>
        </p:txBody>
      </p:sp>
      <p:sp>
        <p:nvSpPr>
          <p:cNvPr id="3" name="Text 1"/>
          <p:cNvSpPr>
            <a:spLocks noGrp="1"/>
          </p:cNvSpPr>
          <p:nvPr>
            <p:ph type="title" idx="102" hasCustomPrompt="1"/>
          </p:nvPr>
        </p:nvSpPr>
        <p:spPr>
          <a:xfrm>
            <a:off x="457200" y="621792"/>
            <a:ext cx="8229600" cy="640080"/>
          </a:xfrm>
          <a:prstGeom prst="rect">
            <a:avLst/>
          </a:prstGeom>
          <a:noFill/>
          <a:ln/>
        </p:spPr>
        <p:txBody>
          <a:bodyPr wrap="square" lIns="0" tIns="0" rIns="0" bIns="0" rtlCol="0" anchor="ctr"/>
          <a:lstStyle/>
          <a:p>
            <a:pPr marL="0" indent="0" algn="l">
              <a:buNone/>
            </a:pPr>
            <a:r>
              <a:rPr lang="en-US" sz="3200" b="1" dirty="0">
                <a:solidFill>
                  <a:schemeClr val="tx1"/>
                </a:solidFill>
              </a:rPr>
              <a:t>Built for people who must act</a:t>
            </a:r>
            <a:endParaRPr lang="en-US" sz="3200" dirty="0"/>
          </a:p>
        </p:txBody>
      </p:sp>
      <p:sp>
        <p:nvSpPr>
          <p:cNvPr id="4" name="User card 1"/>
          <p:cNvSpPr/>
          <p:nvPr/>
        </p:nvSpPr>
        <p:spPr>
          <a:xfrm>
            <a:off x="457200" y="1463040"/>
            <a:ext cx="3977640" cy="1417320"/>
          </a:xfrm>
          <a:prstGeom prst="roundRect">
            <a:avLst>
              <a:gd name="adj" fmla="val 6452"/>
            </a:avLst>
          </a:prstGeom>
          <a:solidFill>
            <a:schemeClr val="bg2"/>
          </a:solidFill>
          <a:ln/>
        </p:spPr>
      </p:sp>
      <p:sp>
        <p:nvSpPr>
          <p:cNvPr id="5" name="Icon Airport &amp; port health officers circle"/>
          <p:cNvSpPr/>
          <p:nvPr/>
        </p:nvSpPr>
        <p:spPr>
          <a:xfrm>
            <a:off x="685800" y="1691640"/>
            <a:ext cx="548640" cy="548640"/>
          </a:xfrm>
          <a:prstGeom prst="ellipse">
            <a:avLst/>
          </a:prstGeom>
          <a:solidFill>
            <a:schemeClr val="tx2"/>
          </a:solidFill>
          <a:ln/>
        </p:spPr>
      </p:sp>
      <p:pic>
        <p:nvPicPr>
          <p:cNvPr id="6" name="Icon Airport &amp; port health officers" descr="Icon Airport &amp; port health officers"/>
          <p:cNvPicPr>
            <a:picLocks noChangeAspect="1"/>
          </p:cNvPicPr>
          <p:nvPr/>
        </p:nvPicPr>
        <p:blipFill>
          <a:blip r:embed="rId3"/>
          <a:stretch>
            <a:fillRect/>
          </a:stretch>
        </p:blipFill>
        <p:spPr>
          <a:xfrm>
            <a:off x="828446" y="1834286"/>
            <a:ext cx="263347" cy="263347"/>
          </a:xfrm>
          <a:prstGeom prst="rect">
            <a:avLst/>
          </a:prstGeom>
        </p:spPr>
      </p:pic>
      <p:sp>
        <p:nvSpPr>
          <p:cNvPr id="7" name="Text 4"/>
          <p:cNvSpPr txBox="1"/>
          <p:nvPr/>
        </p:nvSpPr>
        <p:spPr>
          <a:xfrm>
            <a:off x="1417320" y="1618488"/>
            <a:ext cx="2880360" cy="274320"/>
          </a:xfrm>
          <a:prstGeom prst="rect">
            <a:avLst/>
          </a:prstGeom>
          <a:noFill/>
          <a:ln/>
        </p:spPr>
        <p:txBody>
          <a:bodyPr wrap="square" lIns="0" tIns="0" rIns="0" bIns="0" rtlCol="0" anchor="t"/>
          <a:lstStyle/>
          <a:p>
            <a:pPr marL="0" indent="0">
              <a:buNone/>
            </a:pPr>
            <a:r>
              <a:rPr lang="en-US" sz="1600" b="1" dirty="0">
                <a:solidFill>
                  <a:schemeClr val="tx1"/>
                </a:solidFill>
              </a:rPr>
              <a:t>Airport &amp; port health officers</a:t>
            </a:r>
            <a:endParaRPr lang="en-US" sz="1600" dirty="0"/>
          </a:p>
        </p:txBody>
      </p:sp>
      <p:sp>
        <p:nvSpPr>
          <p:cNvPr id="8" name="Text 5"/>
          <p:cNvSpPr txBox="1"/>
          <p:nvPr/>
        </p:nvSpPr>
        <p:spPr>
          <a:xfrm>
            <a:off x="1417320" y="1920240"/>
            <a:ext cx="2880360" cy="530352"/>
          </a:xfrm>
          <a:prstGeom prst="rect">
            <a:avLst/>
          </a:prstGeom>
          <a:noFill/>
          <a:ln/>
        </p:spPr>
        <p:txBody>
          <a:bodyPr wrap="square" lIns="0" tIns="0" rIns="0" bIns="0" rtlCol="0" anchor="t"/>
          <a:lstStyle/>
          <a:p>
            <a:pPr marL="0" indent="0">
              <a:buNone/>
            </a:pPr>
            <a:r>
              <a:rPr lang="en-US" sz="1400" i="1" dirty="0">
                <a:solidFill>
                  <a:schemeClr val="tx2"/>
                </a:solidFill>
              </a:rPr>
              <a:t>Which incoming routes need screening this fortnight?</a:t>
            </a:r>
            <a:endParaRPr lang="en-US" sz="1400" dirty="0"/>
          </a:p>
        </p:txBody>
      </p:sp>
      <p:sp>
        <p:nvSpPr>
          <p:cNvPr id="9" name="Text 6"/>
          <p:cNvSpPr txBox="1"/>
          <p:nvPr/>
        </p:nvSpPr>
        <p:spPr>
          <a:xfrm>
            <a:off x="1417320" y="2514600"/>
            <a:ext cx="2880360" cy="228600"/>
          </a:xfrm>
          <a:prstGeom prst="rect">
            <a:avLst/>
          </a:prstGeom>
          <a:noFill/>
          <a:ln/>
        </p:spPr>
        <p:txBody>
          <a:bodyPr wrap="square" lIns="0" tIns="0" rIns="0" bIns="0" rtlCol="0" anchor="t"/>
          <a:lstStyle/>
          <a:p>
            <a:pPr marL="0" indent="0">
              <a:buNone/>
            </a:pPr>
            <a:r>
              <a:rPr lang="en-US" sz="1200" b="1" dirty="0">
                <a:solidFill>
                  <a:schemeClr val="accent1"/>
                </a:solidFill>
              </a:rPr>
              <a:t>→ Importation risk by origin route</a:t>
            </a:r>
            <a:endParaRPr lang="en-US" sz="1200" dirty="0"/>
          </a:p>
        </p:txBody>
      </p:sp>
      <p:sp>
        <p:nvSpPr>
          <p:cNvPr id="10" name="User card 2"/>
          <p:cNvSpPr/>
          <p:nvPr/>
        </p:nvSpPr>
        <p:spPr>
          <a:xfrm>
            <a:off x="4709160" y="1463040"/>
            <a:ext cx="3977640" cy="1417320"/>
          </a:xfrm>
          <a:prstGeom prst="roundRect">
            <a:avLst>
              <a:gd name="adj" fmla="val 6452"/>
            </a:avLst>
          </a:prstGeom>
          <a:solidFill>
            <a:schemeClr val="bg2"/>
          </a:solidFill>
          <a:ln/>
        </p:spPr>
      </p:sp>
      <p:sp>
        <p:nvSpPr>
          <p:cNvPr id="11" name="Icon Travel clinics &amp; desks circle"/>
          <p:cNvSpPr/>
          <p:nvPr/>
        </p:nvSpPr>
        <p:spPr>
          <a:xfrm>
            <a:off x="4937760" y="1691640"/>
            <a:ext cx="548640" cy="548640"/>
          </a:xfrm>
          <a:prstGeom prst="ellipse">
            <a:avLst/>
          </a:prstGeom>
          <a:solidFill>
            <a:schemeClr val="tx2"/>
          </a:solidFill>
          <a:ln/>
        </p:spPr>
      </p:sp>
      <p:pic>
        <p:nvPicPr>
          <p:cNvPr id="12" name="Icon Travel clinics &amp; desks" descr="Icon Travel clinics &amp; desks"/>
          <p:cNvPicPr>
            <a:picLocks noChangeAspect="1"/>
          </p:cNvPicPr>
          <p:nvPr/>
        </p:nvPicPr>
        <p:blipFill>
          <a:blip r:embed="rId4"/>
          <a:stretch>
            <a:fillRect/>
          </a:stretch>
        </p:blipFill>
        <p:spPr>
          <a:xfrm>
            <a:off x="5080406" y="1834286"/>
            <a:ext cx="263347" cy="263347"/>
          </a:xfrm>
          <a:prstGeom prst="rect">
            <a:avLst/>
          </a:prstGeom>
        </p:spPr>
      </p:pic>
      <p:sp>
        <p:nvSpPr>
          <p:cNvPr id="13" name="Text 9"/>
          <p:cNvSpPr txBox="1"/>
          <p:nvPr/>
        </p:nvSpPr>
        <p:spPr>
          <a:xfrm>
            <a:off x="5669280" y="1618488"/>
            <a:ext cx="2880360" cy="274320"/>
          </a:xfrm>
          <a:prstGeom prst="rect">
            <a:avLst/>
          </a:prstGeom>
          <a:noFill/>
          <a:ln/>
        </p:spPr>
        <p:txBody>
          <a:bodyPr wrap="square" lIns="0" tIns="0" rIns="0" bIns="0" rtlCol="0" anchor="t"/>
          <a:lstStyle/>
          <a:p>
            <a:pPr marL="0" indent="0">
              <a:buNone/>
            </a:pPr>
            <a:r>
              <a:rPr lang="en-US" sz="1600" b="1" dirty="0">
                <a:solidFill>
                  <a:schemeClr val="tx1"/>
                </a:solidFill>
              </a:rPr>
              <a:t>Travel clinics &amp; desks</a:t>
            </a:r>
            <a:endParaRPr lang="en-US" sz="1600" dirty="0"/>
          </a:p>
        </p:txBody>
      </p:sp>
      <p:sp>
        <p:nvSpPr>
          <p:cNvPr id="14" name="Text 10"/>
          <p:cNvSpPr txBox="1"/>
          <p:nvPr/>
        </p:nvSpPr>
        <p:spPr>
          <a:xfrm>
            <a:off x="5669280" y="1920240"/>
            <a:ext cx="2880360" cy="530352"/>
          </a:xfrm>
          <a:prstGeom prst="rect">
            <a:avLst/>
          </a:prstGeom>
          <a:noFill/>
          <a:ln/>
        </p:spPr>
        <p:txBody>
          <a:bodyPr wrap="square" lIns="0" tIns="0" rIns="0" bIns="0" rtlCol="0" anchor="t"/>
          <a:lstStyle/>
          <a:p>
            <a:pPr marL="0" indent="0">
              <a:buNone/>
            </a:pPr>
            <a:r>
              <a:rPr lang="en-US" sz="1400" i="1" dirty="0">
                <a:solidFill>
                  <a:schemeClr val="tx2"/>
                </a:solidFill>
              </a:rPr>
              <a:t>What is the sourced situation at my destination?</a:t>
            </a:r>
            <a:endParaRPr lang="en-US" sz="1400" dirty="0"/>
          </a:p>
        </p:txBody>
      </p:sp>
      <p:sp>
        <p:nvSpPr>
          <p:cNvPr id="15" name="Text 11"/>
          <p:cNvSpPr txBox="1"/>
          <p:nvPr/>
        </p:nvSpPr>
        <p:spPr>
          <a:xfrm>
            <a:off x="5669280" y="2514600"/>
            <a:ext cx="2880360" cy="228600"/>
          </a:xfrm>
          <a:prstGeom prst="rect">
            <a:avLst/>
          </a:prstGeom>
          <a:noFill/>
          <a:ln/>
        </p:spPr>
        <p:txBody>
          <a:bodyPr wrap="square" lIns="0" tIns="0" rIns="0" bIns="0" rtlCol="0" anchor="t"/>
          <a:lstStyle/>
          <a:p>
            <a:pPr marL="0" indent="0">
              <a:buNone/>
            </a:pPr>
            <a:r>
              <a:rPr lang="en-US" sz="1200" b="1" dirty="0">
                <a:solidFill>
                  <a:schemeClr val="accent1"/>
                </a:solidFill>
              </a:rPr>
              <a:t>→ 0–10 travel-risk index + sources</a:t>
            </a:r>
            <a:endParaRPr lang="en-US" sz="1200" dirty="0"/>
          </a:p>
        </p:txBody>
      </p:sp>
      <p:sp>
        <p:nvSpPr>
          <p:cNvPr id="16" name="User card 3"/>
          <p:cNvSpPr/>
          <p:nvPr/>
        </p:nvSpPr>
        <p:spPr>
          <a:xfrm>
            <a:off x="457200" y="3108960"/>
            <a:ext cx="3977640" cy="1417320"/>
          </a:xfrm>
          <a:prstGeom prst="roundRect">
            <a:avLst>
              <a:gd name="adj" fmla="val 6452"/>
            </a:avLst>
          </a:prstGeom>
          <a:solidFill>
            <a:schemeClr val="bg2"/>
          </a:solidFill>
          <a:ln/>
        </p:spPr>
      </p:sp>
      <p:sp>
        <p:nvSpPr>
          <p:cNvPr id="17" name="Icon Journalists &amp; researchers circle"/>
          <p:cNvSpPr/>
          <p:nvPr/>
        </p:nvSpPr>
        <p:spPr>
          <a:xfrm>
            <a:off x="685800" y="3337560"/>
            <a:ext cx="548640" cy="548640"/>
          </a:xfrm>
          <a:prstGeom prst="ellipse">
            <a:avLst/>
          </a:prstGeom>
          <a:solidFill>
            <a:schemeClr val="tx2"/>
          </a:solidFill>
          <a:ln/>
        </p:spPr>
      </p:sp>
      <p:pic>
        <p:nvPicPr>
          <p:cNvPr id="18" name="Icon Journalists &amp; researchers" descr="Icon Journalists &amp; researchers"/>
          <p:cNvPicPr>
            <a:picLocks noChangeAspect="1"/>
          </p:cNvPicPr>
          <p:nvPr/>
        </p:nvPicPr>
        <p:blipFill>
          <a:blip r:embed="rId5"/>
          <a:stretch>
            <a:fillRect/>
          </a:stretch>
        </p:blipFill>
        <p:spPr>
          <a:xfrm>
            <a:off x="828446" y="3480206"/>
            <a:ext cx="263347" cy="263347"/>
          </a:xfrm>
          <a:prstGeom prst="rect">
            <a:avLst/>
          </a:prstGeom>
        </p:spPr>
      </p:pic>
      <p:sp>
        <p:nvSpPr>
          <p:cNvPr id="19" name="Text 14"/>
          <p:cNvSpPr txBox="1"/>
          <p:nvPr/>
        </p:nvSpPr>
        <p:spPr>
          <a:xfrm>
            <a:off x="1417320" y="3264408"/>
            <a:ext cx="2880360" cy="274320"/>
          </a:xfrm>
          <a:prstGeom prst="rect">
            <a:avLst/>
          </a:prstGeom>
          <a:noFill/>
          <a:ln/>
        </p:spPr>
        <p:txBody>
          <a:bodyPr wrap="square" lIns="0" tIns="0" rIns="0" bIns="0" rtlCol="0" anchor="t"/>
          <a:lstStyle/>
          <a:p>
            <a:pPr marL="0" indent="0">
              <a:buNone/>
            </a:pPr>
            <a:r>
              <a:rPr lang="en-US" sz="1600" b="1" dirty="0">
                <a:solidFill>
                  <a:schemeClr val="tx1"/>
                </a:solidFill>
              </a:rPr>
              <a:t>Journalists &amp; researchers</a:t>
            </a:r>
            <a:endParaRPr lang="en-US" sz="1600" dirty="0"/>
          </a:p>
        </p:txBody>
      </p:sp>
      <p:sp>
        <p:nvSpPr>
          <p:cNvPr id="20" name="Text 15"/>
          <p:cNvSpPr txBox="1"/>
          <p:nvPr/>
        </p:nvSpPr>
        <p:spPr>
          <a:xfrm>
            <a:off x="1417320" y="3566160"/>
            <a:ext cx="2880360" cy="530352"/>
          </a:xfrm>
          <a:prstGeom prst="rect">
            <a:avLst/>
          </a:prstGeom>
          <a:noFill/>
          <a:ln/>
        </p:spPr>
        <p:txBody>
          <a:bodyPr wrap="square" lIns="0" tIns="0" rIns="0" bIns="0" rtlCol="0" anchor="t"/>
          <a:lstStyle/>
          <a:p>
            <a:pPr marL="0" indent="0">
              <a:buNone/>
            </a:pPr>
            <a:r>
              <a:rPr lang="en-US" sz="1400" i="1" dirty="0">
                <a:solidFill>
                  <a:schemeClr val="tx2"/>
                </a:solidFill>
              </a:rPr>
              <a:t>Where does this number come from, and what did it assume?</a:t>
            </a:r>
            <a:endParaRPr lang="en-US" sz="1400" dirty="0"/>
          </a:p>
        </p:txBody>
      </p:sp>
      <p:sp>
        <p:nvSpPr>
          <p:cNvPr id="21" name="Text 16"/>
          <p:cNvSpPr txBox="1"/>
          <p:nvPr/>
        </p:nvSpPr>
        <p:spPr>
          <a:xfrm>
            <a:off x="1417320" y="4160520"/>
            <a:ext cx="2880360" cy="228600"/>
          </a:xfrm>
          <a:prstGeom prst="rect">
            <a:avLst/>
          </a:prstGeom>
          <a:noFill/>
          <a:ln/>
        </p:spPr>
        <p:txBody>
          <a:bodyPr wrap="square" lIns="0" tIns="0" rIns="0" bIns="0" rtlCol="0" anchor="t"/>
          <a:lstStyle/>
          <a:p>
            <a:pPr marL="0" indent="0">
              <a:buNone/>
            </a:pPr>
            <a:r>
              <a:rPr lang="en-US" sz="1200" b="1" dirty="0">
                <a:solidFill>
                  <a:schemeClr val="accent1"/>
                </a:solidFill>
              </a:rPr>
              <a:t>→ Source and assumptions per value</a:t>
            </a:r>
            <a:endParaRPr lang="en-US" sz="1200" dirty="0"/>
          </a:p>
        </p:txBody>
      </p:sp>
      <p:sp>
        <p:nvSpPr>
          <p:cNvPr id="22" name="User card 4"/>
          <p:cNvSpPr/>
          <p:nvPr/>
        </p:nvSpPr>
        <p:spPr>
          <a:xfrm>
            <a:off x="4709160" y="3108960"/>
            <a:ext cx="3977640" cy="1417320"/>
          </a:xfrm>
          <a:prstGeom prst="roundRect">
            <a:avLst>
              <a:gd name="adj" fmla="val 6452"/>
            </a:avLst>
          </a:prstGeom>
          <a:solidFill>
            <a:schemeClr val="bg2"/>
          </a:solidFill>
          <a:ln/>
        </p:spPr>
      </p:sp>
      <p:sp>
        <p:nvSpPr>
          <p:cNvPr id="23" name="Icon Public &amp; students circle"/>
          <p:cNvSpPr/>
          <p:nvPr/>
        </p:nvSpPr>
        <p:spPr>
          <a:xfrm>
            <a:off x="4937760" y="3337560"/>
            <a:ext cx="548640" cy="548640"/>
          </a:xfrm>
          <a:prstGeom prst="ellipse">
            <a:avLst/>
          </a:prstGeom>
          <a:solidFill>
            <a:schemeClr val="tx2"/>
          </a:solidFill>
          <a:ln/>
        </p:spPr>
      </p:sp>
      <p:pic>
        <p:nvPicPr>
          <p:cNvPr id="24" name="Icon Public &amp; students" descr="Icon Public &amp; students"/>
          <p:cNvPicPr>
            <a:picLocks noChangeAspect="1"/>
          </p:cNvPicPr>
          <p:nvPr/>
        </p:nvPicPr>
        <p:blipFill>
          <a:blip r:embed="rId6"/>
          <a:stretch>
            <a:fillRect/>
          </a:stretch>
        </p:blipFill>
        <p:spPr>
          <a:xfrm>
            <a:off x="5080406" y="3480206"/>
            <a:ext cx="263347" cy="263347"/>
          </a:xfrm>
          <a:prstGeom prst="rect">
            <a:avLst/>
          </a:prstGeom>
        </p:spPr>
      </p:pic>
      <p:sp>
        <p:nvSpPr>
          <p:cNvPr id="25" name="Text 19"/>
          <p:cNvSpPr txBox="1"/>
          <p:nvPr/>
        </p:nvSpPr>
        <p:spPr>
          <a:xfrm>
            <a:off x="5669280" y="3264408"/>
            <a:ext cx="2880360" cy="274320"/>
          </a:xfrm>
          <a:prstGeom prst="rect">
            <a:avLst/>
          </a:prstGeom>
          <a:noFill/>
          <a:ln/>
        </p:spPr>
        <p:txBody>
          <a:bodyPr wrap="square" lIns="0" tIns="0" rIns="0" bIns="0" rtlCol="0" anchor="t"/>
          <a:lstStyle/>
          <a:p>
            <a:pPr marL="0" indent="0">
              <a:buNone/>
            </a:pPr>
            <a:r>
              <a:rPr lang="en-US" sz="1600" b="1" dirty="0">
                <a:solidFill>
                  <a:schemeClr val="tx1"/>
                </a:solidFill>
              </a:rPr>
              <a:t>Public &amp; students</a:t>
            </a:r>
            <a:endParaRPr lang="en-US" sz="1600" dirty="0"/>
          </a:p>
        </p:txBody>
      </p:sp>
      <p:sp>
        <p:nvSpPr>
          <p:cNvPr id="26" name="Text 20"/>
          <p:cNvSpPr txBox="1"/>
          <p:nvPr/>
        </p:nvSpPr>
        <p:spPr>
          <a:xfrm>
            <a:off x="5669280" y="3566160"/>
            <a:ext cx="2880360" cy="530352"/>
          </a:xfrm>
          <a:prstGeom prst="rect">
            <a:avLst/>
          </a:prstGeom>
          <a:noFill/>
          <a:ln/>
        </p:spPr>
        <p:txBody>
          <a:bodyPr wrap="square" lIns="0" tIns="0" rIns="0" bIns="0" rtlCol="0" anchor="t"/>
          <a:lstStyle/>
          <a:p>
            <a:pPr marL="0" indent="0">
              <a:buNone/>
            </a:pPr>
            <a:r>
              <a:rPr lang="en-US" sz="1400" i="1" dirty="0">
                <a:solidFill>
                  <a:schemeClr val="tx2"/>
                </a:solidFill>
              </a:rPr>
              <a:t>What is the situation here right now?</a:t>
            </a:r>
            <a:endParaRPr lang="en-US" sz="1400" dirty="0"/>
          </a:p>
        </p:txBody>
      </p:sp>
      <p:sp>
        <p:nvSpPr>
          <p:cNvPr id="27" name="Text 21"/>
          <p:cNvSpPr txBox="1"/>
          <p:nvPr/>
        </p:nvSpPr>
        <p:spPr>
          <a:xfrm>
            <a:off x="5669280" y="4160520"/>
            <a:ext cx="2880360" cy="228600"/>
          </a:xfrm>
          <a:prstGeom prst="rect">
            <a:avLst/>
          </a:prstGeom>
          <a:noFill/>
          <a:ln/>
        </p:spPr>
        <p:txBody>
          <a:bodyPr wrap="square" lIns="0" tIns="0" rIns="0" bIns="0" rtlCol="0" anchor="t"/>
          <a:lstStyle/>
          <a:p>
            <a:pPr marL="0" indent="0">
              <a:buNone/>
            </a:pPr>
            <a:r>
              <a:rPr lang="en-US" sz="1200" b="1" dirty="0">
                <a:solidFill>
                  <a:schemeClr val="accent1"/>
                </a:solidFill>
              </a:rPr>
              <a:t>→ Plain-language country panel</a:t>
            </a:r>
            <a:endParaRPr lang="en-US" sz="1200" dirty="0"/>
          </a:p>
        </p:txBody>
      </p:sp>
      <p:sp>
        <p:nvSpPr>
          <p:cNvPr id="28"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47472"/>
            <a:ext cx="82296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04  ·  TECHNICAL ARCHITECTURE &amp; STACK</a:t>
            </a:r>
            <a:endParaRPr lang="en-US" sz="1200" dirty="0"/>
          </a:p>
        </p:txBody>
      </p:sp>
      <p:sp>
        <p:nvSpPr>
          <p:cNvPr id="3" name="Text 1"/>
          <p:cNvSpPr>
            <a:spLocks noGrp="1"/>
          </p:cNvSpPr>
          <p:nvPr>
            <p:ph type="title" idx="102" hasCustomPrompt="1"/>
          </p:nvPr>
        </p:nvSpPr>
        <p:spPr>
          <a:xfrm>
            <a:off x="457200" y="621792"/>
            <a:ext cx="8229600" cy="640080"/>
          </a:xfrm>
          <a:prstGeom prst="rect">
            <a:avLst/>
          </a:prstGeom>
          <a:noFill/>
          <a:ln/>
        </p:spPr>
        <p:txBody>
          <a:bodyPr wrap="square" lIns="0" tIns="0" rIns="0" bIns="0" rtlCol="0" anchor="ctr"/>
          <a:lstStyle/>
          <a:p>
            <a:pPr marL="0" indent="0" algn="l">
              <a:buNone/>
            </a:pPr>
            <a:r>
              <a:rPr lang="en-US" sz="3200" b="1" dirty="0">
                <a:solidFill>
                  <a:schemeClr val="tx1"/>
                </a:solidFill>
              </a:rPr>
              <a:t>Sources in, grounded numbers out</a:t>
            </a:r>
            <a:endParaRPr lang="en-US" sz="3200" dirty="0"/>
          </a:p>
        </p:txBody>
      </p:sp>
      <p:sp>
        <p:nvSpPr>
          <p:cNvPr id="4" name="Stage box Sources"/>
          <p:cNvSpPr/>
          <p:nvPr/>
        </p:nvSpPr>
        <p:spPr>
          <a:xfrm>
            <a:off x="457200" y="1417320"/>
            <a:ext cx="1426464" cy="1965960"/>
          </a:xfrm>
          <a:prstGeom prst="roundRect">
            <a:avLst>
              <a:gd name="adj" fmla="val 6410"/>
            </a:avLst>
          </a:prstGeom>
          <a:solidFill>
            <a:schemeClr val="bg2"/>
          </a:solidFill>
          <a:ln/>
        </p:spPr>
      </p:sp>
      <p:sp>
        <p:nvSpPr>
          <p:cNvPr id="5" name="Stage header Sources"/>
          <p:cNvSpPr txBox="1"/>
          <p:nvPr/>
        </p:nvSpPr>
        <p:spPr>
          <a:xfrm>
            <a:off x="457200" y="1417320"/>
            <a:ext cx="1426464" cy="411480"/>
          </a:xfrm>
          <a:prstGeom prst="roundRect">
            <a:avLst>
              <a:gd name="adj" fmla="val 22222"/>
            </a:avLst>
          </a:prstGeom>
          <a:solidFill>
            <a:schemeClr val="accent4"/>
          </a:solidFill>
          <a:ln/>
        </p:spPr>
        <p:txBody>
          <a:bodyPr wrap="square" lIns="0" tIns="0" rIns="0" bIns="0" rtlCol="0" anchor="ctr"/>
          <a:lstStyle/>
          <a:p>
            <a:pPr marL="0" indent="0" algn="ctr">
              <a:buNone/>
            </a:pPr>
            <a:r>
              <a:rPr lang="en-US" sz="1400" b="1" dirty="0">
                <a:solidFill>
                  <a:schemeClr val="bg1"/>
                </a:solidFill>
              </a:rPr>
              <a:t>Sources</a:t>
            </a:r>
            <a:endParaRPr lang="en-US" sz="1400" dirty="0"/>
          </a:p>
        </p:txBody>
      </p:sp>
      <p:sp>
        <p:nvSpPr>
          <p:cNvPr id="6" name="Stage items Sources"/>
          <p:cNvSpPr txBox="1"/>
          <p:nvPr/>
        </p:nvSpPr>
        <p:spPr>
          <a:xfrm>
            <a:off x="566928" y="1965960"/>
            <a:ext cx="1243584" cy="1371600"/>
          </a:xfrm>
          <a:prstGeom prst="rect">
            <a:avLst/>
          </a:prstGeom>
          <a:noFill/>
          <a:ln/>
        </p:spPr>
        <p:txBody>
          <a:bodyPr wrap="square" lIns="0" tIns="0" rIns="0" bIns="0" rtlCol="0" anchor="t"/>
          <a:lstStyle/>
          <a:p>
            <a:pPr marL="0" indent="0">
              <a:spcAft>
                <a:spcPts val="600"/>
              </a:spcAft>
              <a:buNone/>
            </a:pPr>
            <a:r>
              <a:rPr lang="en-US" sz="1200" dirty="0">
                <a:solidFill>
                  <a:schemeClr val="tx1"/>
                </a:solidFill>
              </a:rPr>
              <a:t>WHO reports</a:t>
            </a:r>
            <a:endParaRPr lang="en-US" sz="1200" dirty="0"/>
          </a:p>
          <a:p>
            <a:pPr marL="0" indent="0">
              <a:spcAft>
                <a:spcPts val="600"/>
              </a:spcAft>
              <a:buNone/>
            </a:pPr>
            <a:r>
              <a:rPr lang="en-US" sz="1200" dirty="0">
                <a:solidFill>
                  <a:schemeClr val="tx1"/>
                </a:solidFill>
              </a:rPr>
              <a:t>Agency pages</a:t>
            </a:r>
            <a:endParaRPr lang="en-US" sz="1200" dirty="0"/>
          </a:p>
          <a:p>
            <a:pPr marL="0" indent="0">
              <a:spcAft>
                <a:spcPts val="600"/>
              </a:spcAft>
              <a:buNone/>
            </a:pPr>
            <a:r>
              <a:rPr lang="en-US" sz="1200" dirty="0">
                <a:solidFill>
                  <a:schemeClr val="tx1"/>
                </a:solidFill>
              </a:rPr>
              <a:t>Eurostat, US DoT</a:t>
            </a:r>
            <a:endParaRPr lang="en-US" sz="1200" dirty="0"/>
          </a:p>
          <a:p>
            <a:pPr marL="0" indent="0">
              <a:spcAft>
                <a:spcPts val="600"/>
              </a:spcAft>
              <a:buNone/>
            </a:pPr>
            <a:r>
              <a:rPr lang="en-US" sz="1200" dirty="0">
                <a:solidFill>
                  <a:schemeClr val="tx1"/>
                </a:solidFill>
              </a:rPr>
              <a:t>UN population</a:t>
            </a:r>
            <a:endParaRPr lang="en-US" sz="1200" dirty="0"/>
          </a:p>
        </p:txBody>
      </p:sp>
      <p:sp>
        <p:nvSpPr>
          <p:cNvPr id="7" name="Flow arrow"/>
          <p:cNvSpPr/>
          <p:nvPr/>
        </p:nvSpPr>
        <p:spPr>
          <a:xfrm>
            <a:off x="1920240" y="2240280"/>
            <a:ext cx="201168" cy="237744"/>
          </a:xfrm>
          <a:prstGeom prst="rightArrow">
            <a:avLst/>
          </a:prstGeom>
          <a:solidFill>
            <a:schemeClr val="accent1"/>
          </a:solidFill>
          <a:ln/>
        </p:spPr>
      </p:sp>
      <p:sp>
        <p:nvSpPr>
          <p:cNvPr id="8" name="Stage box Ingest"/>
          <p:cNvSpPr/>
          <p:nvPr/>
        </p:nvSpPr>
        <p:spPr>
          <a:xfrm>
            <a:off x="2157984" y="1417320"/>
            <a:ext cx="1426464" cy="1965960"/>
          </a:xfrm>
          <a:prstGeom prst="roundRect">
            <a:avLst>
              <a:gd name="adj" fmla="val 6410"/>
            </a:avLst>
          </a:prstGeom>
          <a:solidFill>
            <a:schemeClr val="bg2"/>
          </a:solidFill>
          <a:ln/>
        </p:spPr>
      </p:sp>
      <p:sp>
        <p:nvSpPr>
          <p:cNvPr id="9" name="Stage header Ingest"/>
          <p:cNvSpPr txBox="1"/>
          <p:nvPr/>
        </p:nvSpPr>
        <p:spPr>
          <a:xfrm>
            <a:off x="2157984" y="1417320"/>
            <a:ext cx="1426464" cy="411480"/>
          </a:xfrm>
          <a:prstGeom prst="roundRect">
            <a:avLst>
              <a:gd name="adj" fmla="val 22222"/>
            </a:avLst>
          </a:prstGeom>
          <a:solidFill>
            <a:schemeClr val="accent2"/>
          </a:solidFill>
          <a:ln/>
        </p:spPr>
        <p:txBody>
          <a:bodyPr wrap="square" lIns="0" tIns="0" rIns="0" bIns="0" rtlCol="0" anchor="ctr"/>
          <a:lstStyle/>
          <a:p>
            <a:pPr marL="0" indent="0" algn="ctr">
              <a:buNone/>
            </a:pPr>
            <a:r>
              <a:rPr lang="en-US" sz="1400" b="1" dirty="0">
                <a:solidFill>
                  <a:schemeClr val="bg1"/>
                </a:solidFill>
              </a:rPr>
              <a:t>Ingest</a:t>
            </a:r>
            <a:endParaRPr lang="en-US" sz="1400" dirty="0"/>
          </a:p>
        </p:txBody>
      </p:sp>
      <p:sp>
        <p:nvSpPr>
          <p:cNvPr id="10" name="Stage items Ingest"/>
          <p:cNvSpPr txBox="1"/>
          <p:nvPr/>
        </p:nvSpPr>
        <p:spPr>
          <a:xfrm>
            <a:off x="2267712" y="1965960"/>
            <a:ext cx="1243584" cy="1371600"/>
          </a:xfrm>
          <a:prstGeom prst="rect">
            <a:avLst/>
          </a:prstGeom>
          <a:noFill/>
          <a:ln/>
        </p:spPr>
        <p:txBody>
          <a:bodyPr wrap="square" lIns="0" tIns="0" rIns="0" bIns="0" rtlCol="0" anchor="t"/>
          <a:lstStyle/>
          <a:p>
            <a:pPr marL="0" indent="0">
              <a:spcAft>
                <a:spcPts val="600"/>
              </a:spcAft>
              <a:buNone/>
            </a:pPr>
            <a:r>
              <a:rPr lang="en-US" sz="1200" dirty="0">
                <a:solidFill>
                  <a:schemeClr val="tx1"/>
                </a:solidFill>
              </a:rPr>
              <a:t>TinyFish Search</a:t>
            </a:r>
            <a:endParaRPr lang="en-US" sz="1200" dirty="0"/>
          </a:p>
          <a:p>
            <a:pPr marL="0" indent="0">
              <a:spcAft>
                <a:spcPts val="600"/>
              </a:spcAft>
              <a:buNone/>
            </a:pPr>
            <a:r>
              <a:rPr lang="en-US" sz="1200" dirty="0">
                <a:solidFill>
                  <a:schemeClr val="tx1"/>
                </a:solidFill>
              </a:rPr>
              <a:t>TinyFish Fetch</a:t>
            </a:r>
            <a:endParaRPr lang="en-US" sz="1200" dirty="0"/>
          </a:p>
          <a:p>
            <a:pPr marL="0" indent="0">
              <a:spcAft>
                <a:spcPts val="600"/>
              </a:spcAft>
              <a:buNone/>
            </a:pPr>
            <a:r>
              <a:rPr lang="en-US" sz="1200" dirty="0">
                <a:solidFill>
                  <a:schemeClr val="tx1"/>
                </a:solidFill>
              </a:rPr>
              <a:t>TinyFish Agent</a:t>
            </a:r>
            <a:endParaRPr lang="en-US" sz="1200" dirty="0"/>
          </a:p>
          <a:p>
            <a:pPr marL="0" indent="0">
              <a:spcAft>
                <a:spcPts val="600"/>
              </a:spcAft>
              <a:buNone/>
            </a:pPr>
            <a:r>
              <a:rPr lang="en-US" sz="1200" dirty="0">
                <a:solidFill>
                  <a:schemeClr val="tx1"/>
                </a:solidFill>
              </a:rPr>
              <a:t>Parser fallback</a:t>
            </a:r>
            <a:endParaRPr lang="en-US" sz="1200" dirty="0"/>
          </a:p>
        </p:txBody>
      </p:sp>
      <p:sp>
        <p:nvSpPr>
          <p:cNvPr id="11" name="Flow arrow"/>
          <p:cNvSpPr/>
          <p:nvPr/>
        </p:nvSpPr>
        <p:spPr>
          <a:xfrm>
            <a:off x="3621024" y="2240280"/>
            <a:ext cx="201168" cy="237744"/>
          </a:xfrm>
          <a:prstGeom prst="rightArrow">
            <a:avLst/>
          </a:prstGeom>
          <a:solidFill>
            <a:schemeClr val="accent1"/>
          </a:solidFill>
          <a:ln/>
        </p:spPr>
      </p:sp>
      <p:sp>
        <p:nvSpPr>
          <p:cNvPr id="12" name="Stage box Validate &amp; store"/>
          <p:cNvSpPr/>
          <p:nvPr/>
        </p:nvSpPr>
        <p:spPr>
          <a:xfrm>
            <a:off x="3858768" y="1417320"/>
            <a:ext cx="1426464" cy="1965960"/>
          </a:xfrm>
          <a:prstGeom prst="roundRect">
            <a:avLst>
              <a:gd name="adj" fmla="val 6410"/>
            </a:avLst>
          </a:prstGeom>
          <a:solidFill>
            <a:schemeClr val="bg2"/>
          </a:solidFill>
          <a:ln/>
        </p:spPr>
      </p:sp>
      <p:sp>
        <p:nvSpPr>
          <p:cNvPr id="13" name="Stage header Validate &amp;amp; store"/>
          <p:cNvSpPr txBox="1"/>
          <p:nvPr/>
        </p:nvSpPr>
        <p:spPr>
          <a:xfrm>
            <a:off x="3858768" y="1417320"/>
            <a:ext cx="1426464" cy="411480"/>
          </a:xfrm>
          <a:prstGeom prst="roundRect">
            <a:avLst>
              <a:gd name="adj" fmla="val 22222"/>
            </a:avLst>
          </a:prstGeom>
          <a:solidFill>
            <a:schemeClr val="accent1"/>
          </a:solidFill>
          <a:ln/>
        </p:spPr>
        <p:txBody>
          <a:bodyPr wrap="square" lIns="0" tIns="0" rIns="0" bIns="0" rtlCol="0" anchor="ctr"/>
          <a:lstStyle/>
          <a:p>
            <a:pPr marL="0" indent="0" algn="ctr">
              <a:buNone/>
            </a:pPr>
            <a:r>
              <a:rPr lang="en-US" sz="1400" b="1" dirty="0">
                <a:solidFill>
                  <a:schemeClr val="bg1"/>
                </a:solidFill>
              </a:rPr>
              <a:t>Validate &amp; store</a:t>
            </a:r>
            <a:endParaRPr lang="en-US" sz="1400" dirty="0"/>
          </a:p>
        </p:txBody>
      </p:sp>
      <p:sp>
        <p:nvSpPr>
          <p:cNvPr id="14" name="Stage items Validate &amp; store"/>
          <p:cNvSpPr txBox="1"/>
          <p:nvPr/>
        </p:nvSpPr>
        <p:spPr>
          <a:xfrm>
            <a:off x="3968496" y="1965960"/>
            <a:ext cx="1243584" cy="1371600"/>
          </a:xfrm>
          <a:prstGeom prst="rect">
            <a:avLst/>
          </a:prstGeom>
          <a:noFill/>
          <a:ln/>
        </p:spPr>
        <p:txBody>
          <a:bodyPr wrap="square" lIns="0" tIns="0" rIns="0" bIns="0" rtlCol="0" anchor="t"/>
          <a:lstStyle/>
          <a:p>
            <a:pPr marL="0" indent="0">
              <a:spcAft>
                <a:spcPts val="600"/>
              </a:spcAft>
              <a:buNone/>
            </a:pPr>
            <a:r>
              <a:rPr lang="en-US" sz="1200" dirty="0">
                <a:solidFill>
                  <a:schemeClr val="tx1"/>
                </a:solidFill>
              </a:rPr>
              <a:t>Grounding gate</a:t>
            </a:r>
            <a:endParaRPr lang="en-US" sz="1200" dirty="0"/>
          </a:p>
          <a:p>
            <a:pPr marL="0" indent="0">
              <a:spcAft>
                <a:spcPts val="600"/>
              </a:spcAft>
              <a:buNone/>
            </a:pPr>
            <a:r>
              <a:rPr lang="en-US" sz="1200" dirty="0">
                <a:solidFill>
                  <a:schemeClr val="tx1"/>
                </a:solidFill>
              </a:rPr>
              <a:t>Pydantic schemas</a:t>
            </a:r>
            <a:endParaRPr lang="en-US" sz="1200" dirty="0"/>
          </a:p>
          <a:p>
            <a:pPr marL="0" indent="0">
              <a:spcAft>
                <a:spcPts val="600"/>
              </a:spcAft>
              <a:buNone/>
            </a:pPr>
            <a:r>
              <a:rPr lang="en-US" sz="1200" dirty="0">
                <a:solidFill>
                  <a:schemeClr val="tx1"/>
                </a:solidFill>
              </a:rPr>
              <a:t>ISO-3 countries</a:t>
            </a:r>
            <a:endParaRPr lang="en-US" sz="1200" dirty="0"/>
          </a:p>
          <a:p>
            <a:pPr marL="0" indent="0">
              <a:spcAft>
                <a:spcPts val="600"/>
              </a:spcAft>
              <a:buNone/>
            </a:pPr>
            <a:r>
              <a:rPr lang="en-US" sz="1200" dirty="0">
                <a:solidFill>
                  <a:schemeClr val="tx1"/>
                </a:solidFill>
              </a:rPr>
              <a:t>PostgreSQL</a:t>
            </a:r>
            <a:endParaRPr lang="en-US" sz="1200" dirty="0"/>
          </a:p>
        </p:txBody>
      </p:sp>
      <p:sp>
        <p:nvSpPr>
          <p:cNvPr id="15" name="Flow arrow"/>
          <p:cNvSpPr/>
          <p:nvPr/>
        </p:nvSpPr>
        <p:spPr>
          <a:xfrm>
            <a:off x="5321808" y="2240280"/>
            <a:ext cx="201168" cy="237744"/>
          </a:xfrm>
          <a:prstGeom prst="rightArrow">
            <a:avLst/>
          </a:prstGeom>
          <a:solidFill>
            <a:schemeClr val="accent1"/>
          </a:solidFill>
          <a:ln/>
        </p:spPr>
      </p:sp>
      <p:sp>
        <p:nvSpPr>
          <p:cNvPr id="16" name="Stage box Model"/>
          <p:cNvSpPr/>
          <p:nvPr/>
        </p:nvSpPr>
        <p:spPr>
          <a:xfrm>
            <a:off x="5559552" y="1417320"/>
            <a:ext cx="1426464" cy="1965960"/>
          </a:xfrm>
          <a:prstGeom prst="roundRect">
            <a:avLst>
              <a:gd name="adj" fmla="val 6410"/>
            </a:avLst>
          </a:prstGeom>
          <a:solidFill>
            <a:schemeClr val="bg2"/>
          </a:solidFill>
          <a:ln/>
        </p:spPr>
      </p:sp>
      <p:sp>
        <p:nvSpPr>
          <p:cNvPr id="17" name="Stage header Model"/>
          <p:cNvSpPr txBox="1"/>
          <p:nvPr/>
        </p:nvSpPr>
        <p:spPr>
          <a:xfrm>
            <a:off x="5559552" y="1417320"/>
            <a:ext cx="1426464" cy="411480"/>
          </a:xfrm>
          <a:prstGeom prst="roundRect">
            <a:avLst>
              <a:gd name="adj" fmla="val 22222"/>
            </a:avLst>
          </a:prstGeom>
          <a:solidFill>
            <a:schemeClr val="tx2"/>
          </a:solidFill>
          <a:ln/>
        </p:spPr>
        <p:txBody>
          <a:bodyPr wrap="square" lIns="0" tIns="0" rIns="0" bIns="0" rtlCol="0" anchor="ctr"/>
          <a:lstStyle/>
          <a:p>
            <a:pPr marL="0" indent="0" algn="ctr">
              <a:buNone/>
            </a:pPr>
            <a:r>
              <a:rPr lang="en-US" sz="1400" b="1" dirty="0">
                <a:solidFill>
                  <a:schemeClr val="bg1"/>
                </a:solidFill>
              </a:rPr>
              <a:t>Model</a:t>
            </a:r>
            <a:endParaRPr lang="en-US" sz="1400" dirty="0"/>
          </a:p>
        </p:txBody>
      </p:sp>
      <p:sp>
        <p:nvSpPr>
          <p:cNvPr id="18" name="Stage items Model"/>
          <p:cNvSpPr txBox="1"/>
          <p:nvPr/>
        </p:nvSpPr>
        <p:spPr>
          <a:xfrm>
            <a:off x="5669280" y="1965960"/>
            <a:ext cx="1243584" cy="1371600"/>
          </a:xfrm>
          <a:prstGeom prst="rect">
            <a:avLst/>
          </a:prstGeom>
          <a:noFill/>
          <a:ln/>
        </p:spPr>
        <p:txBody>
          <a:bodyPr wrap="square" lIns="0" tIns="0" rIns="0" bIns="0" rtlCol="0" anchor="t"/>
          <a:lstStyle/>
          <a:p>
            <a:pPr marL="0" indent="0">
              <a:spcAft>
                <a:spcPts val="600"/>
              </a:spcAft>
              <a:buNone/>
            </a:pPr>
            <a:r>
              <a:rPr lang="en-US" sz="1200" dirty="0">
                <a:solidFill>
                  <a:schemeClr val="tx1"/>
                </a:solidFill>
              </a:rPr>
              <a:t>Importation λ</a:t>
            </a:r>
            <a:endParaRPr lang="en-US" sz="1200" dirty="0"/>
          </a:p>
          <a:p>
            <a:pPr marL="0" indent="0">
              <a:spcAft>
                <a:spcPts val="600"/>
              </a:spcAft>
              <a:buNone/>
            </a:pPr>
            <a:r>
              <a:rPr lang="en-US" sz="1200" dirty="0">
                <a:solidFill>
                  <a:schemeClr val="tx1"/>
                </a:solidFill>
              </a:rPr>
              <a:t>Establishment (R, k)</a:t>
            </a:r>
            <a:endParaRPr lang="en-US" sz="1200" dirty="0"/>
          </a:p>
          <a:p>
            <a:pPr marL="0" indent="0">
              <a:spcAft>
                <a:spcPts val="600"/>
              </a:spcAft>
              <a:buNone/>
            </a:pPr>
            <a:r>
              <a:rPr lang="en-US" sz="1200" dirty="0">
                <a:solidFill>
                  <a:schemeClr val="tx1"/>
                </a:solidFill>
              </a:rPr>
              <a:t>Gravity model</a:t>
            </a:r>
            <a:endParaRPr lang="en-US" sz="1200" dirty="0"/>
          </a:p>
          <a:p>
            <a:pPr marL="0" indent="0">
              <a:spcAft>
                <a:spcPts val="600"/>
              </a:spcAft>
              <a:buNone/>
            </a:pPr>
            <a:r>
              <a:rPr lang="en-US" sz="1200" dirty="0">
                <a:solidFill>
                  <a:schemeClr val="tx1"/>
                </a:solidFill>
              </a:rPr>
              <a:t>Next-country survival</a:t>
            </a:r>
            <a:endParaRPr lang="en-US" sz="1200" dirty="0"/>
          </a:p>
        </p:txBody>
      </p:sp>
      <p:sp>
        <p:nvSpPr>
          <p:cNvPr id="19" name="Flow arrow"/>
          <p:cNvSpPr/>
          <p:nvPr/>
        </p:nvSpPr>
        <p:spPr>
          <a:xfrm>
            <a:off x="7022592" y="2240280"/>
            <a:ext cx="201168" cy="237744"/>
          </a:xfrm>
          <a:prstGeom prst="rightArrow">
            <a:avLst/>
          </a:prstGeom>
          <a:solidFill>
            <a:schemeClr val="accent1"/>
          </a:solidFill>
          <a:ln/>
        </p:spPr>
      </p:sp>
      <p:sp>
        <p:nvSpPr>
          <p:cNvPr id="20" name="Stage box Serve &amp; show"/>
          <p:cNvSpPr/>
          <p:nvPr/>
        </p:nvSpPr>
        <p:spPr>
          <a:xfrm>
            <a:off x="7260336" y="1417320"/>
            <a:ext cx="1426464" cy="1965960"/>
          </a:xfrm>
          <a:prstGeom prst="roundRect">
            <a:avLst>
              <a:gd name="adj" fmla="val 6410"/>
            </a:avLst>
          </a:prstGeom>
          <a:solidFill>
            <a:schemeClr val="bg2"/>
          </a:solidFill>
          <a:ln/>
        </p:spPr>
      </p:sp>
      <p:sp>
        <p:nvSpPr>
          <p:cNvPr id="21" name="Stage header Serve &amp;amp; show"/>
          <p:cNvSpPr txBox="1"/>
          <p:nvPr/>
        </p:nvSpPr>
        <p:spPr>
          <a:xfrm>
            <a:off x="7260336" y="1417320"/>
            <a:ext cx="1426464" cy="411480"/>
          </a:xfrm>
          <a:prstGeom prst="roundRect">
            <a:avLst>
              <a:gd name="adj" fmla="val 22222"/>
            </a:avLst>
          </a:prstGeom>
          <a:solidFill>
            <a:schemeClr val="tx1"/>
          </a:solidFill>
          <a:ln/>
        </p:spPr>
        <p:txBody>
          <a:bodyPr wrap="square" lIns="0" tIns="0" rIns="0" bIns="0" rtlCol="0" anchor="ctr"/>
          <a:lstStyle/>
          <a:p>
            <a:pPr marL="0" indent="0" algn="ctr">
              <a:buNone/>
            </a:pPr>
            <a:r>
              <a:rPr lang="en-US" sz="1400" b="1" dirty="0">
                <a:solidFill>
                  <a:schemeClr val="bg1"/>
                </a:solidFill>
              </a:rPr>
              <a:t>Serve &amp; show</a:t>
            </a:r>
            <a:endParaRPr lang="en-US" sz="1400" dirty="0"/>
          </a:p>
        </p:txBody>
      </p:sp>
      <p:sp>
        <p:nvSpPr>
          <p:cNvPr id="22" name="Stage items Serve &amp; show"/>
          <p:cNvSpPr txBox="1"/>
          <p:nvPr/>
        </p:nvSpPr>
        <p:spPr>
          <a:xfrm>
            <a:off x="7370064" y="1965960"/>
            <a:ext cx="1243584" cy="1371600"/>
          </a:xfrm>
          <a:prstGeom prst="rect">
            <a:avLst/>
          </a:prstGeom>
          <a:noFill/>
          <a:ln/>
        </p:spPr>
        <p:txBody>
          <a:bodyPr wrap="square" lIns="0" tIns="0" rIns="0" bIns="0" rtlCol="0" anchor="t"/>
          <a:lstStyle/>
          <a:p>
            <a:pPr marL="0" indent="0">
              <a:spcAft>
                <a:spcPts val="600"/>
              </a:spcAft>
              <a:buNone/>
            </a:pPr>
            <a:r>
              <a:rPr lang="en-US" sz="1200" dirty="0">
                <a:solidFill>
                  <a:schemeClr val="tx1"/>
                </a:solidFill>
              </a:rPr>
              <a:t>FastAPI endpoints</a:t>
            </a:r>
            <a:endParaRPr lang="en-US" sz="1200" dirty="0"/>
          </a:p>
          <a:p>
            <a:pPr marL="0" indent="0">
              <a:spcAft>
                <a:spcPts val="600"/>
              </a:spcAft>
              <a:buNone/>
            </a:pPr>
            <a:r>
              <a:rPr lang="en-US" sz="1200" dirty="0">
                <a:solidFill>
                  <a:schemeClr val="tx1"/>
                </a:solidFill>
              </a:rPr>
              <a:t>React + TypeScript</a:t>
            </a:r>
            <a:endParaRPr lang="en-US" sz="1200" dirty="0"/>
          </a:p>
          <a:p>
            <a:pPr marL="0" indent="0">
              <a:spcAft>
                <a:spcPts val="600"/>
              </a:spcAft>
              <a:buNone/>
            </a:pPr>
            <a:r>
              <a:rPr lang="en-US" sz="1200" dirty="0">
                <a:solidFill>
                  <a:schemeClr val="tx1"/>
                </a:solidFill>
              </a:rPr>
              <a:t>MapLibre GL map</a:t>
            </a:r>
            <a:endParaRPr lang="en-US" sz="1200" dirty="0"/>
          </a:p>
          <a:p>
            <a:pPr marL="0" indent="0">
              <a:spcAft>
                <a:spcPts val="600"/>
              </a:spcAft>
              <a:buNone/>
            </a:pPr>
            <a:r>
              <a:rPr lang="en-US" sz="1200" dirty="0">
                <a:solidFill>
                  <a:schemeClr val="tx1"/>
                </a:solidFill>
              </a:rPr>
              <a:t>Scenario sliders</a:t>
            </a:r>
            <a:endParaRPr lang="en-US" sz="1200" dirty="0"/>
          </a:p>
        </p:txBody>
      </p:sp>
      <p:sp>
        <p:nvSpPr>
          <p:cNvPr id="23" name="Stack card BACKEND"/>
          <p:cNvSpPr/>
          <p:nvPr/>
        </p:nvSpPr>
        <p:spPr>
          <a:xfrm>
            <a:off x="457200" y="3611880"/>
            <a:ext cx="2560320" cy="960120"/>
          </a:xfrm>
          <a:prstGeom prst="roundRect">
            <a:avLst>
              <a:gd name="adj" fmla="val 9524"/>
            </a:avLst>
          </a:prstGeom>
          <a:solidFill>
            <a:schemeClr val="bg1"/>
          </a:solidFill>
          <a:ln w="12700">
            <a:solidFill>
              <a:schemeClr val="accent5"/>
            </a:solidFill>
            <a:prstDash val="solid"/>
          </a:ln>
        </p:spPr>
      </p:sp>
      <p:sp>
        <p:nvSpPr>
          <p:cNvPr id="24" name="Text 22"/>
          <p:cNvSpPr txBox="1"/>
          <p:nvPr/>
        </p:nvSpPr>
        <p:spPr>
          <a:xfrm>
            <a:off x="640080" y="3730752"/>
            <a:ext cx="2194560" cy="228600"/>
          </a:xfrm>
          <a:prstGeom prst="rect">
            <a:avLst/>
          </a:prstGeom>
          <a:noFill/>
          <a:ln/>
        </p:spPr>
        <p:txBody>
          <a:bodyPr wrap="square" lIns="0" tIns="0" rIns="0" bIns="0" rtlCol="0" anchor="t"/>
          <a:lstStyle/>
          <a:p>
            <a:pPr marL="0" indent="0">
              <a:buNone/>
            </a:pPr>
            <a:r>
              <a:rPr lang="en-US" sz="1100" b="1" kern="0" spc="150" dirty="0">
                <a:solidFill>
                  <a:schemeClr val="accent1"/>
                </a:solidFill>
              </a:rPr>
              <a:t>BACKEND</a:t>
            </a:r>
            <a:endParaRPr lang="en-US" sz="1100" dirty="0"/>
          </a:p>
        </p:txBody>
      </p:sp>
      <p:sp>
        <p:nvSpPr>
          <p:cNvPr id="25" name="Text 23"/>
          <p:cNvSpPr txBox="1"/>
          <p:nvPr/>
        </p:nvSpPr>
        <p:spPr>
          <a:xfrm>
            <a:off x="640080" y="3995928"/>
            <a:ext cx="2194560" cy="502920"/>
          </a:xfrm>
          <a:prstGeom prst="rect">
            <a:avLst/>
          </a:prstGeom>
          <a:noFill/>
          <a:ln/>
        </p:spPr>
        <p:txBody>
          <a:bodyPr wrap="square" lIns="0" tIns="0" rIns="0" bIns="0" rtlCol="0" anchor="t"/>
          <a:lstStyle/>
          <a:p>
            <a:pPr marL="0" indent="0">
              <a:buNone/>
            </a:pPr>
            <a:r>
              <a:rPr lang="en-US" sz="1400" dirty="0">
                <a:solidFill>
                  <a:schemeClr val="tx1"/>
                </a:solidFill>
              </a:rPr>
              <a:t>FastAPI · Pydantic · SQLAlchemy · PostgreSQL 16</a:t>
            </a:r>
            <a:endParaRPr lang="en-US" sz="1400" dirty="0"/>
          </a:p>
        </p:txBody>
      </p:sp>
      <p:sp>
        <p:nvSpPr>
          <p:cNvPr id="26" name="Stack card DATA &amp; MODELS"/>
          <p:cNvSpPr/>
          <p:nvPr/>
        </p:nvSpPr>
        <p:spPr>
          <a:xfrm>
            <a:off x="3291840" y="3611880"/>
            <a:ext cx="2560320" cy="960120"/>
          </a:xfrm>
          <a:prstGeom prst="roundRect">
            <a:avLst>
              <a:gd name="adj" fmla="val 9524"/>
            </a:avLst>
          </a:prstGeom>
          <a:solidFill>
            <a:schemeClr val="bg1"/>
          </a:solidFill>
          <a:ln w="12700">
            <a:solidFill>
              <a:schemeClr val="accent5"/>
            </a:solidFill>
            <a:prstDash val="solid"/>
          </a:ln>
        </p:spPr>
      </p:sp>
      <p:sp>
        <p:nvSpPr>
          <p:cNvPr id="27" name="Text 25"/>
          <p:cNvSpPr txBox="1"/>
          <p:nvPr/>
        </p:nvSpPr>
        <p:spPr>
          <a:xfrm>
            <a:off x="3474720" y="3730752"/>
            <a:ext cx="2194560" cy="228600"/>
          </a:xfrm>
          <a:prstGeom prst="rect">
            <a:avLst/>
          </a:prstGeom>
          <a:noFill/>
          <a:ln/>
        </p:spPr>
        <p:txBody>
          <a:bodyPr wrap="square" lIns="0" tIns="0" rIns="0" bIns="0" rtlCol="0" anchor="t"/>
          <a:lstStyle/>
          <a:p>
            <a:pPr marL="0" indent="0">
              <a:buNone/>
            </a:pPr>
            <a:r>
              <a:rPr lang="en-US" sz="1100" b="1" kern="0" spc="150" dirty="0">
                <a:solidFill>
                  <a:schemeClr val="accent1"/>
                </a:solidFill>
              </a:rPr>
              <a:t>DATA &amp; MODELS</a:t>
            </a:r>
            <a:endParaRPr lang="en-US" sz="1100" dirty="0"/>
          </a:p>
        </p:txBody>
      </p:sp>
      <p:sp>
        <p:nvSpPr>
          <p:cNvPr id="28" name="Text 26"/>
          <p:cNvSpPr txBox="1"/>
          <p:nvPr/>
        </p:nvSpPr>
        <p:spPr>
          <a:xfrm>
            <a:off x="3474720" y="3995928"/>
            <a:ext cx="2194560" cy="502920"/>
          </a:xfrm>
          <a:prstGeom prst="rect">
            <a:avLst/>
          </a:prstGeom>
          <a:noFill/>
          <a:ln/>
        </p:spPr>
        <p:txBody>
          <a:bodyPr wrap="square" lIns="0" tIns="0" rIns="0" bIns="0" rtlCol="0" anchor="t"/>
          <a:lstStyle/>
          <a:p>
            <a:pPr marL="0" indent="0">
              <a:buNone/>
            </a:pPr>
            <a:r>
              <a:rPr lang="en-US" sz="1400" dirty="0">
                <a:solidFill>
                  <a:schemeClr val="tx1"/>
                </a:solidFill>
              </a:rPr>
              <a:t>pandas · Parquet · networkx · scikit-learn</a:t>
            </a:r>
            <a:endParaRPr lang="en-US" sz="1400" dirty="0"/>
          </a:p>
        </p:txBody>
      </p:sp>
      <p:sp>
        <p:nvSpPr>
          <p:cNvPr id="29" name="Stack card FRONTEND &amp; TOOLING"/>
          <p:cNvSpPr/>
          <p:nvPr/>
        </p:nvSpPr>
        <p:spPr>
          <a:xfrm>
            <a:off x="6126480" y="3611880"/>
            <a:ext cx="2560320" cy="960120"/>
          </a:xfrm>
          <a:prstGeom prst="roundRect">
            <a:avLst>
              <a:gd name="adj" fmla="val 9524"/>
            </a:avLst>
          </a:prstGeom>
          <a:solidFill>
            <a:schemeClr val="bg1"/>
          </a:solidFill>
          <a:ln w="12700">
            <a:solidFill>
              <a:schemeClr val="accent5"/>
            </a:solidFill>
            <a:prstDash val="solid"/>
          </a:ln>
        </p:spPr>
      </p:sp>
      <p:sp>
        <p:nvSpPr>
          <p:cNvPr id="30" name="Text 28"/>
          <p:cNvSpPr txBox="1"/>
          <p:nvPr/>
        </p:nvSpPr>
        <p:spPr>
          <a:xfrm>
            <a:off x="6309360" y="3730752"/>
            <a:ext cx="2194560" cy="228600"/>
          </a:xfrm>
          <a:prstGeom prst="rect">
            <a:avLst/>
          </a:prstGeom>
          <a:noFill/>
          <a:ln/>
        </p:spPr>
        <p:txBody>
          <a:bodyPr wrap="square" lIns="0" tIns="0" rIns="0" bIns="0" rtlCol="0" anchor="t"/>
          <a:lstStyle/>
          <a:p>
            <a:pPr marL="0" indent="0">
              <a:buNone/>
            </a:pPr>
            <a:r>
              <a:rPr lang="en-US" sz="1100" b="1" kern="0" spc="150" dirty="0">
                <a:solidFill>
                  <a:schemeClr val="accent1"/>
                </a:solidFill>
              </a:rPr>
              <a:t>FRONTEND &amp; TOOLING</a:t>
            </a:r>
            <a:endParaRPr lang="en-US" sz="1100" dirty="0"/>
          </a:p>
        </p:txBody>
      </p:sp>
      <p:sp>
        <p:nvSpPr>
          <p:cNvPr id="31" name="Text 29"/>
          <p:cNvSpPr txBox="1"/>
          <p:nvPr/>
        </p:nvSpPr>
        <p:spPr>
          <a:xfrm>
            <a:off x="6309360" y="3995928"/>
            <a:ext cx="2194560" cy="502920"/>
          </a:xfrm>
          <a:prstGeom prst="rect">
            <a:avLst/>
          </a:prstGeom>
          <a:noFill/>
          <a:ln/>
        </p:spPr>
        <p:txBody>
          <a:bodyPr wrap="square" lIns="0" tIns="0" rIns="0" bIns="0" rtlCol="0" anchor="t"/>
          <a:lstStyle/>
          <a:p>
            <a:pPr marL="0" indent="0">
              <a:buNone/>
            </a:pPr>
            <a:r>
              <a:rPr lang="en-US" sz="1400" dirty="0">
                <a:solidFill>
                  <a:schemeClr val="tx1"/>
                </a:solidFill>
              </a:rPr>
              <a:t>React 18 · TypeScript · Vite · uv · just · Docker</a:t>
            </a:r>
            <a:endParaRPr lang="en-US" sz="1400" dirty="0"/>
          </a:p>
        </p:txBody>
      </p:sp>
      <p:sp>
        <p:nvSpPr>
          <p:cNvPr id="32"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47472"/>
            <a:ext cx="82296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04  ·  </a:t>
            </a:r>
            <a:r>
              <a:rPr lang="en-US" dirty="0"/>
              <a:t>DATA TRAINING</a:t>
            </a:r>
            <a:endParaRPr lang="en-US" sz="1200" dirty="0"/>
          </a:p>
        </p:txBody>
      </p:sp>
      <p:sp>
        <p:nvSpPr>
          <p:cNvPr id="4" name="Flow React + MapLibre"/>
          <p:cNvSpPr txBox="1"/>
          <p:nvPr/>
        </p:nvSpPr>
        <p:spPr>
          <a:xfrm>
            <a:off x="6986016" y="3095244"/>
            <a:ext cx="1426464" cy="777240"/>
          </a:xfrm>
          <a:prstGeom prst="roundRect">
            <a:avLst>
              <a:gd name="adj" fmla="val 11765"/>
            </a:avLst>
          </a:prstGeom>
          <a:solidFill>
            <a:schemeClr val="tx1"/>
          </a:solidFill>
          <a:ln/>
        </p:spPr>
        <p:txBody>
          <a:bodyPr wrap="square" lIns="635" tIns="635" rIns="635" bIns="635" rtlCol="0" anchor="ctr"/>
          <a:lstStyle/>
          <a:p>
            <a:pPr marL="0" indent="0" algn="ctr">
              <a:buNone/>
            </a:pPr>
            <a:r>
              <a:rPr lang="en-US" sz="1400" b="1" dirty="0">
                <a:solidFill>
                  <a:schemeClr val="bg1"/>
                </a:solidFill>
              </a:rPr>
              <a:t>Showing it on the </a:t>
            </a:r>
            <a:r>
              <a:rPr lang="en-US" sz="1400" b="1">
                <a:solidFill>
                  <a:schemeClr val="bg1"/>
                </a:solidFill>
              </a:rPr>
              <a:t>wesbite</a:t>
            </a:r>
            <a:endParaRPr lang="en-US" sz="1400" dirty="0"/>
          </a:p>
        </p:txBody>
      </p:sp>
      <p:sp>
        <p:nvSpPr>
          <p:cNvPr id="5" name="Flow arrow"/>
          <p:cNvSpPr/>
          <p:nvPr/>
        </p:nvSpPr>
        <p:spPr>
          <a:xfrm>
            <a:off x="6473952" y="3381451"/>
            <a:ext cx="201168" cy="237744"/>
          </a:xfrm>
          <a:prstGeom prst="rightArrow">
            <a:avLst/>
          </a:prstGeom>
          <a:solidFill>
            <a:schemeClr val="accent1"/>
          </a:solidFill>
          <a:ln/>
        </p:spPr>
      </p:sp>
      <p:sp>
        <p:nvSpPr>
          <p:cNvPr id="6" name="Flow FastAPI /api/v1"/>
          <p:cNvSpPr txBox="1"/>
          <p:nvPr/>
        </p:nvSpPr>
        <p:spPr>
          <a:xfrm>
            <a:off x="4809744" y="3111703"/>
            <a:ext cx="1426464" cy="777240"/>
          </a:xfrm>
          <a:prstGeom prst="roundRect">
            <a:avLst>
              <a:gd name="adj" fmla="val 11765"/>
            </a:avLst>
          </a:prstGeom>
          <a:solidFill>
            <a:schemeClr val="tx2"/>
          </a:solidFill>
          <a:ln/>
        </p:spPr>
        <p:txBody>
          <a:bodyPr wrap="square" lIns="635" tIns="635" rIns="635" bIns="635" rtlCol="0" anchor="ctr"/>
          <a:lstStyle/>
          <a:p>
            <a:pPr marL="0" indent="0" algn="ctr">
              <a:buNone/>
            </a:pPr>
            <a:r>
              <a:rPr lang="en-US" sz="1400" b="1" dirty="0">
                <a:solidFill>
                  <a:schemeClr val="bg1"/>
                </a:solidFill>
              </a:rPr>
              <a:t>Training on the data and metrics through testing</a:t>
            </a:r>
            <a:endParaRPr lang="en-US" sz="1400" dirty="0"/>
          </a:p>
        </p:txBody>
      </p:sp>
      <p:sp>
        <p:nvSpPr>
          <p:cNvPr id="7" name="Flow arrow"/>
          <p:cNvSpPr/>
          <p:nvPr/>
        </p:nvSpPr>
        <p:spPr>
          <a:xfrm>
            <a:off x="4471416" y="3381451"/>
            <a:ext cx="201168" cy="237744"/>
          </a:xfrm>
          <a:prstGeom prst="rightArrow">
            <a:avLst/>
          </a:prstGeom>
          <a:solidFill>
            <a:schemeClr val="accent1"/>
          </a:solidFill>
          <a:ln/>
        </p:spPr>
      </p:sp>
      <p:sp>
        <p:nvSpPr>
          <p:cNvPr id="8" name="Flow Risk &amp;amp; forecast services"/>
          <p:cNvSpPr txBox="1"/>
          <p:nvPr/>
        </p:nvSpPr>
        <p:spPr>
          <a:xfrm>
            <a:off x="3858768" y="1417320"/>
            <a:ext cx="1426464" cy="777240"/>
          </a:xfrm>
          <a:prstGeom prst="roundRect">
            <a:avLst>
              <a:gd name="adj" fmla="val 11765"/>
            </a:avLst>
          </a:prstGeom>
          <a:solidFill>
            <a:schemeClr val="accent2"/>
          </a:solidFill>
          <a:ln/>
        </p:spPr>
        <p:txBody>
          <a:bodyPr wrap="square" lIns="635" tIns="635" rIns="635" bIns="635" rtlCol="0" anchor="ctr"/>
          <a:lstStyle/>
          <a:p>
            <a:pPr marL="0" indent="0" algn="ctr">
              <a:buNone/>
            </a:pPr>
            <a:r>
              <a:rPr lang="en-US" sz="1400" b="1" dirty="0">
                <a:solidFill>
                  <a:schemeClr val="bg1"/>
                </a:solidFill>
              </a:rPr>
              <a:t>Live Data Retrieval </a:t>
            </a:r>
            <a:endParaRPr lang="en-US" sz="1400" dirty="0"/>
          </a:p>
        </p:txBody>
      </p:sp>
      <p:sp>
        <p:nvSpPr>
          <p:cNvPr id="9" name="Flow arrow"/>
          <p:cNvSpPr/>
          <p:nvPr/>
        </p:nvSpPr>
        <p:spPr>
          <a:xfrm>
            <a:off x="5321808" y="1691640"/>
            <a:ext cx="201168" cy="237744"/>
          </a:xfrm>
          <a:prstGeom prst="rightArrow">
            <a:avLst/>
          </a:prstGeom>
          <a:solidFill>
            <a:schemeClr val="accent1"/>
          </a:solidFill>
          <a:ln/>
        </p:spPr>
      </p:sp>
      <p:sp>
        <p:nvSpPr>
          <p:cNvPr id="10" name="Flow Repositories"/>
          <p:cNvSpPr txBox="1"/>
          <p:nvPr/>
        </p:nvSpPr>
        <p:spPr>
          <a:xfrm>
            <a:off x="5559552" y="1417320"/>
            <a:ext cx="1426464" cy="777240"/>
          </a:xfrm>
          <a:prstGeom prst="roundRect">
            <a:avLst>
              <a:gd name="adj" fmla="val 11765"/>
            </a:avLst>
          </a:prstGeom>
          <a:solidFill>
            <a:schemeClr val="accent4"/>
          </a:solidFill>
          <a:ln/>
        </p:spPr>
        <p:txBody>
          <a:bodyPr wrap="square" lIns="635" tIns="635" rIns="635" bIns="635" rtlCol="0" anchor="ctr"/>
          <a:lstStyle/>
          <a:p>
            <a:pPr marL="0" indent="0" algn="ctr">
              <a:buNone/>
            </a:pPr>
            <a:r>
              <a:rPr lang="en-US" sz="1400" b="1" dirty="0">
                <a:solidFill>
                  <a:schemeClr val="bg1"/>
                </a:solidFill>
              </a:rPr>
              <a:t>Training Testing split</a:t>
            </a:r>
            <a:endParaRPr lang="en-US" sz="1400" dirty="0"/>
          </a:p>
        </p:txBody>
      </p:sp>
      <p:sp>
        <p:nvSpPr>
          <p:cNvPr id="11" name="Flow arrow"/>
          <p:cNvSpPr/>
          <p:nvPr/>
        </p:nvSpPr>
        <p:spPr>
          <a:xfrm>
            <a:off x="7022592" y="1691640"/>
            <a:ext cx="201168" cy="237744"/>
          </a:xfrm>
          <a:prstGeom prst="rightArrow">
            <a:avLst/>
          </a:prstGeom>
          <a:solidFill>
            <a:schemeClr val="accent1"/>
          </a:solidFill>
          <a:ln/>
        </p:spPr>
      </p:sp>
      <p:sp>
        <p:nvSpPr>
          <p:cNvPr id="12" name="Flow PostgreSQL 16"/>
          <p:cNvSpPr txBox="1"/>
          <p:nvPr/>
        </p:nvSpPr>
        <p:spPr>
          <a:xfrm>
            <a:off x="7260336" y="1417320"/>
            <a:ext cx="1426464" cy="777240"/>
          </a:xfrm>
          <a:prstGeom prst="roundRect">
            <a:avLst>
              <a:gd name="adj" fmla="val 11765"/>
            </a:avLst>
          </a:prstGeom>
          <a:solidFill>
            <a:schemeClr val="accent1"/>
          </a:solidFill>
          <a:ln/>
        </p:spPr>
        <p:txBody>
          <a:bodyPr wrap="square" lIns="635" tIns="635" rIns="635" bIns="635" rtlCol="0" anchor="ctr"/>
          <a:lstStyle/>
          <a:p>
            <a:pPr marL="0" indent="0" algn="ctr">
              <a:buNone/>
            </a:pPr>
            <a:r>
              <a:rPr lang="en-US" sz="1400" b="1" dirty="0">
                <a:solidFill>
                  <a:schemeClr val="bg1"/>
                </a:solidFill>
              </a:rPr>
              <a:t>Scaling </a:t>
            </a:r>
            <a:endParaRPr lang="en-US" sz="1400" dirty="0"/>
          </a:p>
        </p:txBody>
      </p:sp>
      <p:sp>
        <p:nvSpPr>
          <p:cNvPr id="15" name="List DATA MODEL"/>
          <p:cNvSpPr txBox="1"/>
          <p:nvPr/>
        </p:nvSpPr>
        <p:spPr>
          <a:xfrm>
            <a:off x="640080" y="2907792"/>
            <a:ext cx="2240280" cy="1645920"/>
          </a:xfrm>
          <a:prstGeom prst="rect">
            <a:avLst/>
          </a:prstGeom>
          <a:noFill/>
          <a:ln/>
        </p:spPr>
        <p:txBody>
          <a:bodyPr wrap="square" lIns="0" tIns="0" rIns="0" bIns="0" rtlCol="0" anchor="t"/>
          <a:lstStyle/>
          <a:p>
            <a:pPr marL="342900" indent="-342900">
              <a:spcAft>
                <a:spcPts val="300"/>
              </a:spcAft>
              <a:buSzPct val="100000"/>
              <a:buChar char="•"/>
            </a:pP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
        <p:nvSpPr>
          <p:cNvPr id="23" name="Title 22">
            <a:extLst>
              <a:ext uri="{FF2B5EF4-FFF2-40B4-BE49-F238E27FC236}">
                <a16:creationId xmlns:a16="http://schemas.microsoft.com/office/drawing/2014/main" id="{44C1CD65-F11D-F141-B6C9-3A8EEBD82697}"/>
              </a:ext>
            </a:extLst>
          </p:cNvPr>
          <p:cNvSpPr>
            <a:spLocks noGrp="1"/>
          </p:cNvSpPr>
          <p:nvPr>
            <p:ph type="title" idx="102"/>
          </p:nvPr>
        </p:nvSpPr>
        <p:spPr/>
        <p:txBody>
          <a:bodyPr/>
          <a:lstStyle/>
          <a:p>
            <a:r>
              <a:rPr lang="en-IN" dirty="0"/>
              <a:t>Training Data</a:t>
            </a:r>
          </a:p>
        </p:txBody>
      </p:sp>
      <p:sp>
        <p:nvSpPr>
          <p:cNvPr id="28" name="Training data card">
            <a:extLst>
              <a:ext uri="{FF2B5EF4-FFF2-40B4-BE49-F238E27FC236}">
                <a16:creationId xmlns:a16="http://schemas.microsoft.com/office/drawing/2014/main" id="{8EBABE99-2C9C-364C-AC84-8D526097272F}"/>
              </a:ext>
            </a:extLst>
          </p:cNvPr>
          <p:cNvSpPr/>
          <p:nvPr/>
        </p:nvSpPr>
        <p:spPr>
          <a:xfrm>
            <a:off x="457200" y="1321308"/>
            <a:ext cx="2743200" cy="3200400"/>
          </a:xfrm>
          <a:prstGeom prst="roundRect">
            <a:avLst>
              <a:gd name="adj" fmla="val 3333"/>
            </a:avLst>
          </a:prstGeom>
          <a:solidFill>
            <a:schemeClr val="tx1"/>
          </a:solidFill>
          <a:ln/>
        </p:spPr>
        <p:txBody>
          <a:bodyPr/>
          <a:lstStyle/>
          <a:p>
            <a:endParaRPr lang="en-IN" dirty="0"/>
          </a:p>
        </p:txBody>
      </p:sp>
      <p:sp>
        <p:nvSpPr>
          <p:cNvPr id="30" name="Training data list">
            <a:extLst>
              <a:ext uri="{FF2B5EF4-FFF2-40B4-BE49-F238E27FC236}">
                <a16:creationId xmlns:a16="http://schemas.microsoft.com/office/drawing/2014/main" id="{97FB51CD-E608-1167-B59A-764DAEA2A186}"/>
              </a:ext>
            </a:extLst>
          </p:cNvPr>
          <p:cNvSpPr txBox="1"/>
          <p:nvPr/>
        </p:nvSpPr>
        <p:spPr>
          <a:xfrm>
            <a:off x="639317" y="1591056"/>
            <a:ext cx="2331720" cy="2514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Flights and approximate traveller numbers</a:t>
            </a:r>
            <a:endParaRPr lang="en-US" sz="1400" dirty="0"/>
          </a:p>
          <a:p>
            <a:pPr marL="342900" indent="-342900">
              <a:spcAft>
                <a:spcPts val="800"/>
              </a:spcAft>
              <a:buSzPct val="100000"/>
              <a:buChar char="•"/>
            </a:pPr>
            <a:r>
              <a:rPr lang="en-US" sz="1400" dirty="0">
                <a:solidFill>
                  <a:schemeClr val="bg1"/>
                </a:solidFill>
              </a:rPr>
              <a:t>Population density</a:t>
            </a:r>
            <a:endParaRPr lang="en-US" sz="1400" dirty="0"/>
          </a:p>
          <a:p>
            <a:pPr marL="342900" indent="-342900">
              <a:spcAft>
                <a:spcPts val="800"/>
              </a:spcAft>
              <a:buSzPct val="100000"/>
              <a:buChar char="•"/>
            </a:pPr>
            <a:r>
              <a:rPr lang="en-US" sz="1400" dirty="0">
                <a:solidFill>
                  <a:schemeClr val="bg1"/>
                </a:solidFill>
              </a:rPr>
              <a:t>Outbreak archive</a:t>
            </a:r>
            <a:endParaRPr lang="en-US" sz="1400" dirty="0"/>
          </a:p>
          <a:p>
            <a:pPr marL="342900" indent="-342900">
              <a:spcAft>
                <a:spcPts val="800"/>
              </a:spcAft>
              <a:buSzPct val="100000"/>
              <a:buChar char="•"/>
            </a:pPr>
            <a:r>
              <a:rPr lang="en-US" sz="1400" dirty="0">
                <a:solidFill>
                  <a:schemeClr val="bg1"/>
                </a:solidFill>
              </a:rPr>
              <a:t>Johns Hopkins COVID-19 series</a:t>
            </a:r>
            <a:endParaRPr lang="en-US" sz="1400" dirty="0"/>
          </a:p>
          <a:p>
            <a:pPr marL="342900" indent="-342900">
              <a:spcAft>
                <a:spcPts val="800"/>
              </a:spcAft>
              <a:buSzPct val="100000"/>
              <a:buChar char="•"/>
            </a:pPr>
            <a:r>
              <a:rPr lang="en-US" sz="1400" dirty="0">
                <a:solidFill>
                  <a:schemeClr val="bg1"/>
                </a:solidFill>
              </a:rPr>
              <a:t>Neighbouring countries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47472"/>
            <a:ext cx="82296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05  ·  TINYFISH API INTEGRATION</a:t>
            </a:r>
            <a:endParaRPr lang="en-US" sz="1200" dirty="0"/>
          </a:p>
        </p:txBody>
      </p:sp>
      <p:sp>
        <p:nvSpPr>
          <p:cNvPr id="3" name="Text 1"/>
          <p:cNvSpPr>
            <a:spLocks noGrp="1"/>
          </p:cNvSpPr>
          <p:nvPr>
            <p:ph type="title" idx="102" hasCustomPrompt="1"/>
          </p:nvPr>
        </p:nvSpPr>
        <p:spPr>
          <a:xfrm>
            <a:off x="457200" y="621792"/>
            <a:ext cx="8229600" cy="640080"/>
          </a:xfrm>
          <a:prstGeom prst="rect">
            <a:avLst/>
          </a:prstGeom>
          <a:noFill/>
          <a:ln/>
        </p:spPr>
        <p:txBody>
          <a:bodyPr wrap="square" lIns="0" tIns="0" rIns="0" bIns="0" rtlCol="0" anchor="ctr"/>
          <a:lstStyle/>
          <a:p>
            <a:pPr marL="0" indent="0" algn="l">
              <a:buNone/>
            </a:pPr>
            <a:r>
              <a:rPr lang="en-US" sz="3200" b="1" dirty="0">
                <a:solidFill>
                  <a:schemeClr val="tx1"/>
                </a:solidFill>
              </a:rPr>
              <a:t>TinyFish turns pages into records</a:t>
            </a:r>
            <a:endParaRPr lang="en-US" sz="3200" dirty="0"/>
          </a:p>
        </p:txBody>
      </p:sp>
      <p:sp>
        <p:nvSpPr>
          <p:cNvPr id="4" name="TinyFish step 1"/>
          <p:cNvSpPr/>
          <p:nvPr/>
        </p:nvSpPr>
        <p:spPr>
          <a:xfrm>
            <a:off x="457200" y="1417320"/>
            <a:ext cx="1828800" cy="1920240"/>
          </a:xfrm>
          <a:prstGeom prst="roundRect">
            <a:avLst>
              <a:gd name="adj" fmla="val 5000"/>
            </a:avLst>
          </a:prstGeom>
          <a:solidFill>
            <a:schemeClr val="bg2"/>
          </a:solidFill>
          <a:ln/>
        </p:spPr>
      </p:sp>
      <p:sp>
        <p:nvSpPr>
          <p:cNvPr id="5" name="Step 1"/>
          <p:cNvSpPr txBox="1"/>
          <p:nvPr/>
        </p:nvSpPr>
        <p:spPr>
          <a:xfrm>
            <a:off x="621792" y="1581912"/>
            <a:ext cx="365760" cy="365760"/>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6" name="Text 4"/>
          <p:cNvSpPr txBox="1"/>
          <p:nvPr/>
        </p:nvSpPr>
        <p:spPr>
          <a:xfrm>
            <a:off x="1097280" y="1581912"/>
            <a:ext cx="1097280" cy="365760"/>
          </a:xfrm>
          <a:prstGeom prst="rect">
            <a:avLst/>
          </a:prstGeom>
          <a:noFill/>
          <a:ln/>
        </p:spPr>
        <p:txBody>
          <a:bodyPr wrap="square" lIns="0" tIns="0" rIns="0" bIns="0" rtlCol="0" anchor="ctr"/>
          <a:lstStyle/>
          <a:p>
            <a:pPr marL="0" indent="0">
              <a:buNone/>
            </a:pPr>
            <a:r>
              <a:rPr lang="en-US" sz="1100" b="1" kern="0" spc="150" dirty="0">
                <a:solidFill>
                  <a:schemeClr val="accent2"/>
                </a:solidFill>
              </a:rPr>
              <a:t>SEARCH API</a:t>
            </a:r>
            <a:endParaRPr lang="en-US" sz="1100" dirty="0"/>
          </a:p>
        </p:txBody>
      </p:sp>
      <p:sp>
        <p:nvSpPr>
          <p:cNvPr id="7" name="Text 5"/>
          <p:cNvSpPr txBox="1"/>
          <p:nvPr/>
        </p:nvSpPr>
        <p:spPr>
          <a:xfrm>
            <a:off x="621792" y="2075688"/>
            <a:ext cx="1554480" cy="320040"/>
          </a:xfrm>
          <a:prstGeom prst="rect">
            <a:avLst/>
          </a:prstGeom>
          <a:noFill/>
          <a:ln/>
        </p:spPr>
        <p:txBody>
          <a:bodyPr wrap="square" lIns="0" tIns="0" rIns="0" bIns="0" rtlCol="0" anchor="t"/>
          <a:lstStyle/>
          <a:p>
            <a:pPr marL="0" indent="0">
              <a:buNone/>
            </a:pPr>
            <a:r>
              <a:rPr lang="en-US" sz="1800" b="1" dirty="0">
                <a:solidFill>
                  <a:schemeClr val="tx1"/>
                </a:solidFill>
              </a:rPr>
              <a:t>Discover</a:t>
            </a:r>
            <a:endParaRPr lang="en-US" sz="1800" dirty="0"/>
          </a:p>
        </p:txBody>
      </p:sp>
      <p:sp>
        <p:nvSpPr>
          <p:cNvPr id="8" name="Text 6"/>
          <p:cNvSpPr txBox="1"/>
          <p:nvPr/>
        </p:nvSpPr>
        <p:spPr>
          <a:xfrm>
            <a:off x="621792" y="2423160"/>
            <a:ext cx="1536192" cy="868680"/>
          </a:xfrm>
          <a:prstGeom prst="rect">
            <a:avLst/>
          </a:prstGeom>
          <a:noFill/>
          <a:ln/>
        </p:spPr>
        <p:txBody>
          <a:bodyPr wrap="square" lIns="0" tIns="0" rIns="0" bIns="0" rtlCol="0" anchor="t"/>
          <a:lstStyle/>
          <a:p>
            <a:pPr marL="0" indent="0">
              <a:buNone/>
            </a:pPr>
            <a:r>
              <a:rPr lang="en-US" sz="1400" dirty="0">
                <a:solidFill>
                  <a:schemeClr val="tx2"/>
                </a:solidFill>
              </a:rPr>
              <a:t>Official domains only: WHO, ECDC, PAHO, Africa CDC and more.</a:t>
            </a:r>
            <a:endParaRPr lang="en-US" sz="1400" dirty="0"/>
          </a:p>
        </p:txBody>
      </p:sp>
      <p:sp>
        <p:nvSpPr>
          <p:cNvPr id="9" name="Flow arrow"/>
          <p:cNvSpPr/>
          <p:nvPr/>
        </p:nvSpPr>
        <p:spPr>
          <a:xfrm>
            <a:off x="2336292" y="2240280"/>
            <a:ext cx="201168" cy="237744"/>
          </a:xfrm>
          <a:prstGeom prst="rightArrow">
            <a:avLst/>
          </a:prstGeom>
          <a:solidFill>
            <a:schemeClr val="accent1"/>
          </a:solidFill>
          <a:ln/>
        </p:spPr>
      </p:sp>
      <p:sp>
        <p:nvSpPr>
          <p:cNvPr id="10" name="TinyFish step 2"/>
          <p:cNvSpPr/>
          <p:nvPr/>
        </p:nvSpPr>
        <p:spPr>
          <a:xfrm>
            <a:off x="2590770" y="1417320"/>
            <a:ext cx="1828800" cy="1920240"/>
          </a:xfrm>
          <a:prstGeom prst="roundRect">
            <a:avLst>
              <a:gd name="adj" fmla="val 5000"/>
            </a:avLst>
          </a:prstGeom>
          <a:solidFill>
            <a:schemeClr val="bg2"/>
          </a:solidFill>
          <a:ln/>
        </p:spPr>
      </p:sp>
      <p:sp>
        <p:nvSpPr>
          <p:cNvPr id="11" name="Step 2"/>
          <p:cNvSpPr txBox="1"/>
          <p:nvPr/>
        </p:nvSpPr>
        <p:spPr>
          <a:xfrm>
            <a:off x="2755362" y="1581912"/>
            <a:ext cx="365760" cy="365760"/>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2" name="Text 10"/>
          <p:cNvSpPr txBox="1"/>
          <p:nvPr/>
        </p:nvSpPr>
        <p:spPr>
          <a:xfrm>
            <a:off x="3230850" y="1581912"/>
            <a:ext cx="1097280" cy="365760"/>
          </a:xfrm>
          <a:prstGeom prst="rect">
            <a:avLst/>
          </a:prstGeom>
          <a:noFill/>
          <a:ln/>
        </p:spPr>
        <p:txBody>
          <a:bodyPr wrap="square" lIns="0" tIns="0" rIns="0" bIns="0" rtlCol="0" anchor="ctr"/>
          <a:lstStyle/>
          <a:p>
            <a:pPr marL="0" indent="0">
              <a:buNone/>
            </a:pPr>
            <a:r>
              <a:rPr lang="en-US" sz="1100" b="1" kern="0" spc="150" dirty="0">
                <a:solidFill>
                  <a:schemeClr val="accent2"/>
                </a:solidFill>
              </a:rPr>
              <a:t>FETCH API</a:t>
            </a:r>
            <a:endParaRPr lang="en-US" sz="1100" dirty="0"/>
          </a:p>
        </p:txBody>
      </p:sp>
      <p:sp>
        <p:nvSpPr>
          <p:cNvPr id="13" name="Text 11"/>
          <p:cNvSpPr txBox="1"/>
          <p:nvPr/>
        </p:nvSpPr>
        <p:spPr>
          <a:xfrm>
            <a:off x="2755362" y="2075688"/>
            <a:ext cx="1554480" cy="320040"/>
          </a:xfrm>
          <a:prstGeom prst="rect">
            <a:avLst/>
          </a:prstGeom>
          <a:noFill/>
          <a:ln/>
        </p:spPr>
        <p:txBody>
          <a:bodyPr wrap="square" lIns="0" tIns="0" rIns="0" bIns="0" rtlCol="0" anchor="t"/>
          <a:lstStyle/>
          <a:p>
            <a:pPr marL="0" indent="0">
              <a:buNone/>
            </a:pPr>
            <a:r>
              <a:rPr lang="en-US" sz="1800" b="1" dirty="0">
                <a:solidFill>
                  <a:schemeClr val="tx1"/>
                </a:solidFill>
              </a:rPr>
              <a:t>Read</a:t>
            </a:r>
            <a:endParaRPr lang="en-US" sz="1800" dirty="0"/>
          </a:p>
        </p:txBody>
      </p:sp>
      <p:sp>
        <p:nvSpPr>
          <p:cNvPr id="14" name="Text 12"/>
          <p:cNvSpPr txBox="1"/>
          <p:nvPr/>
        </p:nvSpPr>
        <p:spPr>
          <a:xfrm>
            <a:off x="2755362" y="2423160"/>
            <a:ext cx="1536192" cy="868680"/>
          </a:xfrm>
          <a:prstGeom prst="rect">
            <a:avLst/>
          </a:prstGeom>
          <a:noFill/>
          <a:ln/>
        </p:spPr>
        <p:txBody>
          <a:bodyPr wrap="square" lIns="0" tIns="0" rIns="0" bIns="0" rtlCol="0" anchor="t"/>
          <a:lstStyle/>
          <a:p>
            <a:pPr marL="0" indent="0">
              <a:buNone/>
            </a:pPr>
            <a:r>
              <a:rPr lang="en-US" sz="1400" dirty="0">
                <a:solidFill>
                  <a:schemeClr val="tx2"/>
                </a:solidFill>
              </a:rPr>
              <a:t>Report page to clean markdown, up to 10 URLs per call.</a:t>
            </a:r>
            <a:endParaRPr lang="en-US" sz="1400" dirty="0"/>
          </a:p>
        </p:txBody>
      </p:sp>
      <p:sp>
        <p:nvSpPr>
          <p:cNvPr id="15" name="Flow arrow"/>
          <p:cNvSpPr/>
          <p:nvPr/>
        </p:nvSpPr>
        <p:spPr>
          <a:xfrm>
            <a:off x="4469862" y="2240280"/>
            <a:ext cx="201168" cy="237744"/>
          </a:xfrm>
          <a:prstGeom prst="rightArrow">
            <a:avLst/>
          </a:prstGeom>
          <a:solidFill>
            <a:schemeClr val="accent1"/>
          </a:solidFill>
          <a:ln/>
        </p:spPr>
      </p:sp>
      <p:sp>
        <p:nvSpPr>
          <p:cNvPr id="16" name="TinyFish step 3"/>
          <p:cNvSpPr/>
          <p:nvPr/>
        </p:nvSpPr>
        <p:spPr>
          <a:xfrm>
            <a:off x="4724339" y="1417320"/>
            <a:ext cx="1828800" cy="1920240"/>
          </a:xfrm>
          <a:prstGeom prst="roundRect">
            <a:avLst>
              <a:gd name="adj" fmla="val 5000"/>
            </a:avLst>
          </a:prstGeom>
          <a:solidFill>
            <a:schemeClr val="bg2"/>
          </a:solidFill>
          <a:ln/>
        </p:spPr>
      </p:sp>
      <p:sp>
        <p:nvSpPr>
          <p:cNvPr id="17" name="Step 3"/>
          <p:cNvSpPr txBox="1"/>
          <p:nvPr/>
        </p:nvSpPr>
        <p:spPr>
          <a:xfrm>
            <a:off x="4888931" y="1581912"/>
            <a:ext cx="365760" cy="365760"/>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8" name="Text 16"/>
          <p:cNvSpPr txBox="1"/>
          <p:nvPr/>
        </p:nvSpPr>
        <p:spPr>
          <a:xfrm>
            <a:off x="5364419" y="1581912"/>
            <a:ext cx="1097280" cy="365760"/>
          </a:xfrm>
          <a:prstGeom prst="rect">
            <a:avLst/>
          </a:prstGeom>
          <a:noFill/>
          <a:ln/>
        </p:spPr>
        <p:txBody>
          <a:bodyPr wrap="square" lIns="0" tIns="0" rIns="0" bIns="0" rtlCol="0" anchor="ctr"/>
          <a:lstStyle/>
          <a:p>
            <a:pPr marL="0" indent="0">
              <a:buNone/>
            </a:pPr>
            <a:r>
              <a:rPr lang="en-US" sz="1100" b="1" kern="0" spc="150" dirty="0">
                <a:solidFill>
                  <a:schemeClr val="accent2"/>
                </a:solidFill>
              </a:rPr>
              <a:t>AGENT API</a:t>
            </a:r>
            <a:endParaRPr lang="en-US" sz="1100" dirty="0"/>
          </a:p>
        </p:txBody>
      </p:sp>
      <p:sp>
        <p:nvSpPr>
          <p:cNvPr id="19" name="Text 17"/>
          <p:cNvSpPr txBox="1"/>
          <p:nvPr/>
        </p:nvSpPr>
        <p:spPr>
          <a:xfrm>
            <a:off x="4888931" y="2075688"/>
            <a:ext cx="1554480" cy="320040"/>
          </a:xfrm>
          <a:prstGeom prst="rect">
            <a:avLst/>
          </a:prstGeom>
          <a:noFill/>
          <a:ln/>
        </p:spPr>
        <p:txBody>
          <a:bodyPr wrap="square" lIns="0" tIns="0" rIns="0" bIns="0" rtlCol="0" anchor="t"/>
          <a:lstStyle/>
          <a:p>
            <a:pPr marL="0" indent="0">
              <a:buNone/>
            </a:pPr>
            <a:r>
              <a:rPr lang="en-US" sz="1800" b="1" dirty="0">
                <a:solidFill>
                  <a:schemeClr val="tx1"/>
                </a:solidFill>
              </a:rPr>
              <a:t>Extract</a:t>
            </a:r>
            <a:endParaRPr lang="en-US" sz="1800" dirty="0"/>
          </a:p>
        </p:txBody>
      </p:sp>
      <p:sp>
        <p:nvSpPr>
          <p:cNvPr id="20" name="Text 18"/>
          <p:cNvSpPr txBox="1"/>
          <p:nvPr/>
        </p:nvSpPr>
        <p:spPr>
          <a:xfrm>
            <a:off x="4888931" y="2423160"/>
            <a:ext cx="1536192" cy="868680"/>
          </a:xfrm>
          <a:prstGeom prst="rect">
            <a:avLst/>
          </a:prstGeom>
          <a:noFill/>
          <a:ln/>
        </p:spPr>
        <p:txBody>
          <a:bodyPr wrap="square" lIns="0" tIns="0" rIns="0" bIns="0" rtlCol="0" anchor="t"/>
          <a:lstStyle/>
          <a:p>
            <a:pPr marL="0" indent="0">
              <a:buNone/>
            </a:pPr>
            <a:r>
              <a:rPr lang="en-US" sz="1400" dirty="0">
                <a:solidFill>
                  <a:schemeClr val="tx2"/>
                </a:solidFill>
              </a:rPr>
              <a:t>Goal and JSON schema in; counts, dates and quoted evidence out.</a:t>
            </a:r>
            <a:endParaRPr lang="en-US" sz="1400" dirty="0"/>
          </a:p>
        </p:txBody>
      </p:sp>
      <p:sp>
        <p:nvSpPr>
          <p:cNvPr id="21" name="Flow arrow"/>
          <p:cNvSpPr/>
          <p:nvPr/>
        </p:nvSpPr>
        <p:spPr>
          <a:xfrm>
            <a:off x="6603431" y="2240280"/>
            <a:ext cx="201168" cy="237744"/>
          </a:xfrm>
          <a:prstGeom prst="rightArrow">
            <a:avLst/>
          </a:prstGeom>
          <a:solidFill>
            <a:schemeClr val="accent1"/>
          </a:solidFill>
          <a:ln/>
        </p:spPr>
      </p:sp>
      <p:sp>
        <p:nvSpPr>
          <p:cNvPr id="22" name="TinyFish step 4"/>
          <p:cNvSpPr/>
          <p:nvPr/>
        </p:nvSpPr>
        <p:spPr>
          <a:xfrm>
            <a:off x="6857909" y="1417320"/>
            <a:ext cx="1828800" cy="1920240"/>
          </a:xfrm>
          <a:prstGeom prst="roundRect">
            <a:avLst>
              <a:gd name="adj" fmla="val 5000"/>
            </a:avLst>
          </a:prstGeom>
          <a:solidFill>
            <a:schemeClr val="tx1"/>
          </a:solidFill>
          <a:ln/>
        </p:spPr>
      </p:sp>
      <p:sp>
        <p:nvSpPr>
          <p:cNvPr id="23" name="Step 4"/>
          <p:cNvSpPr txBox="1"/>
          <p:nvPr/>
        </p:nvSpPr>
        <p:spPr>
          <a:xfrm>
            <a:off x="7022501" y="1581912"/>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4" name="Text 22"/>
          <p:cNvSpPr txBox="1"/>
          <p:nvPr/>
        </p:nvSpPr>
        <p:spPr>
          <a:xfrm>
            <a:off x="7497989" y="1581912"/>
            <a:ext cx="1097280" cy="365760"/>
          </a:xfrm>
          <a:prstGeom prst="rect">
            <a:avLst/>
          </a:prstGeom>
          <a:noFill/>
          <a:ln/>
        </p:spPr>
        <p:txBody>
          <a:bodyPr wrap="square" lIns="0" tIns="0" rIns="0" bIns="0" rtlCol="0" anchor="ctr"/>
          <a:lstStyle/>
          <a:p>
            <a:pPr marL="0" indent="0">
              <a:buNone/>
            </a:pPr>
            <a:r>
              <a:rPr lang="en-US" sz="1100" b="1" kern="0" spc="150" dirty="0">
                <a:solidFill>
                  <a:schemeClr val="accent5"/>
                </a:solidFill>
              </a:rPr>
              <a:t>OUR GATE</a:t>
            </a:r>
            <a:endParaRPr lang="en-US" sz="1100" dirty="0"/>
          </a:p>
        </p:txBody>
      </p:sp>
      <p:sp>
        <p:nvSpPr>
          <p:cNvPr id="25" name="Text 23"/>
          <p:cNvSpPr txBox="1"/>
          <p:nvPr/>
        </p:nvSpPr>
        <p:spPr>
          <a:xfrm>
            <a:off x="7022501" y="2075688"/>
            <a:ext cx="1554480" cy="320040"/>
          </a:xfrm>
          <a:prstGeom prst="rect">
            <a:avLst/>
          </a:prstGeom>
          <a:noFill/>
          <a:ln/>
        </p:spPr>
        <p:txBody>
          <a:bodyPr wrap="square" lIns="0" tIns="0" rIns="0" bIns="0" rtlCol="0" anchor="t"/>
          <a:lstStyle/>
          <a:p>
            <a:pPr marL="0" indent="0">
              <a:buNone/>
            </a:pPr>
            <a:r>
              <a:rPr lang="en-US" sz="1800" b="1" dirty="0">
                <a:solidFill>
                  <a:schemeClr val="bg1"/>
                </a:solidFill>
              </a:rPr>
              <a:t>Ground</a:t>
            </a:r>
            <a:endParaRPr lang="en-US" sz="1800" dirty="0"/>
          </a:p>
        </p:txBody>
      </p:sp>
      <p:sp>
        <p:nvSpPr>
          <p:cNvPr id="26" name="Text 24"/>
          <p:cNvSpPr txBox="1"/>
          <p:nvPr/>
        </p:nvSpPr>
        <p:spPr>
          <a:xfrm>
            <a:off x="7022501" y="2423160"/>
            <a:ext cx="1536192" cy="868680"/>
          </a:xfrm>
          <a:prstGeom prst="rect">
            <a:avLst/>
          </a:prstGeom>
          <a:noFill/>
          <a:ln/>
        </p:spPr>
        <p:txBody>
          <a:bodyPr wrap="square" lIns="0" tIns="0" rIns="0" bIns="0" rtlCol="0" anchor="t"/>
          <a:lstStyle/>
          <a:p>
            <a:pPr marL="0" indent="0">
              <a:buNone/>
            </a:pPr>
            <a:r>
              <a:rPr lang="en-US" sz="1400" dirty="0">
                <a:solidFill>
                  <a:schemeClr val="bg2"/>
                </a:solidFill>
              </a:rPr>
              <a:t>Each number must appear in the page text, or it is flagged.</a:t>
            </a:r>
            <a:endParaRPr lang="en-US" sz="1400" dirty="0"/>
          </a:p>
        </p:txBody>
      </p:sp>
      <p:sp>
        <p:nvSpPr>
          <p:cNvPr id="27" name="Resilience card"/>
          <p:cNvSpPr/>
          <p:nvPr/>
        </p:nvSpPr>
        <p:spPr>
          <a:xfrm>
            <a:off x="457200" y="3566160"/>
            <a:ext cx="3977640" cy="1051560"/>
          </a:xfrm>
          <a:prstGeom prst="roundRect">
            <a:avLst>
              <a:gd name="adj" fmla="val 8696"/>
            </a:avLst>
          </a:prstGeom>
          <a:solidFill>
            <a:schemeClr val="bg2"/>
          </a:solidFill>
          <a:ln/>
        </p:spPr>
      </p:sp>
      <p:sp>
        <p:nvSpPr>
          <p:cNvPr id="28" name="Text 26"/>
          <p:cNvSpPr txBox="1"/>
          <p:nvPr/>
        </p:nvSpPr>
        <p:spPr>
          <a:xfrm>
            <a:off x="640080" y="3657600"/>
            <a:ext cx="3611880" cy="256032"/>
          </a:xfrm>
          <a:prstGeom prst="rect">
            <a:avLst/>
          </a:prstGeom>
          <a:noFill/>
          <a:ln/>
        </p:spPr>
        <p:txBody>
          <a:bodyPr wrap="square" lIns="0" tIns="0" rIns="0" bIns="0" rtlCol="0" anchor="t"/>
          <a:lstStyle/>
          <a:p>
            <a:pPr marL="0" indent="0">
              <a:buNone/>
            </a:pPr>
            <a:r>
              <a:rPr lang="en-US" sz="1400" b="1" dirty="0">
                <a:solidFill>
                  <a:schemeClr val="accent1"/>
                </a:solidFill>
              </a:rPr>
              <a:t>Resilient by design</a:t>
            </a:r>
            <a:endParaRPr lang="en-US" sz="1400" dirty="0"/>
          </a:p>
        </p:txBody>
      </p:sp>
      <p:sp>
        <p:nvSpPr>
          <p:cNvPr id="29" name="Text 27"/>
          <p:cNvSpPr txBox="1"/>
          <p:nvPr/>
        </p:nvSpPr>
        <p:spPr>
          <a:xfrm>
            <a:off x="640080" y="3931920"/>
            <a:ext cx="3611880" cy="658368"/>
          </a:xfrm>
          <a:prstGeom prst="rect">
            <a:avLst/>
          </a:prstGeom>
          <a:noFill/>
          <a:ln/>
        </p:spPr>
        <p:txBody>
          <a:bodyPr wrap="square" lIns="0" tIns="0" rIns="0" bIns="0" rtlCol="0" anchor="t"/>
          <a:lstStyle/>
          <a:p>
            <a:pPr marL="0" indent="0">
              <a:buNone/>
            </a:pPr>
            <a:r>
              <a:rPr lang="en-US" sz="1400" dirty="0">
                <a:solidFill>
                  <a:schemeClr val="tx1"/>
                </a:solidFill>
              </a:rPr>
              <a:t>No key, no credits or a failed run? Ingestion falls back to Fetch, then to the WHO API text. It never stops.</a:t>
            </a:r>
            <a:endParaRPr lang="en-US" sz="1400" dirty="0"/>
          </a:p>
        </p:txBody>
      </p:sp>
      <p:sp>
        <p:nvSpPr>
          <p:cNvPr id="30" name="Next card"/>
          <p:cNvSpPr/>
          <p:nvPr/>
        </p:nvSpPr>
        <p:spPr>
          <a:xfrm>
            <a:off x="4709160" y="3566160"/>
            <a:ext cx="3977640" cy="1051560"/>
          </a:xfrm>
          <a:prstGeom prst="roundRect">
            <a:avLst>
              <a:gd name="adj" fmla="val 8696"/>
            </a:avLst>
          </a:prstGeom>
          <a:solidFill>
            <a:schemeClr val="bg2"/>
          </a:solidFill>
          <a:ln/>
        </p:spPr>
      </p:sp>
      <p:sp>
        <p:nvSpPr>
          <p:cNvPr id="31" name="Text 29"/>
          <p:cNvSpPr txBox="1"/>
          <p:nvPr/>
        </p:nvSpPr>
        <p:spPr>
          <a:xfrm>
            <a:off x="4892040" y="3657600"/>
            <a:ext cx="3611880" cy="256032"/>
          </a:xfrm>
          <a:prstGeom prst="rect">
            <a:avLst/>
          </a:prstGeom>
          <a:noFill/>
          <a:ln/>
        </p:spPr>
        <p:txBody>
          <a:bodyPr wrap="square" lIns="0" tIns="0" rIns="0" bIns="0" rtlCol="0" anchor="t"/>
          <a:lstStyle/>
          <a:p>
            <a:pPr marL="0" indent="0">
              <a:buNone/>
            </a:pPr>
            <a:r>
              <a:rPr lang="en-US" sz="1400" b="1" dirty="0">
                <a:solidFill>
                  <a:schemeClr val="accent1"/>
                </a:solidFill>
              </a:rPr>
              <a:t>Next with TinyFish</a:t>
            </a:r>
            <a:endParaRPr lang="en-US" sz="1400" dirty="0"/>
          </a:p>
        </p:txBody>
      </p:sp>
      <p:sp>
        <p:nvSpPr>
          <p:cNvPr id="32" name="Text 30"/>
          <p:cNvSpPr txBox="1"/>
          <p:nvPr/>
        </p:nvSpPr>
        <p:spPr>
          <a:xfrm>
            <a:off x="4892040" y="3931920"/>
            <a:ext cx="3611880" cy="658368"/>
          </a:xfrm>
          <a:prstGeom prst="rect">
            <a:avLst/>
          </a:prstGeom>
          <a:noFill/>
          <a:ln/>
        </p:spPr>
        <p:txBody>
          <a:bodyPr wrap="square" lIns="0" tIns="0" rIns="0" bIns="0" rtlCol="0" anchor="t"/>
          <a:lstStyle/>
          <a:p>
            <a:pPr marL="0" indent="0">
              <a:buNone/>
            </a:pPr>
            <a:r>
              <a:rPr lang="en-US" sz="1400" dirty="0">
                <a:solidFill>
                  <a:schemeClr val="tx1"/>
                </a:solidFill>
              </a:rPr>
              <a:t>Monitor webhooks trigger ingestion on new reports; an Agent reads border-entry rules for screening (σ), human-confirmed.</a:t>
            </a:r>
            <a:endParaRPr lang="en-US" sz="1400" dirty="0"/>
          </a:p>
        </p:txBody>
      </p:sp>
      <p:sp>
        <p:nvSpPr>
          <p:cNvPr id="33"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47472"/>
            <a:ext cx="82296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05  ·  TINYFISH API INTEGRATION  ·  TRUST GATE</a:t>
            </a:r>
            <a:endParaRPr lang="en-US" sz="1200" dirty="0"/>
          </a:p>
        </p:txBody>
      </p:sp>
      <p:sp>
        <p:nvSpPr>
          <p:cNvPr id="3" name="Text 1"/>
          <p:cNvSpPr>
            <a:spLocks noGrp="1"/>
          </p:cNvSpPr>
          <p:nvPr>
            <p:ph type="title" idx="102" hasCustomPrompt="1"/>
          </p:nvPr>
        </p:nvSpPr>
        <p:spPr>
          <a:xfrm>
            <a:off x="457200" y="621792"/>
            <a:ext cx="8229600" cy="640080"/>
          </a:xfrm>
          <a:prstGeom prst="rect">
            <a:avLst/>
          </a:prstGeom>
          <a:noFill/>
          <a:ln/>
        </p:spPr>
        <p:txBody>
          <a:bodyPr wrap="square" lIns="0" tIns="0" rIns="0" bIns="0" rtlCol="0" anchor="ctr"/>
          <a:lstStyle/>
          <a:p>
            <a:pPr marL="0" indent="0" algn="l">
              <a:buNone/>
            </a:pPr>
            <a:r>
              <a:rPr lang="en-US" sz="3200" b="1" dirty="0">
                <a:solidFill>
                  <a:schemeClr val="tx1"/>
                </a:solidFill>
              </a:rPr>
              <a:t>Extraction is not the same as truth</a:t>
            </a:r>
            <a:endParaRPr lang="en-US" sz="3200" dirty="0"/>
          </a:p>
        </p:txBody>
      </p:sp>
      <p:sp>
        <p:nvSpPr>
          <p:cNvPr id="4" name="Stat panel"/>
          <p:cNvSpPr/>
          <p:nvPr/>
        </p:nvSpPr>
        <p:spPr>
          <a:xfrm>
            <a:off x="457200" y="1417320"/>
            <a:ext cx="2926080" cy="3154680"/>
          </a:xfrm>
          <a:prstGeom prst="roundRect">
            <a:avLst>
              <a:gd name="adj" fmla="val 3750"/>
            </a:avLst>
          </a:prstGeom>
          <a:solidFill>
            <a:schemeClr val="tx1"/>
          </a:solidFill>
          <a:ln/>
        </p:spPr>
      </p:sp>
      <p:sp>
        <p:nvSpPr>
          <p:cNvPr id="5" name="Text 3"/>
          <p:cNvSpPr txBox="1"/>
          <p:nvPr/>
        </p:nvSpPr>
        <p:spPr>
          <a:xfrm>
            <a:off x="685800" y="1691640"/>
            <a:ext cx="2468880" cy="868680"/>
          </a:xfrm>
          <a:prstGeom prst="rect">
            <a:avLst/>
          </a:prstGeom>
          <a:noFill/>
          <a:ln/>
        </p:spPr>
        <p:txBody>
          <a:bodyPr wrap="square" lIns="0" tIns="0" rIns="0" bIns="0" rtlCol="0" anchor="ctr"/>
          <a:lstStyle/>
          <a:p>
            <a:pPr marL="0" indent="0">
              <a:buNone/>
            </a:pPr>
            <a:r>
              <a:rPr lang="en-US" sz="5400" b="1" dirty="0">
                <a:solidFill>
                  <a:schemeClr val="bg1"/>
                </a:solidFill>
                <a:latin typeface="+mj-lt" pitchFamily="34" charset="0"/>
                <a:ea typeface="+mj-lt" pitchFamily="34" charset="-122"/>
                <a:cs typeface="+mj-lt" pitchFamily="34" charset="-120"/>
              </a:rPr>
              <a:t>1 of 8</a:t>
            </a:r>
            <a:endParaRPr lang="en-US" sz="5400" dirty="0"/>
          </a:p>
        </p:txBody>
      </p:sp>
      <p:sp>
        <p:nvSpPr>
          <p:cNvPr id="6" name="Text 4"/>
          <p:cNvSpPr txBox="1"/>
          <p:nvPr/>
        </p:nvSpPr>
        <p:spPr>
          <a:xfrm>
            <a:off x="685800" y="2697480"/>
            <a:ext cx="2468880" cy="1005840"/>
          </a:xfrm>
          <a:prstGeom prst="rect">
            <a:avLst/>
          </a:prstGeom>
          <a:noFill/>
          <a:ln/>
        </p:spPr>
        <p:txBody>
          <a:bodyPr wrap="square" lIns="0" tIns="0" rIns="0" bIns="0" rtlCol="0" anchor="t"/>
          <a:lstStyle/>
          <a:p>
            <a:pPr marL="0" indent="0">
              <a:buNone/>
            </a:pPr>
            <a:r>
              <a:rPr lang="en-US" sz="1400" dirty="0">
                <a:solidFill>
                  <a:schemeClr val="accent5"/>
                </a:solidFill>
              </a:rPr>
              <a:t>rows from a real TinyFish Agent run on WHO report DON622 survived unchanged.</a:t>
            </a:r>
            <a:endParaRPr lang="en-US" sz="1400" dirty="0"/>
          </a:p>
        </p:txBody>
      </p:sp>
      <p:sp>
        <p:nvSpPr>
          <p:cNvPr id="7" name="Text 5"/>
          <p:cNvSpPr txBox="1"/>
          <p:nvPr/>
        </p:nvSpPr>
        <p:spPr>
          <a:xfrm>
            <a:off x="685800" y="3840480"/>
            <a:ext cx="2468880" cy="548640"/>
          </a:xfrm>
          <a:prstGeom prst="rect">
            <a:avLst/>
          </a:prstGeom>
          <a:noFill/>
          <a:ln/>
        </p:spPr>
        <p:txBody>
          <a:bodyPr wrap="square" lIns="0" tIns="0" rIns="0" bIns="0" rtlCol="0" anchor="t"/>
          <a:lstStyle/>
          <a:p>
            <a:pPr marL="0" indent="0">
              <a:buNone/>
            </a:pPr>
            <a:r>
              <a:rPr lang="en-US" sz="1400" b="1" i="1" dirty="0">
                <a:solidFill>
                  <a:schemeClr val="bg1"/>
                </a:solidFill>
              </a:rPr>
              <a:t>Well-formed JSON is not correct JSON.</a:t>
            </a:r>
            <a:endParaRPr lang="en-US" sz="1400" dirty="0"/>
          </a:p>
        </p:txBody>
      </p:sp>
      <p:sp>
        <p:nvSpPr>
          <p:cNvPr id="8" name="Check card 1"/>
          <p:cNvSpPr/>
          <p:nvPr/>
        </p:nvSpPr>
        <p:spPr>
          <a:xfrm>
            <a:off x="3657600" y="1417320"/>
            <a:ext cx="5029200" cy="603504"/>
          </a:xfrm>
          <a:prstGeom prst="roundRect">
            <a:avLst>
              <a:gd name="adj" fmla="val 15152"/>
            </a:avLst>
          </a:prstGeom>
          <a:solidFill>
            <a:schemeClr val="bg2"/>
          </a:solidFill>
          <a:ln/>
        </p:spPr>
      </p:sp>
      <p:sp>
        <p:nvSpPr>
          <p:cNvPr id="9" name="Step 1"/>
          <p:cNvSpPr txBox="1"/>
          <p:nvPr/>
        </p:nvSpPr>
        <p:spPr>
          <a:xfrm>
            <a:off x="3794760" y="1536192"/>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0" name="Text 8"/>
          <p:cNvSpPr txBox="1"/>
          <p:nvPr/>
        </p:nvSpPr>
        <p:spPr>
          <a:xfrm>
            <a:off x="4343400" y="1472184"/>
            <a:ext cx="4206240" cy="256032"/>
          </a:xfrm>
          <a:prstGeom prst="rect">
            <a:avLst/>
          </a:prstGeom>
          <a:noFill/>
          <a:ln/>
        </p:spPr>
        <p:txBody>
          <a:bodyPr wrap="square" lIns="0" tIns="0" rIns="0" bIns="0" rtlCol="0" anchor="t"/>
          <a:lstStyle/>
          <a:p>
            <a:pPr marL="0" indent="0">
              <a:buNone/>
            </a:pPr>
            <a:r>
              <a:rPr lang="en-US" sz="1400" b="1" dirty="0">
                <a:solidFill>
                  <a:schemeClr val="tx1"/>
                </a:solidFill>
              </a:rPr>
              <a:t>The quote is in the page</a:t>
            </a:r>
            <a:endParaRPr lang="en-US" sz="1400" dirty="0"/>
          </a:p>
        </p:txBody>
      </p:sp>
      <p:sp>
        <p:nvSpPr>
          <p:cNvPr id="11" name="Text 9"/>
          <p:cNvSpPr txBox="1"/>
          <p:nvPr/>
        </p:nvSpPr>
        <p:spPr>
          <a:xfrm>
            <a:off x="4343400" y="1737360"/>
            <a:ext cx="4206240" cy="228600"/>
          </a:xfrm>
          <a:prstGeom prst="rect">
            <a:avLst/>
          </a:prstGeom>
          <a:noFill/>
          <a:ln/>
        </p:spPr>
        <p:txBody>
          <a:bodyPr wrap="square" lIns="0" tIns="0" rIns="0" bIns="0" rtlCol="0" anchor="t"/>
          <a:lstStyle/>
          <a:p>
            <a:pPr marL="0" indent="0">
              <a:buNone/>
            </a:pPr>
            <a:r>
              <a:rPr lang="en-US" sz="1200" dirty="0">
                <a:solidFill>
                  <a:schemeClr val="tx2"/>
                </a:solidFill>
              </a:rPr>
              <a:t>Catches invented evidence sentences</a:t>
            </a:r>
            <a:endParaRPr lang="en-US" sz="1200" dirty="0"/>
          </a:p>
        </p:txBody>
      </p:sp>
      <p:sp>
        <p:nvSpPr>
          <p:cNvPr id="12" name="Check card 2"/>
          <p:cNvSpPr/>
          <p:nvPr/>
        </p:nvSpPr>
        <p:spPr>
          <a:xfrm>
            <a:off x="3657600" y="2103120"/>
            <a:ext cx="5029200" cy="603504"/>
          </a:xfrm>
          <a:prstGeom prst="roundRect">
            <a:avLst>
              <a:gd name="adj" fmla="val 15152"/>
            </a:avLst>
          </a:prstGeom>
          <a:solidFill>
            <a:schemeClr val="bg2"/>
          </a:solidFill>
          <a:ln/>
        </p:spPr>
      </p:sp>
      <p:sp>
        <p:nvSpPr>
          <p:cNvPr id="13" name="Step 2"/>
          <p:cNvSpPr txBox="1"/>
          <p:nvPr/>
        </p:nvSpPr>
        <p:spPr>
          <a:xfrm>
            <a:off x="3794760" y="2221992"/>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4" name="Text 12"/>
          <p:cNvSpPr txBox="1"/>
          <p:nvPr/>
        </p:nvSpPr>
        <p:spPr>
          <a:xfrm>
            <a:off x="4343400" y="2157984"/>
            <a:ext cx="4206240" cy="256032"/>
          </a:xfrm>
          <a:prstGeom prst="rect">
            <a:avLst/>
          </a:prstGeom>
          <a:noFill/>
          <a:ln/>
        </p:spPr>
        <p:txBody>
          <a:bodyPr wrap="square" lIns="0" tIns="0" rIns="0" bIns="0" rtlCol="0" anchor="t"/>
          <a:lstStyle/>
          <a:p>
            <a:pPr marL="0" indent="0">
              <a:buNone/>
            </a:pPr>
            <a:r>
              <a:rPr lang="en-US" sz="1400" b="1" dirty="0">
                <a:solidFill>
                  <a:schemeClr val="tx1"/>
                </a:solidFill>
              </a:rPr>
              <a:t>The number is in the page</a:t>
            </a:r>
            <a:endParaRPr lang="en-US" sz="1400" dirty="0"/>
          </a:p>
        </p:txBody>
      </p:sp>
      <p:sp>
        <p:nvSpPr>
          <p:cNvPr id="15" name="Text 13"/>
          <p:cNvSpPr txBox="1"/>
          <p:nvPr/>
        </p:nvSpPr>
        <p:spPr>
          <a:xfrm>
            <a:off x="4343400" y="2423160"/>
            <a:ext cx="4206240" cy="228600"/>
          </a:xfrm>
          <a:prstGeom prst="rect">
            <a:avLst/>
          </a:prstGeom>
          <a:noFill/>
          <a:ln/>
        </p:spPr>
        <p:txBody>
          <a:bodyPr wrap="square" lIns="0" tIns="0" rIns="0" bIns="0" rtlCol="0" anchor="t"/>
          <a:lstStyle/>
          <a:p>
            <a:pPr marL="0" indent="0">
              <a:buNone/>
            </a:pPr>
            <a:r>
              <a:rPr lang="en-US" sz="1200" dirty="0">
                <a:solidFill>
                  <a:schemeClr val="tx2"/>
                </a:solidFill>
              </a:rPr>
              <a:t>Catches fabricated figures, such as 9291 suspected cases</a:t>
            </a:r>
            <a:endParaRPr lang="en-US" sz="1200" dirty="0"/>
          </a:p>
        </p:txBody>
      </p:sp>
      <p:sp>
        <p:nvSpPr>
          <p:cNvPr id="16" name="Check card 3"/>
          <p:cNvSpPr/>
          <p:nvPr/>
        </p:nvSpPr>
        <p:spPr>
          <a:xfrm>
            <a:off x="3657600" y="2788920"/>
            <a:ext cx="5029200" cy="603504"/>
          </a:xfrm>
          <a:prstGeom prst="roundRect">
            <a:avLst>
              <a:gd name="adj" fmla="val 15152"/>
            </a:avLst>
          </a:prstGeom>
          <a:solidFill>
            <a:schemeClr val="bg2"/>
          </a:solidFill>
          <a:ln/>
        </p:spPr>
      </p:sp>
      <p:sp>
        <p:nvSpPr>
          <p:cNvPr id="17" name="Step 3"/>
          <p:cNvSpPr txBox="1"/>
          <p:nvPr/>
        </p:nvSpPr>
        <p:spPr>
          <a:xfrm>
            <a:off x="3794760" y="2907792"/>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8" name="Text 16"/>
          <p:cNvSpPr txBox="1"/>
          <p:nvPr/>
        </p:nvSpPr>
        <p:spPr>
          <a:xfrm>
            <a:off x="4343400" y="2843784"/>
            <a:ext cx="4206240" cy="256032"/>
          </a:xfrm>
          <a:prstGeom prst="rect">
            <a:avLst/>
          </a:prstGeom>
          <a:noFill/>
          <a:ln/>
        </p:spPr>
        <p:txBody>
          <a:bodyPr wrap="square" lIns="0" tIns="0" rIns="0" bIns="0" rtlCol="0" anchor="t"/>
          <a:lstStyle/>
          <a:p>
            <a:pPr marL="0" indent="0">
              <a:buNone/>
            </a:pPr>
            <a:r>
              <a:rPr lang="en-US" sz="1400" b="1" dirty="0">
                <a:solidFill>
                  <a:schemeClr val="tx1"/>
                </a:solidFill>
              </a:rPr>
              <a:t>The number is in its own sentence</a:t>
            </a:r>
            <a:endParaRPr lang="en-US" sz="1400" dirty="0"/>
          </a:p>
        </p:txBody>
      </p:sp>
      <p:sp>
        <p:nvSpPr>
          <p:cNvPr id="19" name="Text 17"/>
          <p:cNvSpPr txBox="1"/>
          <p:nvPr/>
        </p:nvSpPr>
        <p:spPr>
          <a:xfrm>
            <a:off x="4343400" y="3108960"/>
            <a:ext cx="4206240" cy="228600"/>
          </a:xfrm>
          <a:prstGeom prst="rect">
            <a:avLst/>
          </a:prstGeom>
          <a:noFill/>
          <a:ln/>
        </p:spPr>
        <p:txBody>
          <a:bodyPr wrap="square" lIns="0" tIns="0" rIns="0" bIns="0" rtlCol="0" anchor="t"/>
          <a:lstStyle/>
          <a:p>
            <a:pPr marL="0" indent="0">
              <a:buNone/>
            </a:pPr>
            <a:r>
              <a:rPr lang="en-US" sz="1200" dirty="0">
                <a:solidFill>
                  <a:schemeClr val="tx2"/>
                </a:solidFill>
              </a:rPr>
              <a:t>Catches figures borrowed from elsewhere on the page</a:t>
            </a:r>
            <a:endParaRPr lang="en-US" sz="1200" dirty="0"/>
          </a:p>
        </p:txBody>
      </p:sp>
      <p:sp>
        <p:nvSpPr>
          <p:cNvPr id="20" name="Check card 4"/>
          <p:cNvSpPr/>
          <p:nvPr/>
        </p:nvSpPr>
        <p:spPr>
          <a:xfrm>
            <a:off x="3657600" y="3474720"/>
            <a:ext cx="5029200" cy="603504"/>
          </a:xfrm>
          <a:prstGeom prst="roundRect">
            <a:avLst>
              <a:gd name="adj" fmla="val 15152"/>
            </a:avLst>
          </a:prstGeom>
          <a:solidFill>
            <a:schemeClr val="bg2"/>
          </a:solidFill>
          <a:ln/>
        </p:spPr>
      </p:sp>
      <p:sp>
        <p:nvSpPr>
          <p:cNvPr id="21" name="Step 4"/>
          <p:cNvSpPr txBox="1"/>
          <p:nvPr/>
        </p:nvSpPr>
        <p:spPr>
          <a:xfrm>
            <a:off x="3794760" y="3593592"/>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2" name="Text 20"/>
          <p:cNvSpPr txBox="1"/>
          <p:nvPr/>
        </p:nvSpPr>
        <p:spPr>
          <a:xfrm>
            <a:off x="4343400" y="3529584"/>
            <a:ext cx="4206240" cy="256032"/>
          </a:xfrm>
          <a:prstGeom prst="rect">
            <a:avLst/>
          </a:prstGeom>
          <a:noFill/>
          <a:ln/>
        </p:spPr>
        <p:txBody>
          <a:bodyPr wrap="square" lIns="0" tIns="0" rIns="0" bIns="0" rtlCol="0" anchor="t"/>
          <a:lstStyle/>
          <a:p>
            <a:pPr marL="0" indent="0">
              <a:buNone/>
            </a:pPr>
            <a:r>
              <a:rPr lang="en-US" sz="1400" b="1" dirty="0">
                <a:solidFill>
                  <a:schemeClr val="tx1"/>
                </a:solidFill>
              </a:rPr>
              <a:t>A matching label sits next to it</a:t>
            </a:r>
            <a:endParaRPr lang="en-US" sz="1400" dirty="0"/>
          </a:p>
        </p:txBody>
      </p:sp>
      <p:sp>
        <p:nvSpPr>
          <p:cNvPr id="23" name="Text 21"/>
          <p:cNvSpPr txBox="1"/>
          <p:nvPr/>
        </p:nvSpPr>
        <p:spPr>
          <a:xfrm>
            <a:off x="4343400" y="3794760"/>
            <a:ext cx="4206240" cy="228600"/>
          </a:xfrm>
          <a:prstGeom prst="rect">
            <a:avLst/>
          </a:prstGeom>
          <a:noFill/>
          <a:ln/>
        </p:spPr>
        <p:txBody>
          <a:bodyPr wrap="square" lIns="0" tIns="0" rIns="0" bIns="0" rtlCol="0" anchor="t"/>
          <a:lstStyle/>
          <a:p>
            <a:pPr marL="0" indent="0">
              <a:buNone/>
            </a:pPr>
            <a:r>
              <a:rPr lang="en-US" sz="1200" dirty="0">
                <a:solidFill>
                  <a:schemeClr val="tx2"/>
                </a:solidFill>
              </a:rPr>
              <a:t>Catches recoveries read as cases, and deaths and cases swapped</a:t>
            </a:r>
            <a:endParaRPr lang="en-US" sz="1200" dirty="0"/>
          </a:p>
        </p:txBody>
      </p:sp>
      <p:sp>
        <p:nvSpPr>
          <p:cNvPr id="24" name="Text 22"/>
          <p:cNvSpPr txBox="1"/>
          <p:nvPr/>
        </p:nvSpPr>
        <p:spPr>
          <a:xfrm>
            <a:off x="3657600" y="4224528"/>
            <a:ext cx="5029200" cy="347472"/>
          </a:xfrm>
          <a:prstGeom prst="rect">
            <a:avLst/>
          </a:prstGeom>
          <a:noFill/>
          <a:ln/>
        </p:spPr>
        <p:txBody>
          <a:bodyPr wrap="square" lIns="0" tIns="0" rIns="0" bIns="0" rtlCol="0" anchor="ctr"/>
          <a:lstStyle/>
          <a:p>
            <a:pPr marL="0" indent="0">
              <a:buNone/>
            </a:pPr>
            <a:r>
              <a:rPr lang="en-US" sz="1400" b="1" dirty="0">
                <a:solidFill>
                  <a:schemeClr val="tx1"/>
                </a:solidFill>
              </a:rPr>
              <a:t>Failed rows are flagged “unverified” and never reach the model.</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47472"/>
            <a:ext cx="82296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06  ·  SCALABILITY, FEASIBILITY &amp; USE CASE</a:t>
            </a:r>
            <a:endParaRPr lang="en-US" sz="1200" dirty="0"/>
          </a:p>
        </p:txBody>
      </p:sp>
      <p:sp>
        <p:nvSpPr>
          <p:cNvPr id="3" name="Text 1"/>
          <p:cNvSpPr>
            <a:spLocks noGrp="1"/>
          </p:cNvSpPr>
          <p:nvPr>
            <p:ph type="title" idx="102" hasCustomPrompt="1"/>
          </p:nvPr>
        </p:nvSpPr>
        <p:spPr>
          <a:xfrm>
            <a:off x="457200" y="621792"/>
            <a:ext cx="8229600" cy="640080"/>
          </a:xfrm>
          <a:prstGeom prst="rect">
            <a:avLst/>
          </a:prstGeom>
          <a:noFill/>
          <a:ln/>
        </p:spPr>
        <p:txBody>
          <a:bodyPr wrap="square" lIns="0" tIns="0" rIns="0" bIns="0" rtlCol="0" anchor="ctr"/>
          <a:lstStyle/>
          <a:p>
            <a:pPr marL="0" indent="0" algn="l">
              <a:buNone/>
            </a:pPr>
            <a:r>
              <a:rPr lang="en-US" sz="3200" b="1" dirty="0">
                <a:solidFill>
                  <a:schemeClr val="tx1"/>
                </a:solidFill>
              </a:rPr>
              <a:t>Feasible today, ready to scale</a:t>
            </a:r>
            <a:endParaRPr lang="en-US" sz="3200" dirty="0"/>
          </a:p>
        </p:txBody>
      </p:sp>
      <p:sp>
        <p:nvSpPr>
          <p:cNvPr id="4" name="Text 2"/>
          <p:cNvSpPr txBox="1"/>
          <p:nvPr/>
        </p:nvSpPr>
        <p:spPr>
          <a:xfrm>
            <a:off x="457200" y="1371600"/>
            <a:ext cx="2743200" cy="228600"/>
          </a:xfrm>
          <a:prstGeom prst="rect">
            <a:avLst/>
          </a:prstGeom>
          <a:noFill/>
          <a:ln/>
        </p:spPr>
        <p:txBody>
          <a:bodyPr wrap="square" lIns="0" tIns="0" rIns="0" bIns="0" rtlCol="0" anchor="t"/>
          <a:lstStyle/>
          <a:p>
            <a:pPr marL="0" indent="0">
              <a:buNone/>
            </a:pPr>
            <a:r>
              <a:rPr lang="en-US" sz="1100" b="1" kern="0" spc="150" dirty="0">
                <a:solidFill>
                  <a:schemeClr val="accent1"/>
                </a:solidFill>
              </a:rPr>
              <a:t>USE CASE</a:t>
            </a:r>
            <a:endParaRPr lang="en-US" sz="1100" dirty="0"/>
          </a:p>
        </p:txBody>
      </p:sp>
      <p:sp>
        <p:nvSpPr>
          <p:cNvPr id="5" name="Use case step 1"/>
          <p:cNvSpPr/>
          <p:nvPr/>
        </p:nvSpPr>
        <p:spPr>
          <a:xfrm>
            <a:off x="457200" y="1664208"/>
            <a:ext cx="1828800" cy="960120"/>
          </a:xfrm>
          <a:prstGeom prst="roundRect">
            <a:avLst>
              <a:gd name="adj" fmla="val 9524"/>
            </a:avLst>
          </a:prstGeom>
          <a:solidFill>
            <a:schemeClr val="bg2"/>
          </a:solidFill>
          <a:ln/>
        </p:spPr>
      </p:sp>
      <p:sp>
        <p:nvSpPr>
          <p:cNvPr id="6" name="Step 1"/>
          <p:cNvSpPr txBox="1"/>
          <p:nvPr/>
        </p:nvSpPr>
        <p:spPr>
          <a:xfrm>
            <a:off x="594360" y="1979676"/>
            <a:ext cx="329184" cy="329184"/>
          </a:xfrm>
          <a:prstGeom prst="ellipse">
            <a:avLst/>
          </a:prstGeom>
          <a:solidFill>
            <a:schemeClr val="tx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Text 5"/>
          <p:cNvSpPr txBox="1"/>
          <p:nvPr/>
        </p:nvSpPr>
        <p:spPr>
          <a:xfrm>
            <a:off x="1005840" y="1755648"/>
            <a:ext cx="1207008" cy="804672"/>
          </a:xfrm>
          <a:prstGeom prst="rect">
            <a:avLst/>
          </a:prstGeom>
          <a:noFill/>
          <a:ln/>
        </p:spPr>
        <p:txBody>
          <a:bodyPr wrap="square" lIns="0" tIns="0" rIns="0" bIns="0" rtlCol="0" anchor="ctr"/>
          <a:lstStyle/>
          <a:p>
            <a:pPr marL="0" indent="0">
              <a:buNone/>
            </a:pPr>
            <a:r>
              <a:rPr lang="en-US" sz="1200" dirty="0">
                <a:solidFill>
                  <a:schemeClr val="tx1"/>
                </a:solidFill>
              </a:rPr>
              <a:t>WHO and other credible websites post a new outbreak report</a:t>
            </a:r>
            <a:endParaRPr lang="en-US" sz="1200" dirty="0"/>
          </a:p>
        </p:txBody>
      </p:sp>
      <p:sp>
        <p:nvSpPr>
          <p:cNvPr id="8" name="Flow arrow"/>
          <p:cNvSpPr/>
          <p:nvPr/>
        </p:nvSpPr>
        <p:spPr>
          <a:xfrm>
            <a:off x="2336292" y="2029968"/>
            <a:ext cx="201168" cy="237744"/>
          </a:xfrm>
          <a:prstGeom prst="rightArrow">
            <a:avLst/>
          </a:prstGeom>
          <a:solidFill>
            <a:schemeClr val="accent1"/>
          </a:solidFill>
          <a:ln/>
        </p:spPr>
      </p:sp>
      <p:sp>
        <p:nvSpPr>
          <p:cNvPr id="9" name="Use case step 2"/>
          <p:cNvSpPr/>
          <p:nvPr/>
        </p:nvSpPr>
        <p:spPr>
          <a:xfrm>
            <a:off x="2590770" y="1664208"/>
            <a:ext cx="1828800" cy="960120"/>
          </a:xfrm>
          <a:prstGeom prst="roundRect">
            <a:avLst>
              <a:gd name="adj" fmla="val 9524"/>
            </a:avLst>
          </a:prstGeom>
          <a:solidFill>
            <a:schemeClr val="bg2"/>
          </a:solidFill>
          <a:ln/>
        </p:spPr>
      </p:sp>
      <p:sp>
        <p:nvSpPr>
          <p:cNvPr id="10" name="Step 2"/>
          <p:cNvSpPr txBox="1"/>
          <p:nvPr/>
        </p:nvSpPr>
        <p:spPr>
          <a:xfrm>
            <a:off x="2727930" y="1979676"/>
            <a:ext cx="329184" cy="329184"/>
          </a:xfrm>
          <a:prstGeom prst="ellipse">
            <a:avLst/>
          </a:prstGeom>
          <a:solidFill>
            <a:schemeClr val="tx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Text 9"/>
          <p:cNvSpPr txBox="1"/>
          <p:nvPr/>
        </p:nvSpPr>
        <p:spPr>
          <a:xfrm>
            <a:off x="3139410" y="1755648"/>
            <a:ext cx="1207008" cy="804672"/>
          </a:xfrm>
          <a:prstGeom prst="rect">
            <a:avLst/>
          </a:prstGeom>
          <a:noFill/>
          <a:ln/>
        </p:spPr>
        <p:txBody>
          <a:bodyPr wrap="square" lIns="0" tIns="0" rIns="0" bIns="0" rtlCol="0" anchor="ctr"/>
          <a:lstStyle/>
          <a:p>
            <a:pPr marL="0" indent="0">
              <a:buNone/>
            </a:pPr>
            <a:r>
              <a:rPr lang="en-US" sz="1200" dirty="0">
                <a:solidFill>
                  <a:schemeClr val="tx1"/>
                </a:solidFill>
              </a:rPr>
              <a:t>TinyFish reads and extracts it</a:t>
            </a:r>
            <a:endParaRPr lang="en-US" sz="1200" dirty="0"/>
          </a:p>
        </p:txBody>
      </p:sp>
      <p:sp>
        <p:nvSpPr>
          <p:cNvPr id="12" name="Flow arrow"/>
          <p:cNvSpPr/>
          <p:nvPr/>
        </p:nvSpPr>
        <p:spPr>
          <a:xfrm>
            <a:off x="4469862" y="2029968"/>
            <a:ext cx="201168" cy="237744"/>
          </a:xfrm>
          <a:prstGeom prst="rightArrow">
            <a:avLst/>
          </a:prstGeom>
          <a:solidFill>
            <a:schemeClr val="accent1"/>
          </a:solidFill>
          <a:ln/>
        </p:spPr>
      </p:sp>
      <p:sp>
        <p:nvSpPr>
          <p:cNvPr id="13" name="Use case step 3"/>
          <p:cNvSpPr/>
          <p:nvPr/>
        </p:nvSpPr>
        <p:spPr>
          <a:xfrm>
            <a:off x="4724339" y="1664208"/>
            <a:ext cx="1828800" cy="960120"/>
          </a:xfrm>
          <a:prstGeom prst="roundRect">
            <a:avLst>
              <a:gd name="adj" fmla="val 9524"/>
            </a:avLst>
          </a:prstGeom>
          <a:solidFill>
            <a:schemeClr val="bg2"/>
          </a:solidFill>
          <a:ln/>
        </p:spPr>
      </p:sp>
      <p:sp>
        <p:nvSpPr>
          <p:cNvPr id="14" name="Step 3"/>
          <p:cNvSpPr txBox="1"/>
          <p:nvPr/>
        </p:nvSpPr>
        <p:spPr>
          <a:xfrm>
            <a:off x="4861499" y="1979676"/>
            <a:ext cx="329184" cy="329184"/>
          </a:xfrm>
          <a:prstGeom prst="ellipse">
            <a:avLst/>
          </a:prstGeom>
          <a:solidFill>
            <a:schemeClr val="tx1"/>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5" name="Text 13"/>
          <p:cNvSpPr txBox="1"/>
          <p:nvPr/>
        </p:nvSpPr>
        <p:spPr>
          <a:xfrm>
            <a:off x="5272979" y="1755648"/>
            <a:ext cx="1207008" cy="804672"/>
          </a:xfrm>
          <a:prstGeom prst="rect">
            <a:avLst/>
          </a:prstGeom>
          <a:noFill/>
          <a:ln/>
        </p:spPr>
        <p:txBody>
          <a:bodyPr wrap="square" lIns="0" tIns="0" rIns="0" bIns="0" rtlCol="0" anchor="ctr"/>
          <a:lstStyle/>
          <a:p>
            <a:pPr marL="0" indent="0">
              <a:buNone/>
            </a:pPr>
            <a:r>
              <a:rPr lang="en-US" sz="1200" dirty="0">
                <a:solidFill>
                  <a:schemeClr val="tx1"/>
                </a:solidFill>
              </a:rPr>
              <a:t>The gate grounds every number</a:t>
            </a:r>
            <a:endParaRPr lang="en-US" sz="1200" dirty="0"/>
          </a:p>
        </p:txBody>
      </p:sp>
      <p:sp>
        <p:nvSpPr>
          <p:cNvPr id="16" name="Flow arrow"/>
          <p:cNvSpPr/>
          <p:nvPr/>
        </p:nvSpPr>
        <p:spPr>
          <a:xfrm>
            <a:off x="6603431" y="2029968"/>
            <a:ext cx="201168" cy="237744"/>
          </a:xfrm>
          <a:prstGeom prst="rightArrow">
            <a:avLst/>
          </a:prstGeom>
          <a:solidFill>
            <a:schemeClr val="accent1"/>
          </a:solidFill>
          <a:ln/>
        </p:spPr>
      </p:sp>
      <p:sp>
        <p:nvSpPr>
          <p:cNvPr id="17" name="Use case step 4"/>
          <p:cNvSpPr/>
          <p:nvPr/>
        </p:nvSpPr>
        <p:spPr>
          <a:xfrm>
            <a:off x="6857909" y="1664208"/>
            <a:ext cx="1828800" cy="960120"/>
          </a:xfrm>
          <a:prstGeom prst="roundRect">
            <a:avLst>
              <a:gd name="adj" fmla="val 9524"/>
            </a:avLst>
          </a:prstGeom>
          <a:solidFill>
            <a:schemeClr val="tx1"/>
          </a:solidFill>
          <a:ln/>
        </p:spPr>
      </p:sp>
      <p:sp>
        <p:nvSpPr>
          <p:cNvPr id="18" name="Step 4"/>
          <p:cNvSpPr txBox="1"/>
          <p:nvPr/>
        </p:nvSpPr>
        <p:spPr>
          <a:xfrm>
            <a:off x="6995069" y="1979676"/>
            <a:ext cx="329184" cy="329184"/>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9" name="Text 17"/>
          <p:cNvSpPr txBox="1"/>
          <p:nvPr/>
        </p:nvSpPr>
        <p:spPr>
          <a:xfrm>
            <a:off x="7406549" y="1755648"/>
            <a:ext cx="1207008" cy="804672"/>
          </a:xfrm>
          <a:prstGeom prst="rect">
            <a:avLst/>
          </a:prstGeom>
          <a:noFill/>
          <a:ln/>
        </p:spPr>
        <p:txBody>
          <a:bodyPr wrap="square" lIns="0" tIns="0" rIns="0" bIns="0" rtlCol="0" anchor="ctr"/>
          <a:lstStyle/>
          <a:p>
            <a:pPr marL="0" indent="0">
              <a:buNone/>
            </a:pPr>
            <a:r>
              <a:rPr lang="en-US" sz="1200" dirty="0">
                <a:solidFill>
                  <a:schemeClr val="bg1"/>
                </a:solidFill>
              </a:rPr>
              <a:t>Officer opens a country: 14-day arrival risk, top routes</a:t>
            </a:r>
            <a:endParaRPr lang="en-US" sz="1200" dirty="0"/>
          </a:p>
        </p:txBody>
      </p:sp>
      <p:sp>
        <p:nvSpPr>
          <p:cNvPr id="20" name="Card Feasible now"/>
          <p:cNvSpPr/>
          <p:nvPr/>
        </p:nvSpPr>
        <p:spPr>
          <a:xfrm>
            <a:off x="457200" y="2880360"/>
            <a:ext cx="3977640" cy="1737360"/>
          </a:xfrm>
          <a:prstGeom prst="roundRect">
            <a:avLst>
              <a:gd name="adj" fmla="val 5263"/>
            </a:avLst>
          </a:prstGeom>
          <a:solidFill>
            <a:schemeClr val="bg2"/>
          </a:solidFill>
          <a:ln/>
        </p:spPr>
      </p:sp>
      <p:sp>
        <p:nvSpPr>
          <p:cNvPr id="21" name="Text 19"/>
          <p:cNvSpPr txBox="1"/>
          <p:nvPr/>
        </p:nvSpPr>
        <p:spPr>
          <a:xfrm>
            <a:off x="640080" y="2999232"/>
            <a:ext cx="3566160" cy="274320"/>
          </a:xfrm>
          <a:prstGeom prst="rect">
            <a:avLst/>
          </a:prstGeom>
          <a:noFill/>
          <a:ln/>
        </p:spPr>
        <p:txBody>
          <a:bodyPr wrap="square" lIns="0" tIns="0" rIns="0" bIns="0" rtlCol="0" anchor="t"/>
          <a:lstStyle/>
          <a:p>
            <a:pPr marL="0" indent="0">
              <a:buNone/>
            </a:pPr>
            <a:r>
              <a:rPr lang="en-US" sz="1400" b="1" dirty="0">
                <a:solidFill>
                  <a:schemeClr val="accent1"/>
                </a:solidFill>
              </a:rPr>
              <a:t>Feasible now</a:t>
            </a:r>
            <a:endParaRPr lang="en-US" sz="1400" dirty="0"/>
          </a:p>
        </p:txBody>
      </p:sp>
      <p:sp>
        <p:nvSpPr>
          <p:cNvPr id="22" name="List Feasible now"/>
          <p:cNvSpPr txBox="1"/>
          <p:nvPr/>
        </p:nvSpPr>
        <p:spPr>
          <a:xfrm>
            <a:off x="640080" y="3337560"/>
            <a:ext cx="3611880" cy="11887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Runs on a laptop with one Postgres container</a:t>
            </a:r>
            <a:endParaRPr lang="en-US" sz="1400" dirty="0"/>
          </a:p>
          <a:p>
            <a:pPr marL="342900" indent="-342900">
              <a:spcAft>
                <a:spcPts val="400"/>
              </a:spcAft>
              <a:buSzPct val="100000"/>
              <a:buChar char="•"/>
            </a:pPr>
            <a:r>
              <a:rPr lang="en-US" sz="1400" dirty="0">
                <a:solidFill>
                  <a:schemeClr val="tx1"/>
                </a:solidFill>
              </a:rPr>
              <a:t>Free public data: WHO, Eurostat, US DoT, UN</a:t>
            </a:r>
            <a:endParaRPr lang="en-US" sz="1400" dirty="0"/>
          </a:p>
          <a:p>
            <a:pPr marL="342900" indent="-342900">
              <a:spcAft>
                <a:spcPts val="400"/>
              </a:spcAft>
              <a:buSzPct val="100000"/>
              <a:buChar char="•"/>
            </a:pPr>
            <a:r>
              <a:rPr lang="en-US" sz="1400" dirty="0">
                <a:solidFill>
                  <a:schemeClr val="tx1"/>
                </a:solidFill>
              </a:rPr>
              <a:t>Offline ingest from a 3,159-record WHO archive</a:t>
            </a:r>
            <a:endParaRPr lang="en-US" sz="1400" dirty="0"/>
          </a:p>
        </p:txBody>
      </p:sp>
      <p:sp>
        <p:nvSpPr>
          <p:cNvPr id="23" name="Card Scales by design"/>
          <p:cNvSpPr/>
          <p:nvPr/>
        </p:nvSpPr>
        <p:spPr>
          <a:xfrm>
            <a:off x="4709160" y="2880360"/>
            <a:ext cx="3977640" cy="1737360"/>
          </a:xfrm>
          <a:prstGeom prst="roundRect">
            <a:avLst>
              <a:gd name="adj" fmla="val 5263"/>
            </a:avLst>
          </a:prstGeom>
          <a:solidFill>
            <a:schemeClr val="bg2"/>
          </a:solidFill>
          <a:ln/>
        </p:spPr>
      </p:sp>
      <p:sp>
        <p:nvSpPr>
          <p:cNvPr id="24" name="Text 22"/>
          <p:cNvSpPr txBox="1"/>
          <p:nvPr/>
        </p:nvSpPr>
        <p:spPr>
          <a:xfrm>
            <a:off x="4892040" y="2999232"/>
            <a:ext cx="3566160" cy="274320"/>
          </a:xfrm>
          <a:prstGeom prst="rect">
            <a:avLst/>
          </a:prstGeom>
          <a:noFill/>
          <a:ln/>
        </p:spPr>
        <p:txBody>
          <a:bodyPr wrap="square" lIns="0" tIns="0" rIns="0" bIns="0" rtlCol="0" anchor="t"/>
          <a:lstStyle/>
          <a:p>
            <a:pPr marL="0" indent="0">
              <a:buNone/>
            </a:pPr>
            <a:r>
              <a:rPr lang="en-US" sz="1400" b="1" dirty="0">
                <a:solidFill>
                  <a:schemeClr val="accent1"/>
                </a:solidFill>
              </a:rPr>
              <a:t>Scales by design</a:t>
            </a:r>
            <a:endParaRPr lang="en-US" sz="1400" dirty="0"/>
          </a:p>
        </p:txBody>
      </p:sp>
      <p:sp>
        <p:nvSpPr>
          <p:cNvPr id="25" name="List Scales by design"/>
          <p:cNvSpPr txBox="1"/>
          <p:nvPr/>
        </p:nvSpPr>
        <p:spPr>
          <a:xfrm>
            <a:off x="4892040" y="3337560"/>
            <a:ext cx="3611880" cy="11887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New source = new goal and schema, not new code</a:t>
            </a:r>
            <a:endParaRPr lang="en-US" sz="1400" dirty="0"/>
          </a:p>
          <a:p>
            <a:pPr marL="342900" indent="-342900">
              <a:spcAft>
                <a:spcPts val="400"/>
              </a:spcAft>
              <a:buSzPct val="100000"/>
              <a:buChar char="•"/>
            </a:pPr>
            <a:r>
              <a:rPr lang="en-US" sz="1400" dirty="0">
                <a:solidFill>
                  <a:schemeClr val="tx1"/>
                </a:solidFill>
              </a:rPr>
              <a:t>New pathogen = new parameter profile</a:t>
            </a:r>
            <a:endParaRPr lang="en-US" sz="1400" dirty="0"/>
          </a:p>
          <a:p>
            <a:pPr marL="342900" indent="-342900">
              <a:spcAft>
                <a:spcPts val="400"/>
              </a:spcAft>
              <a:buSzPct val="100000"/>
              <a:buChar char="•"/>
            </a:pPr>
            <a:r>
              <a:rPr lang="en-US" sz="1400" dirty="0">
                <a:solidFill>
                  <a:schemeClr val="tx1"/>
                </a:solidFill>
              </a:rPr>
              <a:t>Country-level matrix (about 200 × 200) is cheap to recompute</a:t>
            </a:r>
            <a:endParaRPr lang="en-US" sz="1400" dirty="0"/>
          </a:p>
        </p:txBody>
      </p:sp>
      <p:sp>
        <p:nvSpPr>
          <p:cNvPr id="26"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47472"/>
            <a:ext cx="82296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FUTURE SCOPE</a:t>
            </a:r>
            <a:endParaRPr lang="en-US" sz="1200" dirty="0"/>
          </a:p>
        </p:txBody>
      </p:sp>
      <p:sp>
        <p:nvSpPr>
          <p:cNvPr id="3" name="Text 1"/>
          <p:cNvSpPr>
            <a:spLocks noGrp="1"/>
          </p:cNvSpPr>
          <p:nvPr>
            <p:ph type="title" idx="102" hasCustomPrompt="1"/>
          </p:nvPr>
        </p:nvSpPr>
        <p:spPr>
          <a:xfrm>
            <a:off x="457200" y="621792"/>
            <a:ext cx="8229600" cy="640080"/>
          </a:xfrm>
          <a:prstGeom prst="rect">
            <a:avLst/>
          </a:prstGeom>
          <a:noFill/>
          <a:ln/>
        </p:spPr>
        <p:txBody>
          <a:bodyPr wrap="square" lIns="0" tIns="0" rIns="0" bIns="0" rtlCol="0" anchor="ctr"/>
          <a:lstStyle/>
          <a:p>
            <a:pPr marL="0" indent="0" algn="l">
              <a:buNone/>
            </a:pPr>
            <a:r>
              <a:rPr lang="en-US" dirty="0"/>
              <a:t>W</a:t>
            </a:r>
            <a:r>
              <a:rPr lang="en-US" sz="3200" b="1" dirty="0">
                <a:solidFill>
                  <a:schemeClr val="tx1"/>
                </a:solidFill>
              </a:rPr>
              <a:t>hat comes next</a:t>
            </a:r>
            <a:endParaRPr lang="en-US" sz="3200" dirty="0"/>
          </a:p>
        </p:txBody>
      </p:sp>
      <p:sp>
        <p:nvSpPr>
          <p:cNvPr id="8" name="Future scope row 1"/>
          <p:cNvSpPr/>
          <p:nvPr/>
        </p:nvSpPr>
        <p:spPr>
          <a:xfrm>
            <a:off x="594360" y="1453896"/>
            <a:ext cx="7635240" cy="530352"/>
          </a:xfrm>
          <a:prstGeom prst="roundRect">
            <a:avLst>
              <a:gd name="adj" fmla="val 17241"/>
            </a:avLst>
          </a:prstGeom>
          <a:solidFill>
            <a:schemeClr val="bg2"/>
          </a:solidFill>
          <a:ln/>
        </p:spPr>
      </p:sp>
      <p:sp>
        <p:nvSpPr>
          <p:cNvPr id="9" name="Step 1"/>
          <p:cNvSpPr txBox="1"/>
          <p:nvPr/>
        </p:nvSpPr>
        <p:spPr>
          <a:xfrm>
            <a:off x="731520" y="1554480"/>
            <a:ext cx="329184" cy="329184"/>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0" name="Text 8"/>
          <p:cNvSpPr txBox="1"/>
          <p:nvPr/>
        </p:nvSpPr>
        <p:spPr>
          <a:xfrm>
            <a:off x="1234440" y="1490472"/>
            <a:ext cx="4480560" cy="237744"/>
          </a:xfrm>
          <a:prstGeom prst="rect">
            <a:avLst/>
          </a:prstGeom>
          <a:noFill/>
          <a:ln/>
        </p:spPr>
        <p:txBody>
          <a:bodyPr wrap="square" lIns="0" tIns="0" rIns="0" bIns="0" rtlCol="0" anchor="t"/>
          <a:lstStyle/>
          <a:p>
            <a:pPr marL="0" indent="0">
              <a:buNone/>
            </a:pPr>
            <a:r>
              <a:rPr lang="en-US" sz="1400" b="1" dirty="0">
                <a:solidFill>
                  <a:schemeClr val="tx1"/>
                </a:solidFill>
              </a:rPr>
              <a:t>Flight path suggestions</a:t>
            </a:r>
            <a:endParaRPr lang="en-US" sz="1400" dirty="0"/>
          </a:p>
        </p:txBody>
      </p:sp>
      <p:sp>
        <p:nvSpPr>
          <p:cNvPr id="11" name="Text 9"/>
          <p:cNvSpPr txBox="1"/>
          <p:nvPr/>
        </p:nvSpPr>
        <p:spPr>
          <a:xfrm>
            <a:off x="1234440" y="1746504"/>
            <a:ext cx="4480560" cy="201168"/>
          </a:xfrm>
          <a:prstGeom prst="rect">
            <a:avLst/>
          </a:prstGeom>
          <a:noFill/>
          <a:ln/>
        </p:spPr>
        <p:txBody>
          <a:bodyPr wrap="square" lIns="0" tIns="0" rIns="0" bIns="0" rtlCol="0" anchor="t"/>
          <a:lstStyle/>
          <a:p>
            <a:pPr marL="0" indent="0">
              <a:buNone/>
            </a:pPr>
            <a:r>
              <a:rPr lang="en-US" sz="1200" dirty="0">
                <a:solidFill>
                  <a:schemeClr val="tx2"/>
                </a:solidFill>
              </a:rPr>
              <a:t>Routes shown to the user with risk along the path</a:t>
            </a:r>
            <a:endParaRPr lang="en-US" sz="1200" dirty="0"/>
          </a:p>
        </p:txBody>
      </p:sp>
      <p:sp>
        <p:nvSpPr>
          <p:cNvPr id="12" name="Future scope row 2"/>
          <p:cNvSpPr/>
          <p:nvPr/>
        </p:nvSpPr>
        <p:spPr>
          <a:xfrm>
            <a:off x="594360" y="2048256"/>
            <a:ext cx="7635240" cy="530352"/>
          </a:xfrm>
          <a:prstGeom prst="roundRect">
            <a:avLst>
              <a:gd name="adj" fmla="val 17241"/>
            </a:avLst>
          </a:prstGeom>
          <a:solidFill>
            <a:schemeClr val="bg2"/>
          </a:solidFill>
          <a:ln/>
        </p:spPr>
      </p:sp>
      <p:sp>
        <p:nvSpPr>
          <p:cNvPr id="13" name="Step 2"/>
          <p:cNvSpPr txBox="1"/>
          <p:nvPr/>
        </p:nvSpPr>
        <p:spPr>
          <a:xfrm>
            <a:off x="731520" y="2148840"/>
            <a:ext cx="329184" cy="329184"/>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4" name="Text 12"/>
          <p:cNvSpPr txBox="1"/>
          <p:nvPr/>
        </p:nvSpPr>
        <p:spPr>
          <a:xfrm>
            <a:off x="1234440" y="2084832"/>
            <a:ext cx="4480560" cy="237744"/>
          </a:xfrm>
          <a:prstGeom prst="rect">
            <a:avLst/>
          </a:prstGeom>
          <a:noFill/>
          <a:ln/>
        </p:spPr>
        <p:txBody>
          <a:bodyPr wrap="square" lIns="0" tIns="0" rIns="0" bIns="0" rtlCol="0" anchor="t"/>
          <a:lstStyle/>
          <a:p>
            <a:pPr marL="0" indent="0">
              <a:buNone/>
            </a:pPr>
            <a:r>
              <a:rPr lang="en-US" sz="1400" b="1" dirty="0">
                <a:solidFill>
                  <a:schemeClr val="tx1"/>
                </a:solidFill>
              </a:rPr>
              <a:t>Outbreak simulation</a:t>
            </a:r>
            <a:endParaRPr lang="en-US" sz="1400" dirty="0"/>
          </a:p>
        </p:txBody>
      </p:sp>
      <p:sp>
        <p:nvSpPr>
          <p:cNvPr id="15" name="Text 13"/>
          <p:cNvSpPr txBox="1"/>
          <p:nvPr/>
        </p:nvSpPr>
        <p:spPr>
          <a:xfrm>
            <a:off x="1234440" y="2340864"/>
            <a:ext cx="4480560" cy="201168"/>
          </a:xfrm>
          <a:prstGeom prst="rect">
            <a:avLst/>
          </a:prstGeom>
          <a:noFill/>
          <a:ln/>
        </p:spPr>
        <p:txBody>
          <a:bodyPr wrap="square" lIns="0" tIns="0" rIns="0" bIns="0" rtlCol="0" anchor="t"/>
          <a:lstStyle/>
          <a:p>
            <a:pPr marL="0" indent="0">
              <a:buNone/>
            </a:pPr>
            <a:r>
              <a:rPr lang="en-US" sz="1200" dirty="0">
                <a:solidFill>
                  <a:schemeClr val="tx2"/>
                </a:solidFill>
              </a:rPr>
              <a:t>Monte Carlo simulation of spread over the next T days</a:t>
            </a:r>
            <a:endParaRPr lang="en-US" sz="1200" dirty="0"/>
          </a:p>
        </p:txBody>
      </p:sp>
      <p:sp>
        <p:nvSpPr>
          <p:cNvPr id="16" name="Future scope row 3"/>
          <p:cNvSpPr/>
          <p:nvPr/>
        </p:nvSpPr>
        <p:spPr>
          <a:xfrm>
            <a:off x="594360" y="2642616"/>
            <a:ext cx="7635240" cy="530352"/>
          </a:xfrm>
          <a:prstGeom prst="roundRect">
            <a:avLst>
              <a:gd name="adj" fmla="val 17241"/>
            </a:avLst>
          </a:prstGeom>
          <a:solidFill>
            <a:schemeClr val="bg2"/>
          </a:solidFill>
          <a:ln/>
        </p:spPr>
      </p:sp>
      <p:sp>
        <p:nvSpPr>
          <p:cNvPr id="17" name="Step 3"/>
          <p:cNvSpPr txBox="1"/>
          <p:nvPr/>
        </p:nvSpPr>
        <p:spPr>
          <a:xfrm>
            <a:off x="731520" y="2743200"/>
            <a:ext cx="329184" cy="329184"/>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8" name="Text 16"/>
          <p:cNvSpPr txBox="1"/>
          <p:nvPr/>
        </p:nvSpPr>
        <p:spPr>
          <a:xfrm>
            <a:off x="1234440" y="2679192"/>
            <a:ext cx="4480560" cy="237744"/>
          </a:xfrm>
          <a:prstGeom prst="rect">
            <a:avLst/>
          </a:prstGeom>
          <a:noFill/>
          <a:ln/>
        </p:spPr>
        <p:txBody>
          <a:bodyPr wrap="square" lIns="0" tIns="0" rIns="0" bIns="0" rtlCol="0" anchor="t"/>
          <a:lstStyle/>
          <a:p>
            <a:pPr marL="0" indent="0">
              <a:buNone/>
            </a:pPr>
            <a:r>
              <a:rPr lang="en-US" sz="1400" b="1" dirty="0">
                <a:solidFill>
                  <a:schemeClr val="tx1"/>
                </a:solidFill>
              </a:rPr>
              <a:t>Beyond disease</a:t>
            </a:r>
            <a:endParaRPr lang="en-US" sz="1400" dirty="0"/>
          </a:p>
        </p:txBody>
      </p:sp>
      <p:sp>
        <p:nvSpPr>
          <p:cNvPr id="19" name="Text 17"/>
          <p:cNvSpPr txBox="1"/>
          <p:nvPr/>
        </p:nvSpPr>
        <p:spPr>
          <a:xfrm>
            <a:off x="1234440" y="2935224"/>
            <a:ext cx="4480560" cy="201168"/>
          </a:xfrm>
          <a:prstGeom prst="rect">
            <a:avLst/>
          </a:prstGeom>
          <a:noFill/>
          <a:ln/>
        </p:spPr>
        <p:txBody>
          <a:bodyPr wrap="square" lIns="0" tIns="0" rIns="0" bIns="0" rtlCol="0" anchor="t"/>
          <a:lstStyle/>
          <a:p>
            <a:pPr marL="0" indent="0">
              <a:buNone/>
            </a:pPr>
            <a:r>
              <a:rPr lang="en-US" sz="1200" dirty="0">
                <a:solidFill>
                  <a:schemeClr val="tx2"/>
                </a:solidFill>
              </a:rPr>
              <a:t>Same engine for revolutions, wars, famines and more</a:t>
            </a:r>
            <a:endParaRPr lang="en-US" sz="1200" dirty="0"/>
          </a:p>
        </p:txBody>
      </p:sp>
      <p:sp>
        <p:nvSpPr>
          <p:cNvPr id="20" name="Future scope row 4"/>
          <p:cNvSpPr/>
          <p:nvPr/>
        </p:nvSpPr>
        <p:spPr>
          <a:xfrm>
            <a:off x="594360" y="3236976"/>
            <a:ext cx="7635240" cy="530352"/>
          </a:xfrm>
          <a:prstGeom prst="roundRect">
            <a:avLst>
              <a:gd name="adj" fmla="val 17241"/>
            </a:avLst>
          </a:prstGeom>
          <a:solidFill>
            <a:schemeClr val="bg2"/>
          </a:solidFill>
          <a:ln/>
        </p:spPr>
      </p:sp>
      <p:sp>
        <p:nvSpPr>
          <p:cNvPr id="21" name="Step 4"/>
          <p:cNvSpPr txBox="1"/>
          <p:nvPr/>
        </p:nvSpPr>
        <p:spPr>
          <a:xfrm>
            <a:off x="731520" y="3337560"/>
            <a:ext cx="329184" cy="329184"/>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2" name="Text 20"/>
          <p:cNvSpPr txBox="1"/>
          <p:nvPr/>
        </p:nvSpPr>
        <p:spPr>
          <a:xfrm>
            <a:off x="1234440" y="3273552"/>
            <a:ext cx="4480560" cy="237744"/>
          </a:xfrm>
          <a:prstGeom prst="rect">
            <a:avLst/>
          </a:prstGeom>
          <a:noFill/>
          <a:ln/>
        </p:spPr>
        <p:txBody>
          <a:bodyPr wrap="square" lIns="0" tIns="0" rIns="0" bIns="0" rtlCol="0" anchor="t"/>
          <a:lstStyle/>
          <a:p>
            <a:pPr marL="0" indent="0">
              <a:buNone/>
            </a:pPr>
            <a:r>
              <a:rPr lang="en-US" sz="1400" b="1" dirty="0">
                <a:solidFill>
                  <a:schemeClr val="tx1"/>
                </a:solidFill>
              </a:rPr>
              <a:t>Safety report</a:t>
            </a:r>
            <a:endParaRPr lang="en-US" sz="1400" dirty="0"/>
          </a:p>
        </p:txBody>
      </p:sp>
      <p:sp>
        <p:nvSpPr>
          <p:cNvPr id="23" name="Text 21"/>
          <p:cNvSpPr txBox="1"/>
          <p:nvPr/>
        </p:nvSpPr>
        <p:spPr>
          <a:xfrm>
            <a:off x="1234440" y="3529584"/>
            <a:ext cx="4480560" cy="201168"/>
          </a:xfrm>
          <a:prstGeom prst="rect">
            <a:avLst/>
          </a:prstGeom>
          <a:noFill/>
          <a:ln/>
        </p:spPr>
        <p:txBody>
          <a:bodyPr wrap="square" lIns="0" tIns="0" rIns="0" bIns="0" rtlCol="0" anchor="t"/>
          <a:lstStyle/>
          <a:p>
            <a:pPr marL="0" indent="0">
              <a:buNone/>
            </a:pPr>
            <a:r>
              <a:rPr lang="en-US" sz="1200" dirty="0">
                <a:solidFill>
                  <a:schemeClr val="tx2"/>
                </a:solidFill>
              </a:rPr>
              <a:t>Realistic scores out of 10 for a clearer picture</a:t>
            </a:r>
            <a:endParaRPr lang="en-US" sz="1200" dirty="0"/>
          </a:p>
        </p:txBody>
      </p:sp>
      <p:sp>
        <p:nvSpPr>
          <p:cNvPr id="24" name="Future scope row 5"/>
          <p:cNvSpPr/>
          <p:nvPr/>
        </p:nvSpPr>
        <p:spPr>
          <a:xfrm>
            <a:off x="594360" y="3831336"/>
            <a:ext cx="7635240" cy="530352"/>
          </a:xfrm>
          <a:prstGeom prst="roundRect">
            <a:avLst>
              <a:gd name="adj" fmla="val 17241"/>
            </a:avLst>
          </a:prstGeom>
          <a:solidFill>
            <a:schemeClr val="bg2"/>
          </a:solidFill>
          <a:ln/>
        </p:spPr>
      </p:sp>
      <p:sp>
        <p:nvSpPr>
          <p:cNvPr id="25" name="Step 5"/>
          <p:cNvSpPr txBox="1"/>
          <p:nvPr/>
        </p:nvSpPr>
        <p:spPr>
          <a:xfrm>
            <a:off x="731520" y="3931920"/>
            <a:ext cx="329184" cy="329184"/>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6" name="Text 24"/>
          <p:cNvSpPr txBox="1"/>
          <p:nvPr/>
        </p:nvSpPr>
        <p:spPr>
          <a:xfrm>
            <a:off x="1234440" y="3867912"/>
            <a:ext cx="4480560" cy="237744"/>
          </a:xfrm>
          <a:prstGeom prst="rect">
            <a:avLst/>
          </a:prstGeom>
          <a:noFill/>
          <a:ln/>
        </p:spPr>
        <p:txBody>
          <a:bodyPr wrap="square" lIns="0" tIns="0" rIns="0" bIns="0" rtlCol="0" anchor="t"/>
          <a:lstStyle/>
          <a:p>
            <a:pPr marL="0" indent="0">
              <a:buNone/>
            </a:pPr>
            <a:r>
              <a:rPr lang="en-US" sz="1400" b="1" dirty="0">
                <a:solidFill>
                  <a:schemeClr val="tx1"/>
                </a:solidFill>
              </a:rPr>
              <a:t>Vaccine suggestions</a:t>
            </a:r>
            <a:endParaRPr lang="en-US" sz="1400" dirty="0"/>
          </a:p>
        </p:txBody>
      </p:sp>
      <p:sp>
        <p:nvSpPr>
          <p:cNvPr id="27" name="Text 25"/>
          <p:cNvSpPr txBox="1"/>
          <p:nvPr/>
        </p:nvSpPr>
        <p:spPr>
          <a:xfrm>
            <a:off x="1234440" y="4123944"/>
            <a:ext cx="4480560" cy="201168"/>
          </a:xfrm>
          <a:prstGeom prst="rect">
            <a:avLst/>
          </a:prstGeom>
          <a:noFill/>
          <a:ln/>
        </p:spPr>
        <p:txBody>
          <a:bodyPr wrap="square" lIns="0" tIns="0" rIns="0" bIns="0" rtlCol="0" anchor="t"/>
          <a:lstStyle/>
          <a:p>
            <a:pPr marL="0" indent="0">
              <a:buNone/>
            </a:pPr>
            <a:r>
              <a:rPr lang="en-US" sz="1200" dirty="0">
                <a:solidFill>
                  <a:schemeClr val="tx2"/>
                </a:solidFill>
              </a:rPr>
              <a:t>Based on where travellers come from and where they go</a:t>
            </a:r>
            <a:endParaRPr lang="en-US" sz="1200" dirty="0"/>
          </a:p>
        </p:txBody>
      </p:sp>
      <p:sp>
        <p:nvSpPr>
          <p:cNvPr id="28"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Endemica">
  <a:themeElements>
    <a:clrScheme name="Endemica">
      <a:dk1>
        <a:srgbClr val="0E2A2F"/>
      </a:dk1>
      <a:lt1>
        <a:srgbClr val="FFFFFF"/>
      </a:lt1>
      <a:dk2>
        <a:srgbClr val="1F4E54"/>
      </a:dk2>
      <a:lt2>
        <a:srgbClr val="EEF3F2"/>
      </a:lt2>
      <a:accent1>
        <a:srgbClr val="E4572E"/>
      </a:accent1>
      <a:accent2>
        <a:srgbClr val="2A9D8F"/>
      </a:accent2>
      <a:accent3>
        <a:srgbClr val="F2A541"/>
      </a:accent3>
      <a:accent4>
        <a:srgbClr val="5B7B80"/>
      </a:accent4>
      <a:accent5>
        <a:srgbClr val="8FC1B5"/>
      </a:accent5>
      <a:accent6>
        <a:srgbClr val="B23A48"/>
      </a:accent6>
      <a:hlink>
        <a:srgbClr val="2A9D8F"/>
      </a:hlink>
      <a:folHlink>
        <a:srgbClr val="5B7B80"/>
      </a:folHlink>
    </a:clrScheme>
    <a:fontScheme name="Endemic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2132</Words>
  <Application>Microsoft Office PowerPoint</Application>
  <PresentationFormat>On-screen Show (16:9)</PresentationFormat>
  <Paragraphs>222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Endemica</vt:lpstr>
      <vt:lpstr>endemica</vt:lpstr>
      <vt:lpstr>Reports and routes never meet</vt:lpstr>
      <vt:lpstr>Four questions, four methods</vt:lpstr>
      <vt:lpstr>Built for people who must act</vt:lpstr>
      <vt:lpstr>Sources in, grounded numbers out</vt:lpstr>
      <vt:lpstr>Training Data</vt:lpstr>
      <vt:lpstr>TinyFish turns pages into records</vt:lpstr>
      <vt:lpstr>Extraction is not the same as truth</vt:lpstr>
      <vt:lpstr>Feasible today, ready to scale</vt:lpstr>
      <vt:lpstr>What comes next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endemica - hackIIITD 2026</dc:title>
  <dc:subject>PptxGenJS Presentation</dc:subject>
  <dc:creator>Team Prometheus</dc:creator>
  <cp:lastModifiedBy>Pranshi Mittal</cp:lastModifiedBy>
  <cp:revision>3</cp:revision>
  <dcterms:created xsi:type="dcterms:W3CDTF">2026-10-25T04:24:09Z</dcterms:created>
  <dcterms:modified xsi:type="dcterms:W3CDTF">2026-10-25T05:50:52Z</dcterms:modified>
</cp:coreProperties>
</file>