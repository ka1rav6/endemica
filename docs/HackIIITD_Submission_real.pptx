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yMBiZDz8HFYsUaptdCPowXrDU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1EF6F9C-73D4-4558-90A6-ABFEC186596C}">
  <a:tblStyle styleId="{81EF6F9C-73D4-4558-90A6-ABFEC186596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8EEF6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E8EEF6"/>
                </a:solidFill>
                <a:latin typeface="+mn-lt"/>
              </a:rPr>
              <a:t>P(≥1 infected arrival in 14 days) vs passengers/day on one route — illustrative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 per 100k at origin</c:v>
                </c:pt>
              </c:strCache>
            </c:strRef>
          </c:tx>
          <c:spPr>
            <a:solidFill>
              <a:srgbClr val="7A5A2A"/>
            </a:solidFill>
            <a:ln w="31750" cap="flat">
              <a:solidFill>
                <a:srgbClr val="7A5A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A5A2A"/>
              </a:solidFill>
              <a:ln w="9525" cap="flat">
                <a:solidFill>
                  <a:srgbClr val="7A5A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50</c:v>
                  </c:pt>
                  <c:pt idx="1">
                    <c:v>200</c:v>
                  </c:pt>
                  <c:pt idx="2">
                    <c:v>500</c:v>
                  </c:pt>
                  <c:pt idx="3">
                    <c:v>2,000</c:v>
                  </c:pt>
                  <c:pt idx="4">
                    <c:v>8,000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3.4</c:v>
                </c:pt>
                <c:pt idx="1">
                  <c:v>13.1</c:v>
                </c:pt>
                <c:pt idx="2">
                  <c:v>29.5</c:v>
                </c:pt>
                <c:pt idx="3">
                  <c:v>75.3</c:v>
                </c:pt>
                <c:pt idx="4">
                  <c:v>99.6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100 per 100k</c:v>
                </c:pt>
              </c:strCache>
            </c:strRef>
          </c:tx>
          <c:spPr>
            <a:solidFill>
              <a:srgbClr val="C98B2E"/>
            </a:solidFill>
            <a:ln w="31750" cap="flat">
              <a:solidFill>
                <a:srgbClr val="C98B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8B2E"/>
              </a:solidFill>
              <a:ln w="9525" cap="flat">
                <a:solidFill>
                  <a:srgbClr val="C98B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50</c:v>
                  </c:pt>
                  <c:pt idx="1">
                    <c:v>200</c:v>
                  </c:pt>
                  <c:pt idx="2">
                    <c:v>500</c:v>
                  </c:pt>
                  <c:pt idx="3">
                    <c:v>2,000</c:v>
                  </c:pt>
                  <c:pt idx="4">
                    <c:v>8,000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29.5</c:v>
                </c:pt>
                <c:pt idx="1">
                  <c:v>75.3</c:v>
                </c:pt>
                <c:pt idx="2">
                  <c:v>97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1,000 per 100k</c:v>
                </c:pt>
              </c:strCache>
            </c:strRef>
          </c:tx>
          <c:spPr>
            <a:solidFill>
              <a:srgbClr val="FFB547"/>
            </a:solidFill>
            <a:ln w="31750" cap="flat">
              <a:solidFill>
                <a:srgbClr val="FFB54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B547"/>
              </a:solidFill>
              <a:ln w="9525" cap="flat">
                <a:solidFill>
                  <a:srgbClr val="FFB54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50</c:v>
                  </c:pt>
                  <c:pt idx="1">
                    <c:v>200</c:v>
                  </c:pt>
                  <c:pt idx="2">
                    <c:v>500</c:v>
                  </c:pt>
                  <c:pt idx="3">
                    <c:v>2,000</c:v>
                  </c:pt>
                  <c:pt idx="4">
                    <c:v>8,000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97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6344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3A4B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26344F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3A4B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E8EEF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Title + team details (required section). Replace every [bracketed] placeholder before submitting. Product name 'EpiRoute' is a working name.</a:t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 UI built in slides (allowed: Round 1 accepts UI/UX prototypes; no code or deployed links). All numbers are generated by our reference model from illustrative inputs: 300 reported active cases, population 70M, under-reporting 5x (2x-10x band), 6,000 passengers/day, alpha 0.5, sigma 0, R 1.8, k 0.3.</a:t>
            </a:r>
            <a:endParaRPr/>
          </a:p>
        </p:txBody>
      </p:sp>
      <p:sp>
        <p:nvSpPr>
          <p:cNvPr id="84" name="Google Shape;8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DARK">
  <p:cSld name="TITLE_DARK">
    <p:bg>
      <p:bgPr>
        <a:solidFill>
          <a:srgbClr val="0B1320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_DARK">
  <p:cSld name="TITLE_ONLY_DARK">
    <p:bg>
      <p:bgPr>
        <a:solidFill>
          <a:srgbClr val="0B1320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2"/>
          <p:cNvSpPr txBox="1"/>
          <p:nvPr>
            <p:ph type="title"/>
          </p:nvPr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b="1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12"/>
          <p:cNvSpPr/>
          <p:nvPr/>
        </p:nvSpPr>
        <p:spPr>
          <a:xfrm>
            <a:off x="548640" y="6473952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EpiRoute · HackIIITD 2026 · Round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2"/>
          <p:cNvSpPr txBox="1"/>
          <p:nvPr>
            <p:ph idx="12" type="sldNum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3A4B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3A4BD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3A4BD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3A4BD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3A4BD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3A4BD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3A4BD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3A4BD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93A4BD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3A4B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3A4BD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3A4BD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3A4BD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3A4BD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3A4BD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3A4BD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3A4BD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93A4BD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orld map with illustrative flight arcs" id="22" name="Google Shape;22;p1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0B1320">
              <a:alpha val="87843"/>
            </a:srgbClr>
          </a:solidFill>
          <a:ln cap="flat" cmpd="sng" w="12700">
            <a:solidFill>
              <a:srgbClr val="0B13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548640" y="640080"/>
            <a:ext cx="3931920" cy="274320"/>
          </a:xfrm>
          <a:prstGeom prst="roundRect">
            <a:avLst>
              <a:gd fmla="val 50000" name="adj"/>
            </a:avLst>
          </a:prstGeom>
          <a:solidFill>
            <a:schemeClr val="accent3">
              <a:alpha val="20000"/>
            </a:schemeClr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 txBox="1"/>
          <p:nvPr/>
        </p:nvSpPr>
        <p:spPr>
          <a:xfrm>
            <a:off x="548640" y="64008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HACKIIITD 2026 · ROUND 1 · OPEN INNOVATION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548640" y="1143000"/>
            <a:ext cx="6035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EpiRoute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548640" y="2240280"/>
            <a:ext cx="58521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Outbreak intelligence that connects live public-health reports to the air-travel network and shows the probability, the assumptions and the source behind every number.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76072" y="3584448"/>
            <a:ext cx="237744" cy="237744"/>
          </a:xfrm>
          <a:prstGeom prst="ellipse">
            <a:avLst/>
          </a:prstGeom>
          <a:solidFill>
            <a:schemeClr val="accent1">
              <a:alpha val="30196"/>
            </a:schemeClr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645018" y="3653394"/>
            <a:ext cx="99852" cy="9985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 txBox="1"/>
          <p:nvPr/>
        </p:nvSpPr>
        <p:spPr>
          <a:xfrm>
            <a:off x="960120" y="35661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Importation risk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576072" y="3968496"/>
            <a:ext cx="237744" cy="237744"/>
          </a:xfrm>
          <a:prstGeom prst="ellipse">
            <a:avLst/>
          </a:prstGeom>
          <a:solidFill>
            <a:schemeClr val="accent2">
              <a:alpha val="30196"/>
            </a:schemeClr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645018" y="4037442"/>
            <a:ext cx="99852" cy="99852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960120" y="395020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Local establishment risk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576072" y="4352544"/>
            <a:ext cx="237744" cy="237744"/>
          </a:xfrm>
          <a:prstGeom prst="ellipse">
            <a:avLst/>
          </a:prstGeom>
          <a:solidFill>
            <a:schemeClr val="accent3">
              <a:alpha val="30196"/>
            </a:schemeClr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645018" y="4421490"/>
            <a:ext cx="99852" cy="99852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 txBox="1"/>
          <p:nvPr/>
        </p:nvSpPr>
        <p:spPr>
          <a:xfrm>
            <a:off x="960120" y="433425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Sourced outbreak reports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7223760" y="640080"/>
            <a:ext cx="4434840" cy="5120640"/>
          </a:xfrm>
          <a:prstGeom prst="roundRect">
            <a:avLst>
              <a:gd fmla="val 1649" name="adj"/>
            </a:avLst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 txBox="1"/>
          <p:nvPr/>
        </p:nvSpPr>
        <p:spPr>
          <a:xfrm>
            <a:off x="7498080" y="86868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Team details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 txBox="1"/>
          <p:nvPr/>
        </p:nvSpPr>
        <p:spPr>
          <a:xfrm>
            <a:off x="7498080" y="1325880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lang="en-U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Prometheus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" name="Google Shape;40;p1"/>
          <p:cNvCxnSpPr/>
          <p:nvPr/>
        </p:nvCxnSpPr>
        <p:spPr>
          <a:xfrm>
            <a:off x="7498080" y="1965960"/>
            <a:ext cx="3886200" cy="0"/>
          </a:xfrm>
          <a:prstGeom prst="straightConnector1">
            <a:avLst/>
          </a:prstGeom>
          <a:noFill/>
          <a:ln cap="flat" cmpd="sng" w="12700">
            <a:solidFill>
              <a:srgbClr val="1621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1"/>
          <p:cNvSpPr txBox="1"/>
          <p:nvPr/>
        </p:nvSpPr>
        <p:spPr>
          <a:xfrm>
            <a:off x="7498080" y="2011680"/>
            <a:ext cx="3931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Pranshi Mittal</a:t>
            </a: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— Team lead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[14701012025]  ·  [</a:t>
            </a:r>
            <a:r>
              <a:rPr lang="en-US" sz="13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IGDTUW</a:t>
            </a:r>
            <a:r>
              <a:rPr b="0" i="0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3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2029</a:t>
            </a:r>
            <a:r>
              <a:rPr b="0" i="0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13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pranshi147btcse25@igdtuw.ac.in</a:t>
            </a:r>
            <a:r>
              <a:rPr b="0" i="0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]  ·  [</a:t>
            </a:r>
            <a:r>
              <a:rPr lang="en-US" sz="13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7011312758</a:t>
            </a:r>
            <a:r>
              <a:rPr b="0" i="0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Google Shape;42;p1"/>
          <p:cNvCxnSpPr/>
          <p:nvPr/>
        </p:nvCxnSpPr>
        <p:spPr>
          <a:xfrm>
            <a:off x="7498080" y="2834640"/>
            <a:ext cx="3886200" cy="0"/>
          </a:xfrm>
          <a:prstGeom prst="straightConnector1">
            <a:avLst/>
          </a:prstGeom>
          <a:noFill/>
          <a:ln cap="flat" cmpd="sng" w="12700">
            <a:solidFill>
              <a:srgbClr val="1621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1"/>
          <p:cNvSpPr txBox="1"/>
          <p:nvPr/>
        </p:nvSpPr>
        <p:spPr>
          <a:xfrm>
            <a:off x="7498080" y="2880360"/>
            <a:ext cx="3931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Kairav Dutta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13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2025246</a:t>
            </a:r>
            <a:r>
              <a:rPr b="0" i="0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]  ·  [</a:t>
            </a:r>
            <a:r>
              <a:rPr lang="en-US" sz="13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IIITD</a:t>
            </a:r>
            <a:r>
              <a:rPr b="0" i="0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3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2029</a:t>
            </a:r>
            <a:r>
              <a:rPr b="0" i="0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13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kairav25246@iiitd.ac.in</a:t>
            </a:r>
            <a:r>
              <a:rPr b="0" i="0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]  ·  [</a:t>
            </a:r>
            <a:r>
              <a:rPr lang="en-US" sz="13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8448436628</a:t>
            </a:r>
            <a:r>
              <a:rPr b="0" i="0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" name="Google Shape;44;p1"/>
          <p:cNvCxnSpPr/>
          <p:nvPr/>
        </p:nvCxnSpPr>
        <p:spPr>
          <a:xfrm>
            <a:off x="7498080" y="3703320"/>
            <a:ext cx="3886200" cy="0"/>
          </a:xfrm>
          <a:prstGeom prst="straightConnector1">
            <a:avLst/>
          </a:prstGeom>
          <a:noFill/>
          <a:ln cap="flat" cmpd="sng" w="12700">
            <a:solidFill>
              <a:srgbClr val="1621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1"/>
          <p:cNvSpPr txBox="1"/>
          <p:nvPr/>
        </p:nvSpPr>
        <p:spPr>
          <a:xfrm>
            <a:off x="7498080" y="3749040"/>
            <a:ext cx="3931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Kinshuk Tripathi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13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2025264</a:t>
            </a:r>
            <a:r>
              <a:rPr b="0" i="0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]  ·  </a:t>
            </a:r>
            <a:r>
              <a:rPr lang="en-US" sz="13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[IIITD, 2029]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13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kinshuk25264@iiitd.ac.in</a:t>
            </a:r>
            <a:r>
              <a:rPr b="0" i="0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]  ·  [</a:t>
            </a:r>
            <a:r>
              <a:rPr lang="en-US" sz="13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8004192084</a:t>
            </a:r>
            <a:r>
              <a:rPr b="0" i="0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46;p1"/>
          <p:cNvCxnSpPr/>
          <p:nvPr/>
        </p:nvCxnSpPr>
        <p:spPr>
          <a:xfrm>
            <a:off x="7498080" y="4572000"/>
            <a:ext cx="3886200" cy="0"/>
          </a:xfrm>
          <a:prstGeom prst="straightConnector1">
            <a:avLst/>
          </a:prstGeom>
          <a:noFill/>
          <a:ln cap="flat" cmpd="sng" w="12700">
            <a:solidFill>
              <a:srgbClr val="1621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1"/>
          <p:cNvSpPr txBox="1"/>
          <p:nvPr/>
        </p:nvSpPr>
        <p:spPr>
          <a:xfrm>
            <a:off x="7498080" y="4617720"/>
            <a:ext cx="3931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Krunal Patel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13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2025277</a:t>
            </a:r>
            <a:r>
              <a:rPr b="0" i="0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]  ·  </a:t>
            </a:r>
            <a:r>
              <a:rPr lang="en-US" sz="13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[IIITD, 2029]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[krunal25277@iiitd.ac.in</a:t>
            </a:r>
            <a:r>
              <a:rPr b="0" i="0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]  ·  [</a:t>
            </a:r>
            <a:r>
              <a:rPr lang="en-US" sz="13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9216539315</a:t>
            </a:r>
            <a:r>
              <a:rPr b="0" i="0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Map: Natural Earth boundaries; arcs are illustrative, not real traffic.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 txBox="1"/>
          <p:nvPr>
            <p:ph type="title"/>
          </p:nvPr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</a:rPr>
              <a:t>Outbreak reports and travel data never meet on one screen</a:t>
            </a:r>
            <a:endParaRPr sz="3200"/>
          </a:p>
        </p:txBody>
      </p:sp>
      <p:sp>
        <p:nvSpPr>
          <p:cNvPr id="55" name="Google Shape;55;p2"/>
          <p:cNvSpPr txBox="1"/>
          <p:nvPr/>
        </p:nvSpPr>
        <p:spPr>
          <a:xfrm>
            <a:off x="548640" y="1188720"/>
            <a:ext cx="6583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548640" y="1645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1097280" y="164592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Reports are prose, not data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1097280" y="1993392"/>
            <a:ext cx="6035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WHO Disease Outbreak News has a public API, but case counts, places and dates often sit inside narrative HTML (we checked: its Epidemiology field is frequently empty). Regional and national sources often have no API at all.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1097280" y="310896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Maps show where, not who is next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1097280" y="3456432"/>
            <a:ext cx="6035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Disease spreads along flight networks. In Brockmann &amp; Helbing's simulated pandemic, network ‘effective distance’ explained arrival times with R² 0.97 vs 0.34 for geographic distance.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548640" y="4572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 txBox="1"/>
          <p:nvPr/>
        </p:nvSpPr>
        <p:spPr>
          <a:xfrm>
            <a:off x="1097280" y="457200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Risk is quoted as one opaque score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1097280" y="4919472"/>
            <a:ext cx="6035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Whether an infected traveller lands and whether an outbreak takes off are different events with different inputs. Merging them hides the assumptions people need to judge them.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 txBox="1"/>
          <p:nvPr/>
        </p:nvSpPr>
        <p:spPr>
          <a:xfrm>
            <a:off x="7589520" y="1188720"/>
            <a:ext cx="40507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Target users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7589525" y="1645924"/>
            <a:ext cx="4050900" cy="1068300"/>
          </a:xfrm>
          <a:prstGeom prst="roundRect">
            <a:avLst>
              <a:gd fmla="val 5714" name="adj"/>
            </a:avLst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 txBox="1"/>
          <p:nvPr/>
        </p:nvSpPr>
        <p:spPr>
          <a:xfrm>
            <a:off x="7820808" y="1741987"/>
            <a:ext cx="3593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Port &amp; airport health officers, district surveillance teams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7818133" y="2211533"/>
            <a:ext cx="3593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Which incoming routes deserve screening attention this fortnight?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7588150" y="2754528"/>
            <a:ext cx="4050900" cy="956400"/>
          </a:xfrm>
          <a:prstGeom prst="roundRect">
            <a:avLst>
              <a:gd fmla="val 5714" name="adj"/>
            </a:avLst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 txBox="1"/>
          <p:nvPr/>
        </p:nvSpPr>
        <p:spPr>
          <a:xfrm>
            <a:off x="7816749" y="2819800"/>
            <a:ext cx="35937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Travel-medicine clinics, university &amp; corporate travel desks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7816749" y="3275425"/>
            <a:ext cx="35937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What is the sourced situation at a destination, and how fast could it change?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2" name="Google Shape;72;p2"/>
          <p:cNvGrpSpPr/>
          <p:nvPr/>
        </p:nvGrpSpPr>
        <p:grpSpPr>
          <a:xfrm>
            <a:off x="7590775" y="3804651"/>
            <a:ext cx="4050900" cy="870134"/>
            <a:chOff x="7592150" y="4114084"/>
            <a:chExt cx="4050900" cy="965100"/>
          </a:xfrm>
        </p:grpSpPr>
        <p:sp>
          <p:nvSpPr>
            <p:cNvPr id="73" name="Google Shape;73;p2"/>
            <p:cNvSpPr/>
            <p:nvPr/>
          </p:nvSpPr>
          <p:spPr>
            <a:xfrm>
              <a:off x="7592150" y="4114084"/>
              <a:ext cx="4050900" cy="965100"/>
            </a:xfrm>
            <a:prstGeom prst="roundRect">
              <a:avLst>
                <a:gd fmla="val 5714" name="adj"/>
              </a:avLst>
            </a:prstGeom>
            <a:solidFill>
              <a:schemeClr val="accent5"/>
            </a:solidFill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2"/>
            <p:cNvSpPr txBox="1"/>
            <p:nvPr/>
          </p:nvSpPr>
          <p:spPr>
            <a:xfrm>
              <a:off x="7820749" y="4238169"/>
              <a:ext cx="3593700" cy="37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Journalists, researchers, students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2"/>
            <p:cNvSpPr txBox="1"/>
            <p:nvPr/>
          </p:nvSpPr>
          <p:spPr>
            <a:xfrm>
              <a:off x="7779524" y="4516613"/>
              <a:ext cx="3593700" cy="37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300"/>
                <a:buFont typeface="Calibri"/>
                <a:buNone/>
              </a:pPr>
              <a:r>
                <a:rPr b="0" i="1" lang="en-US" sz="1300" u="none" cap="none" strike="noStrike">
                  <a:solidFill>
                    <a:schemeClr val="lt2"/>
                  </a:solidFill>
                  <a:latin typeface="Calibri"/>
                  <a:ea typeface="Calibri"/>
                  <a:cs typeface="Calibri"/>
                  <a:sym typeface="Calibri"/>
                </a:rPr>
                <a:t>A transparent, citable explanation of importation risk instead of a black-box score.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" name="Google Shape;76;p2"/>
          <p:cNvSpPr txBox="1"/>
          <p:nvPr/>
        </p:nvSpPr>
        <p:spPr>
          <a:xfrm>
            <a:off x="548640" y="6035040"/>
            <a:ext cx="11094415" cy="4023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Situational awareness only — not diagnosis, not an official forecast, not individual medical advice.  Source: Brockmann D, Helbing D. Science 2013;342:1337 (simulation result). WHO DON API checked 15 Oct 2026.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 txBox="1"/>
          <p:nvPr>
            <p:ph idx="4294967295" type="sldNum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3A4BD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93A4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7588150" y="4768503"/>
            <a:ext cx="4050900" cy="956400"/>
          </a:xfrm>
          <a:prstGeom prst="roundRect">
            <a:avLst>
              <a:gd fmla="val 5714" name="adj"/>
            </a:avLst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 txBox="1"/>
          <p:nvPr/>
        </p:nvSpPr>
        <p:spPr>
          <a:xfrm>
            <a:off x="7816749" y="4833775"/>
            <a:ext cx="35937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General Public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 txBox="1"/>
          <p:nvPr/>
        </p:nvSpPr>
        <p:spPr>
          <a:xfrm>
            <a:off x="7816750" y="5162200"/>
            <a:ext cx="3593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What is the </a:t>
            </a:r>
            <a:r>
              <a:rPr i="1" lang="en-US" sz="13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situation</a:t>
            </a:r>
            <a:r>
              <a:rPr i="1" lang="en-US" sz="13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here right now? What is the probability that this disease will spread here?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/>
          <p:nvPr>
            <p:ph type="title"/>
          </p:nvPr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</a:rPr>
              <a:t>One map: sourced outbreaks, flight links, separate risks</a:t>
            </a:r>
            <a:endParaRPr sz="3200"/>
          </a:p>
        </p:txBody>
      </p:sp>
      <p:sp>
        <p:nvSpPr>
          <p:cNvPr id="87" name="Google Shape;87;p3"/>
          <p:cNvSpPr/>
          <p:nvPr/>
        </p:nvSpPr>
        <p:spPr>
          <a:xfrm>
            <a:off x="548640" y="1188720"/>
            <a:ext cx="11091672" cy="4526280"/>
          </a:xfrm>
          <a:prstGeom prst="roundRect">
            <a:avLst>
              <a:gd fmla="val 1212" name="adj"/>
            </a:avLst>
          </a:prstGeom>
          <a:solidFill>
            <a:srgbClr val="0E1728"/>
          </a:solidFill>
          <a:ln cap="flat" cmpd="sng" w="19050">
            <a:solidFill>
              <a:srgbClr val="162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oncept map: origin shaded red, arcs to destinations, rings sized by modelled importation risk" id="88" name="Google Shape;8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600200"/>
            <a:ext cx="7178040" cy="40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3"/>
          <p:cNvSpPr txBox="1"/>
          <p:nvPr/>
        </p:nvSpPr>
        <p:spPr>
          <a:xfrm>
            <a:off x="731520" y="126187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EpiRoute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1874520" y="1261872"/>
            <a:ext cx="1691640" cy="274320"/>
          </a:xfrm>
          <a:prstGeom prst="roundRect">
            <a:avLst>
              <a:gd fmla="val 50000" name="adj"/>
            </a:avLst>
          </a:prstGeom>
          <a:solidFill>
            <a:schemeClr val="lt2">
              <a:alpha val="20000"/>
            </a:schemeClr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 txBox="1"/>
          <p:nvPr/>
        </p:nvSpPr>
        <p:spPr>
          <a:xfrm>
            <a:off x="1874520" y="1261872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Pathogen: hypothetical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3703320" y="1261872"/>
            <a:ext cx="1280160" cy="274320"/>
          </a:xfrm>
          <a:prstGeom prst="roundRect">
            <a:avLst>
              <a:gd fmla="val 50000" name="adj"/>
            </a:avLst>
          </a:prstGeom>
          <a:solidFill>
            <a:schemeClr val="lt2">
              <a:alpha val="20000"/>
            </a:schemeClr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 txBox="1"/>
          <p:nvPr/>
        </p:nvSpPr>
        <p:spPr>
          <a:xfrm>
            <a:off x="3703320" y="126187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Horizon: 14 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5120640" y="1261872"/>
            <a:ext cx="2240280" cy="274320"/>
          </a:xfrm>
          <a:prstGeom prst="roundRect">
            <a:avLst>
              <a:gd fmla="val 50000" name="adj"/>
            </a:avLst>
          </a:prstGeom>
          <a:solidFill>
            <a:schemeClr val="lt2">
              <a:alpha val="20000"/>
            </a:schemeClr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 txBox="1"/>
          <p:nvPr/>
        </p:nvSpPr>
        <p:spPr>
          <a:xfrm>
            <a:off x="5120640" y="1261872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Layers: reports · routes · risk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7955280" y="1261872"/>
            <a:ext cx="3547872" cy="274320"/>
          </a:xfrm>
          <a:prstGeom prst="roundRect">
            <a:avLst>
              <a:gd fmla="val 50000" name="adj"/>
            </a:avLst>
          </a:prstGeom>
          <a:solidFill>
            <a:schemeClr val="accent6">
              <a:alpha val="20000"/>
            </a:schemeClr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 txBox="1"/>
          <p:nvPr/>
        </p:nvSpPr>
        <p:spPr>
          <a:xfrm>
            <a:off x="7955280" y="1261872"/>
            <a:ext cx="35478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CONCEPT UI · proposed design · illustrative numbers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777240" y="4800600"/>
            <a:ext cx="3017520" cy="777240"/>
          </a:xfrm>
          <a:prstGeom prst="roundRect">
            <a:avLst>
              <a:gd fmla="val 9412" name="adj"/>
            </a:avLst>
          </a:prstGeom>
          <a:solidFill>
            <a:srgbClr val="0B1320"/>
          </a:solidFill>
          <a:ln cap="flat" cmpd="sng" w="12700">
            <a:solidFill>
              <a:srgbClr val="0B13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877824" y="4901184"/>
            <a:ext cx="164592" cy="164592"/>
          </a:xfrm>
          <a:prstGeom prst="ellipse">
            <a:avLst/>
          </a:prstGeom>
          <a:solidFill>
            <a:schemeClr val="accent2">
              <a:alpha val="30196"/>
            </a:schemeClr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925556" y="4948916"/>
            <a:ext cx="69129" cy="69129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 txBox="1"/>
          <p:nvPr/>
        </p:nvSpPr>
        <p:spPr>
          <a:xfrm>
            <a:off x="1115568" y="4892040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Reported outbreak (sourced)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877824" y="5129784"/>
            <a:ext cx="164592" cy="164592"/>
          </a:xfrm>
          <a:prstGeom prst="ellipse">
            <a:avLst/>
          </a:prstGeom>
          <a:solidFill>
            <a:schemeClr val="accent1">
              <a:alpha val="30196"/>
            </a:schemeClr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925556" y="5177516"/>
            <a:ext cx="69129" cy="69129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1115568" y="5120640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Ring = modelled importation risk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877824" y="5340096"/>
            <a:ext cx="164592" cy="164592"/>
          </a:xfrm>
          <a:prstGeom prst="ellipse">
            <a:avLst/>
          </a:prstGeom>
          <a:solidFill>
            <a:schemeClr val="accent4">
              <a:alpha val="30196"/>
            </a:schemeClr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925556" y="5387828"/>
            <a:ext cx="69129" cy="69129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 txBox="1"/>
          <p:nvPr/>
        </p:nvSpPr>
        <p:spPr>
          <a:xfrm>
            <a:off x="1115568" y="5330952"/>
            <a:ext cx="2651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Via hub (indirect path)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7955280" y="1600200"/>
            <a:ext cx="3547872" cy="4069080"/>
          </a:xfrm>
          <a:prstGeom prst="roundRect">
            <a:avLst>
              <a:gd fmla="val 2062" name="adj"/>
            </a:avLst>
          </a:prstGeom>
          <a:solidFill>
            <a:srgbClr val="131F35"/>
          </a:solidFill>
          <a:ln cap="flat" cmpd="sng" w="12700">
            <a:solidFill>
              <a:srgbClr val="131F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 txBox="1"/>
          <p:nvPr/>
        </p:nvSpPr>
        <p:spPr>
          <a:xfrm>
            <a:off x="8138160" y="1719072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India · selected destination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8138160" y="1993392"/>
            <a:ext cx="31821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No local cases reported · data 2 h old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8138160" y="2331720"/>
            <a:ext cx="31821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P(≥1 infected arrival, 14 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8138160" y="256032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59%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9144000" y="2651760"/>
            <a:ext cx="21762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30–83% · under-reporting 2×–10×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8138160" y="3291840"/>
            <a:ext cx="31821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P(sustained local spread, 14 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8138160" y="3520440"/>
            <a:ext cx="1005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19%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9144000" y="3611880"/>
            <a:ext cx="21762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8–34% · R 1.8, k 0.3 (assumed)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8138160" y="4251960"/>
            <a:ext cx="31821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Top origin routes: Country A direct · via DXB · via SIN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8138160" y="457200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Screening σ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3"/>
          <p:cNvCxnSpPr/>
          <p:nvPr/>
        </p:nvCxnSpPr>
        <p:spPr>
          <a:xfrm>
            <a:off x="9555480" y="4672584"/>
            <a:ext cx="1691640" cy="0"/>
          </a:xfrm>
          <a:prstGeom prst="straightConnector1">
            <a:avLst/>
          </a:prstGeom>
          <a:noFill/>
          <a:ln cap="flat" cmpd="sng" w="19050">
            <a:solidFill>
              <a:srgbClr val="93A4B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3"/>
          <p:cNvSpPr/>
          <p:nvPr/>
        </p:nvSpPr>
        <p:spPr>
          <a:xfrm>
            <a:off x="9646920" y="4599432"/>
            <a:ext cx="146304" cy="146304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8138160" y="484632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Passenger volume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3"/>
          <p:cNvCxnSpPr/>
          <p:nvPr/>
        </p:nvCxnSpPr>
        <p:spPr>
          <a:xfrm>
            <a:off x="9555480" y="4946904"/>
            <a:ext cx="1691640" cy="0"/>
          </a:xfrm>
          <a:prstGeom prst="straightConnector1">
            <a:avLst/>
          </a:prstGeom>
          <a:noFill/>
          <a:ln cap="flat" cmpd="sng" w="19050">
            <a:solidFill>
              <a:srgbClr val="93A4B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3"/>
          <p:cNvSpPr/>
          <p:nvPr/>
        </p:nvSpPr>
        <p:spPr>
          <a:xfrm>
            <a:off x="10469880" y="4873752"/>
            <a:ext cx="146304" cy="146304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8138160" y="512064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Under-reporting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3"/>
          <p:cNvCxnSpPr/>
          <p:nvPr/>
        </p:nvCxnSpPr>
        <p:spPr>
          <a:xfrm>
            <a:off x="9555480" y="5221224"/>
            <a:ext cx="1691640" cy="0"/>
          </a:xfrm>
          <a:prstGeom prst="straightConnector1">
            <a:avLst/>
          </a:prstGeom>
          <a:noFill/>
          <a:ln cap="flat" cmpd="sng" w="19050">
            <a:solidFill>
              <a:srgbClr val="93A4B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3"/>
          <p:cNvSpPr/>
          <p:nvPr/>
        </p:nvSpPr>
        <p:spPr>
          <a:xfrm>
            <a:off x="10195560" y="5148072"/>
            <a:ext cx="146304" cy="146304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566928" y="5925312"/>
            <a:ext cx="256032" cy="256032"/>
          </a:xfrm>
          <a:prstGeom prst="ellipse">
            <a:avLst/>
          </a:prstGeom>
          <a:solidFill>
            <a:schemeClr val="accent3">
              <a:alpha val="30196"/>
            </a:schemeClr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641177" y="5999561"/>
            <a:ext cx="107533" cy="107533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932688" y="5870448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Pick a reported outbreak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3374136" y="5925312"/>
            <a:ext cx="256032" cy="256032"/>
          </a:xfrm>
          <a:prstGeom prst="ellipse">
            <a:avLst/>
          </a:prstGeom>
          <a:solidFill>
            <a:schemeClr val="accent3">
              <a:alpha val="30196"/>
            </a:schemeClr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3448385" y="5999561"/>
            <a:ext cx="107533" cy="107533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3739896" y="5870448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See linked routes and hubs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6181344" y="5925312"/>
            <a:ext cx="256032" cy="256032"/>
          </a:xfrm>
          <a:prstGeom prst="ellipse">
            <a:avLst/>
          </a:prstGeom>
          <a:solidFill>
            <a:schemeClr val="accent3">
              <a:alpha val="30196"/>
            </a:schemeClr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6255593" y="5999561"/>
            <a:ext cx="107533" cy="107533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6547104" y="5870448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 a destination country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8988552" y="5925312"/>
            <a:ext cx="256032" cy="256032"/>
          </a:xfrm>
          <a:prstGeom prst="ellipse">
            <a:avLst/>
          </a:prstGeom>
          <a:solidFill>
            <a:schemeClr val="accent3">
              <a:alpha val="30196"/>
            </a:schemeClr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9062801" y="5999561"/>
            <a:ext cx="107533" cy="107533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9354312" y="5870448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Move assumptions, watch ranges shift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 txBox="1"/>
          <p:nvPr>
            <p:ph idx="4294967295" type="sldNum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3A4BD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93A4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/>
          <p:nvPr>
            <p:ph type="title"/>
          </p:nvPr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</a:rPr>
              <a:t>Three probabilities, three different inputs — never one score</a:t>
            </a:r>
            <a:endParaRPr sz="3200"/>
          </a:p>
        </p:txBody>
      </p:sp>
      <p:sp>
        <p:nvSpPr>
          <p:cNvPr id="146" name="Google Shape;146;p4"/>
          <p:cNvSpPr/>
          <p:nvPr/>
        </p:nvSpPr>
        <p:spPr>
          <a:xfrm>
            <a:off x="548640" y="1188720"/>
            <a:ext cx="3520440" cy="2377440"/>
          </a:xfrm>
          <a:prstGeom prst="roundRect">
            <a:avLst>
              <a:gd fmla="val 3077" name="adj"/>
            </a:avLst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749808" y="1389888"/>
            <a:ext cx="292608" cy="292608"/>
          </a:xfrm>
          <a:prstGeom prst="ellipse">
            <a:avLst/>
          </a:prstGeom>
          <a:solidFill>
            <a:schemeClr val="accent3">
              <a:alpha val="30196"/>
            </a:schemeClr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834664" y="1474744"/>
            <a:ext cx="122895" cy="122895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 txBox="1"/>
          <p:nvPr/>
        </p:nvSpPr>
        <p:spPr>
          <a:xfrm>
            <a:off x="1188720" y="1389888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Already here?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777240" y="1847088"/>
            <a:ext cx="3063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accent3"/>
                </a:solidFill>
                <a:latin typeface="Cambria"/>
                <a:ea typeface="Cambria"/>
                <a:cs typeface="Cambria"/>
                <a:sym typeface="Cambria"/>
              </a:rPr>
              <a:t>P(present)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777240" y="2606040"/>
            <a:ext cx="3063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Local case reports + an under-reporting band. Flights are NOT an input — a flight link never implies presence.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4297680" y="1188720"/>
            <a:ext cx="3520440" cy="2377440"/>
          </a:xfrm>
          <a:prstGeom prst="roundRect">
            <a:avLst>
              <a:gd fmla="val 3077" name="adj"/>
            </a:avLst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4498848" y="1389888"/>
            <a:ext cx="292608" cy="292608"/>
          </a:xfrm>
          <a:prstGeom prst="ellipse">
            <a:avLst/>
          </a:prstGeom>
          <a:solidFill>
            <a:schemeClr val="accent1">
              <a:alpha val="30196"/>
            </a:schemeClr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4583704" y="1474744"/>
            <a:ext cx="122895" cy="122895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"/>
          <p:cNvSpPr txBox="1"/>
          <p:nvPr/>
        </p:nvSpPr>
        <p:spPr>
          <a:xfrm>
            <a:off x="4937760" y="1389888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Will an infected traveller land?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4526280" y="1847088"/>
            <a:ext cx="3063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P(import, T days) = 1 − e^(−λT)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λ = Σₘ (Iₘ/Nₘ) · Fₘₙ · α · (1 − σ)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4526280" y="2606040"/>
            <a:ext cx="3063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Iₘ/Nₘ origin prevalence · F passengers/day · α chance an infectious person still boards · σ screening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8046720" y="1188720"/>
            <a:ext cx="3520440" cy="2377440"/>
          </a:xfrm>
          <a:prstGeom prst="roundRect">
            <a:avLst>
              <a:gd fmla="val 3077" name="adj"/>
            </a:avLst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8247888" y="1389888"/>
            <a:ext cx="292608" cy="292608"/>
          </a:xfrm>
          <a:prstGeom prst="ellipse">
            <a:avLst/>
          </a:prstGeom>
          <a:solidFill>
            <a:schemeClr val="accent2">
              <a:alpha val="30196"/>
            </a:schemeClr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8332744" y="1474744"/>
            <a:ext cx="122895" cy="122895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4"/>
          <p:cNvSpPr txBox="1"/>
          <p:nvPr/>
        </p:nvSpPr>
        <p:spPr>
          <a:xfrm>
            <a:off x="8686800" y="1389888"/>
            <a:ext cx="2697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Will it take off locally?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 txBox="1"/>
          <p:nvPr/>
        </p:nvSpPr>
        <p:spPr>
          <a:xfrm>
            <a:off x="8275320" y="1847088"/>
            <a:ext cx="3063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P(establish | 1 intro) = 1 − q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q = (1 + R(1 − q)/k)^(−k)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8275320" y="2606040"/>
            <a:ext cx="3063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Branching process: R reproduction number, k dispersion (cluster-size studies). Vectors / climate decide this for Zika-like pathogens.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4" name="Google Shape;164;p4"/>
          <p:cNvGraphicFramePr/>
          <p:nvPr/>
        </p:nvGraphicFramePr>
        <p:xfrm>
          <a:off x="548640" y="3749040"/>
          <a:ext cx="6126480" cy="219456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65" name="Google Shape;165;p4"/>
          <p:cNvSpPr/>
          <p:nvPr/>
        </p:nvSpPr>
        <p:spPr>
          <a:xfrm>
            <a:off x="6949440" y="3749040"/>
            <a:ext cx="4690872" cy="2194560"/>
          </a:xfrm>
          <a:prstGeom prst="roundRect">
            <a:avLst>
              <a:gd fmla="val 3333" name="adj"/>
            </a:avLst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7178040" y="3886200"/>
            <a:ext cx="4233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Why busy routes ≠ outbreaks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7178040" y="4206240"/>
            <a:ext cx="1234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14%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8458200" y="4251960"/>
            <a:ext cx="295351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of single introductions establish when R = 2.5, k = 0.1 (COVID-like dispersion). Most chains die out.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 txBox="1"/>
          <p:nvPr/>
        </p:nvSpPr>
        <p:spPr>
          <a:xfrm>
            <a:off x="7178040" y="4983480"/>
            <a:ext cx="423367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Ranking who is next: </a:t>
            </a: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edge d(m,n) = 1 − ln(Fₘₙ / Fₘ); shortest path over hubs gives effective distance, so Istanbul, Dubai or Singapore transfers count.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 txBox="1"/>
          <p:nvPr/>
        </p:nvSpPr>
        <p:spPr>
          <a:xfrm>
            <a:off x="548640" y="6035040"/>
            <a:ext cx="11094415" cy="4023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Chart: our computation of the Poisson model with α = 0.5, σ = 0 (scenario, not an estimate for any outbreak). Method: briefing note ‘How disease-spread probabilities get their data’ (14 Oct 2026); Brockmann &amp; Helbing, Science 2013; Lloyd-Smith et al., Nature 2005.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 txBox="1"/>
          <p:nvPr>
            <p:ph idx="4294967295" type="sldNum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3A4BD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93A4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"/>
          <p:cNvSpPr txBox="1"/>
          <p:nvPr>
            <p:ph type="title"/>
          </p:nvPr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</a:rPr>
              <a:t>How do you plan to integrate the TinyFish API?</a:t>
            </a:r>
            <a:endParaRPr sz="3200"/>
          </a:p>
        </p:txBody>
      </p:sp>
      <p:sp>
        <p:nvSpPr>
          <p:cNvPr id="178" name="Google Shape;178;p5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TinyFish turns official web pages into validated, sourced records — and fills the model input no free API provides: this week's border-screening policy (σ).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548640" y="1737360"/>
            <a:ext cx="2606040" cy="2240280"/>
          </a:xfrm>
          <a:prstGeom prst="roundRect">
            <a:avLst>
              <a:gd fmla="val 3265" name="adj"/>
            </a:avLst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 txBox="1"/>
          <p:nvPr/>
        </p:nvSpPr>
        <p:spPr>
          <a:xfrm>
            <a:off x="731520" y="1874520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1  Discover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731520" y="219456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Search API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731520" y="2514600"/>
            <a:ext cx="2240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include_domains: who.int, ecdc.europa.eu, paho.org, africacdc.org · recency filter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 txBox="1"/>
          <p:nvPr/>
        </p:nvSpPr>
        <p:spPr>
          <a:xfrm>
            <a:off x="731520" y="3639312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3182112" y="2697480"/>
            <a:ext cx="146304" cy="274320"/>
          </a:xfrm>
          <a:prstGeom prst="chevron">
            <a:avLst>
              <a:gd fmla="val 50000" name="adj"/>
            </a:avLst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3355848" y="1737360"/>
            <a:ext cx="2606040" cy="2240280"/>
          </a:xfrm>
          <a:prstGeom prst="roundRect">
            <a:avLst>
              <a:gd fmla="val 3265" name="adj"/>
            </a:avLst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 txBox="1"/>
          <p:nvPr/>
        </p:nvSpPr>
        <p:spPr>
          <a:xfrm>
            <a:off x="3538728" y="1874520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2  Watch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3538728" y="219456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Monitor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 txBox="1"/>
          <p:nvPr/>
        </p:nvSpPr>
        <p:spPr>
          <a:xfrm>
            <a:off x="3538728" y="2514600"/>
            <a:ext cx="2240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Page monitor on WHO DON + ECDC threat-report listings → webhook triggers ingest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 txBox="1"/>
          <p:nvPr/>
        </p:nvSpPr>
        <p:spPr>
          <a:xfrm>
            <a:off x="3538728" y="3639312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$0.005/run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5989320" y="2697480"/>
            <a:ext cx="146304" cy="274320"/>
          </a:xfrm>
          <a:prstGeom prst="chevron">
            <a:avLst>
              <a:gd fmla="val 50000" name="adj"/>
            </a:avLst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6163056" y="1737360"/>
            <a:ext cx="2606040" cy="2240280"/>
          </a:xfrm>
          <a:prstGeom prst="roundRect">
            <a:avLst>
              <a:gd fmla="val 3265" name="adj"/>
            </a:avLst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"/>
          <p:cNvSpPr txBox="1"/>
          <p:nvPr/>
        </p:nvSpPr>
        <p:spPr>
          <a:xfrm>
            <a:off x="6345936" y="1874520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3  Read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6345936" y="219456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Fetch API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6345936" y="2514600"/>
            <a:ext cx="2240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Report page → clean markdown/JSON, up to 10 URLs/call, with published_date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6345936" y="3639312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free ≤1k URLs/day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8796528" y="2697480"/>
            <a:ext cx="146304" cy="274320"/>
          </a:xfrm>
          <a:prstGeom prst="chevron">
            <a:avLst>
              <a:gd fmla="val 50000" name="adj"/>
            </a:avLst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"/>
          <p:cNvSpPr/>
          <p:nvPr/>
        </p:nvSpPr>
        <p:spPr>
          <a:xfrm>
            <a:off x="8970264" y="1737360"/>
            <a:ext cx="2606040" cy="2240280"/>
          </a:xfrm>
          <a:prstGeom prst="roundRect">
            <a:avLst>
              <a:gd fmla="val 3265" name="adj"/>
            </a:avLst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"/>
          <p:cNvSpPr txBox="1"/>
          <p:nvPr/>
        </p:nvSpPr>
        <p:spPr>
          <a:xfrm>
            <a:off x="9153144" y="1874520"/>
            <a:ext cx="2240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4  Extract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9153144" y="219456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Agent API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9153144" y="2514600"/>
            <a:ext cx="22402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POST /v1/automation/run-async with goal + output_schema → pathogen, places, cases, deaths, dates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 txBox="1"/>
          <p:nvPr/>
        </p:nvSpPr>
        <p:spPr>
          <a:xfrm>
            <a:off x="9153144" y="3639312"/>
            <a:ext cx="2240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$0.016/step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548640" y="4160520"/>
            <a:ext cx="6675120" cy="1874520"/>
          </a:xfrm>
          <a:prstGeom prst="roundRect">
            <a:avLst>
              <a:gd fmla="val 3902" name="adj"/>
            </a:avLst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 txBox="1"/>
          <p:nvPr/>
        </p:nvSpPr>
        <p:spPr>
          <a:xfrm>
            <a:off x="777240" y="4297680"/>
            <a:ext cx="6217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Our validation gate — before anything reaches the map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777240" y="4636008"/>
            <a:ext cx="62636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Grounding check: every extracted number must appear verbatim in the Fetch text, else flagged ‘unverified’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Schema + ISO-3166 country codes, non-negative counts, report date ≤ retrieval date, dedupe by source URL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Provenance on every record: source URL, run_id, retrieved_at, published_at, status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7406640" y="4160520"/>
            <a:ext cx="4233672" cy="1874520"/>
          </a:xfrm>
          <a:prstGeom prst="roundRect">
            <a:avLst>
              <a:gd fmla="val 3902" name="adj"/>
            </a:avLst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5"/>
          <p:cNvSpPr txBox="1"/>
          <p:nvPr/>
        </p:nvSpPr>
        <p:spPr>
          <a:xfrm>
            <a:off x="7635240" y="4297680"/>
            <a:ext cx="3776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Agent → border-policy flag σ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 txBox="1"/>
          <p:nvPr/>
        </p:nvSpPr>
        <p:spPr>
          <a:xfrm>
            <a:off x="7635240" y="4636008"/>
            <a:ext cx="3776472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The briefing note says live outbreaks need a manual policy flag (OxCGRT ended in 2022). An Agent run reads official entry-screening / quarantine pages into {measure, date, url}; a human confirms it before σ changes.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 txBox="1"/>
          <p:nvPr/>
        </p:nvSpPr>
        <p:spPr>
          <a:xfrm>
            <a:off x="548640" y="6035040"/>
            <a:ext cx="11094415" cy="4023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Server-side only; API key in env vars, never in the browser or repo. Limits per TinyFish docs/pricing (15 Oct 2026): Agent 2 concurrent runs, new wallets start with $8. TinyFish is an extractor — it is not a source of epidemiological truth or passenger data.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 txBox="1"/>
          <p:nvPr>
            <p:ph idx="4294967295" type="sldNum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3A4BD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93A4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"/>
          <p:cNvSpPr txBox="1"/>
          <p:nvPr>
            <p:ph type="title"/>
          </p:nvPr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</a:rPr>
              <a:t>Technical architecture and stack</a:t>
            </a:r>
            <a:endParaRPr sz="3200"/>
          </a:p>
        </p:txBody>
      </p:sp>
      <p:sp>
        <p:nvSpPr>
          <p:cNvPr id="216" name="Google Shape;216;p6"/>
          <p:cNvSpPr/>
          <p:nvPr/>
        </p:nvSpPr>
        <p:spPr>
          <a:xfrm>
            <a:off x="548640" y="1234440"/>
            <a:ext cx="2057400" cy="3794760"/>
          </a:xfrm>
          <a:prstGeom prst="roundRect">
            <a:avLst>
              <a:gd fmla="val 3556" name="adj"/>
            </a:avLst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722376" y="1417320"/>
            <a:ext cx="237744" cy="237744"/>
          </a:xfrm>
          <a:prstGeom prst="ellipse">
            <a:avLst/>
          </a:prstGeom>
          <a:solidFill>
            <a:schemeClr val="lt2">
              <a:alpha val="30196"/>
            </a:schemeClr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791322" y="1486266"/>
            <a:ext cx="99852" cy="99852"/>
          </a:xfrm>
          <a:prstGeom prst="ellipse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"/>
          <p:cNvSpPr txBox="1"/>
          <p:nvPr/>
        </p:nvSpPr>
        <p:spPr>
          <a:xfrm>
            <a:off x="1051560" y="1399032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Sources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685800" y="1856232"/>
            <a:ext cx="1783080" cy="438912"/>
          </a:xfrm>
          <a:prstGeom prst="roundRect">
            <a:avLst>
              <a:gd fmla="val 16667" name="adj"/>
            </a:avLst>
          </a:prstGeom>
          <a:solidFill>
            <a:srgbClr val="24365A"/>
          </a:solidFill>
          <a:ln cap="flat" cmpd="sng" w="12700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 txBox="1"/>
          <p:nvPr/>
        </p:nvSpPr>
        <p:spPr>
          <a:xfrm>
            <a:off x="777240" y="1856232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WHO DON API (JSON)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685800" y="2377440"/>
            <a:ext cx="1783080" cy="438912"/>
          </a:xfrm>
          <a:prstGeom prst="roundRect">
            <a:avLst>
              <a:gd fmla="val 16667" name="adj"/>
            </a:avLst>
          </a:prstGeom>
          <a:solidFill>
            <a:srgbClr val="24365A"/>
          </a:solidFill>
          <a:ln cap="flat" cmpd="sng" w="12700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 txBox="1"/>
          <p:nvPr/>
        </p:nvSpPr>
        <p:spPr>
          <a:xfrm>
            <a:off x="777240" y="2377440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Official report pages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685800" y="2898648"/>
            <a:ext cx="1783080" cy="438912"/>
          </a:xfrm>
          <a:prstGeom prst="roundRect">
            <a:avLst>
              <a:gd fmla="val 16667" name="adj"/>
            </a:avLst>
          </a:prstGeom>
          <a:solidFill>
            <a:srgbClr val="24365A"/>
          </a:solidFill>
          <a:ln cap="flat" cmpd="sng" w="12700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"/>
          <p:cNvSpPr txBox="1"/>
          <p:nvPr/>
        </p:nvSpPr>
        <p:spPr>
          <a:xfrm>
            <a:off x="777240" y="2898648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OpenFlights routes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685800" y="3419856"/>
            <a:ext cx="1783080" cy="438912"/>
          </a:xfrm>
          <a:prstGeom prst="roundRect">
            <a:avLst>
              <a:gd fmla="val 16667" name="adj"/>
            </a:avLst>
          </a:prstGeom>
          <a:solidFill>
            <a:srgbClr val="24365A"/>
          </a:solidFill>
          <a:ln cap="flat" cmpd="sng" w="12700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"/>
          <p:cNvSpPr txBox="1"/>
          <p:nvPr/>
        </p:nvSpPr>
        <p:spPr>
          <a:xfrm>
            <a:off x="777240" y="3419856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BTS T-100 · Eurostat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685800" y="3941064"/>
            <a:ext cx="1783080" cy="438912"/>
          </a:xfrm>
          <a:prstGeom prst="roundRect">
            <a:avLst>
              <a:gd fmla="val 16667" name="adj"/>
            </a:avLst>
          </a:prstGeom>
          <a:solidFill>
            <a:srgbClr val="24365A"/>
          </a:solidFill>
          <a:ln cap="flat" cmpd="sng" w="12700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6"/>
          <p:cNvSpPr txBox="1"/>
          <p:nvPr/>
        </p:nvSpPr>
        <p:spPr>
          <a:xfrm>
            <a:off x="777240" y="3941064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WorldPop / UN population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685800" y="4462272"/>
            <a:ext cx="1783080" cy="438912"/>
          </a:xfrm>
          <a:prstGeom prst="roundRect">
            <a:avLst>
              <a:gd fmla="val 16667" name="adj"/>
            </a:avLst>
          </a:prstGeom>
          <a:solidFill>
            <a:srgbClr val="24365A"/>
          </a:solidFill>
          <a:ln cap="flat" cmpd="sng" w="12700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"/>
          <p:cNvSpPr txBox="1"/>
          <p:nvPr/>
        </p:nvSpPr>
        <p:spPr>
          <a:xfrm>
            <a:off x="777240" y="4462272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OWID · JHU · OxCGRT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2642616" y="2971800"/>
            <a:ext cx="128016" cy="274320"/>
          </a:xfrm>
          <a:prstGeom prst="chevron">
            <a:avLst>
              <a:gd fmla="val 50000" name="adj"/>
            </a:avLst>
          </a:prstGeom>
          <a:solidFill>
            <a:srgbClr val="93A4BD"/>
          </a:solidFill>
          <a:ln cap="flat" cmpd="sng" w="12700">
            <a:solidFill>
              <a:srgbClr val="93A4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2807208" y="1234440"/>
            <a:ext cx="2057400" cy="3794760"/>
          </a:xfrm>
          <a:prstGeom prst="roundRect">
            <a:avLst>
              <a:gd fmla="val 3556" name="adj"/>
            </a:avLst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2980944" y="1417320"/>
            <a:ext cx="237744" cy="237744"/>
          </a:xfrm>
          <a:prstGeom prst="ellipse">
            <a:avLst/>
          </a:prstGeom>
          <a:solidFill>
            <a:schemeClr val="accent3">
              <a:alpha val="30196"/>
            </a:schemeClr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3049890" y="1486266"/>
            <a:ext cx="99852" cy="99852"/>
          </a:xfrm>
          <a:prstGeom prst="ellipse">
            <a:avLst/>
          </a:prstGeom>
          <a:solidFill>
            <a:schemeClr val="accent3"/>
          </a:solidFill>
          <a:ln cap="flat" cmpd="sng" w="127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"/>
          <p:cNvSpPr txBox="1"/>
          <p:nvPr/>
        </p:nvSpPr>
        <p:spPr>
          <a:xfrm>
            <a:off x="3310128" y="1399032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Ingest &amp; extract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2944368" y="1856232"/>
            <a:ext cx="1783080" cy="438912"/>
          </a:xfrm>
          <a:prstGeom prst="roundRect">
            <a:avLst>
              <a:gd fmla="val 16667" name="adj"/>
            </a:avLst>
          </a:prstGeom>
          <a:solidFill>
            <a:srgbClr val="24365A"/>
          </a:solidFill>
          <a:ln cap="flat" cmpd="sng" w="12700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 txBox="1"/>
          <p:nvPr/>
        </p:nvSpPr>
        <p:spPr>
          <a:xfrm>
            <a:off x="3035808" y="1856232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TinyFish Search · Monitor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2944368" y="2377440"/>
            <a:ext cx="1783080" cy="438912"/>
          </a:xfrm>
          <a:prstGeom prst="roundRect">
            <a:avLst>
              <a:gd fmla="val 16667" name="adj"/>
            </a:avLst>
          </a:prstGeom>
          <a:solidFill>
            <a:srgbClr val="24365A"/>
          </a:solidFill>
          <a:ln cap="flat" cmpd="sng" w="12700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6"/>
          <p:cNvSpPr txBox="1"/>
          <p:nvPr/>
        </p:nvSpPr>
        <p:spPr>
          <a:xfrm>
            <a:off x="3035808" y="2377440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TinyFish Fetch · Agent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2944368" y="2898648"/>
            <a:ext cx="1783080" cy="438912"/>
          </a:xfrm>
          <a:prstGeom prst="roundRect">
            <a:avLst>
              <a:gd fmla="val 16667" name="adj"/>
            </a:avLst>
          </a:prstGeom>
          <a:solidFill>
            <a:srgbClr val="24365A"/>
          </a:solidFill>
          <a:ln cap="flat" cmpd="sng" w="12700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6"/>
          <p:cNvSpPr txBox="1"/>
          <p:nvPr/>
        </p:nvSpPr>
        <p:spPr>
          <a:xfrm>
            <a:off x="3035808" y="2898648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Bulk CSV loaders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2944368" y="3419856"/>
            <a:ext cx="1783080" cy="438912"/>
          </a:xfrm>
          <a:prstGeom prst="roundRect">
            <a:avLst>
              <a:gd fmla="val 16667" name="adj"/>
            </a:avLst>
          </a:prstGeom>
          <a:solidFill>
            <a:srgbClr val="24365A"/>
          </a:solidFill>
          <a:ln cap="flat" cmpd="sng" w="12700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"/>
          <p:cNvSpPr txBox="1"/>
          <p:nvPr/>
        </p:nvSpPr>
        <p:spPr>
          <a:xfrm>
            <a:off x="3035808" y="3419856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Scheduler / manual trigger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4901184" y="2971800"/>
            <a:ext cx="128016" cy="274320"/>
          </a:xfrm>
          <a:prstGeom prst="chevron">
            <a:avLst>
              <a:gd fmla="val 50000" name="adj"/>
            </a:avLst>
          </a:prstGeom>
          <a:solidFill>
            <a:srgbClr val="93A4BD"/>
          </a:solidFill>
          <a:ln cap="flat" cmpd="sng" w="12700">
            <a:solidFill>
              <a:srgbClr val="93A4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6"/>
          <p:cNvSpPr/>
          <p:nvPr/>
        </p:nvSpPr>
        <p:spPr>
          <a:xfrm>
            <a:off x="5065776" y="1234440"/>
            <a:ext cx="2057400" cy="3794760"/>
          </a:xfrm>
          <a:prstGeom prst="roundRect">
            <a:avLst>
              <a:gd fmla="val 3556" name="adj"/>
            </a:avLst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6"/>
          <p:cNvSpPr/>
          <p:nvPr/>
        </p:nvSpPr>
        <p:spPr>
          <a:xfrm>
            <a:off x="5239512" y="1417320"/>
            <a:ext cx="237744" cy="237744"/>
          </a:xfrm>
          <a:prstGeom prst="ellipse">
            <a:avLst/>
          </a:prstGeom>
          <a:solidFill>
            <a:schemeClr val="accent4">
              <a:alpha val="30196"/>
            </a:schemeClr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5308458" y="1486266"/>
            <a:ext cx="99852" cy="99852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6"/>
          <p:cNvSpPr txBox="1"/>
          <p:nvPr/>
        </p:nvSpPr>
        <p:spPr>
          <a:xfrm>
            <a:off x="5568696" y="1399032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Validate &amp; store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5202936" y="1856232"/>
            <a:ext cx="1783080" cy="438912"/>
          </a:xfrm>
          <a:prstGeom prst="roundRect">
            <a:avLst>
              <a:gd fmla="val 16667" name="adj"/>
            </a:avLst>
          </a:prstGeom>
          <a:solidFill>
            <a:srgbClr val="24365A"/>
          </a:solidFill>
          <a:ln cap="flat" cmpd="sng" w="12700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6"/>
          <p:cNvSpPr txBox="1"/>
          <p:nvPr/>
        </p:nvSpPr>
        <p:spPr>
          <a:xfrm>
            <a:off x="5294376" y="1856232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Pydantic schemas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5202936" y="2377440"/>
            <a:ext cx="1783080" cy="438912"/>
          </a:xfrm>
          <a:prstGeom prst="roundRect">
            <a:avLst>
              <a:gd fmla="val 16667" name="adj"/>
            </a:avLst>
          </a:prstGeom>
          <a:solidFill>
            <a:srgbClr val="24365A"/>
          </a:solidFill>
          <a:ln cap="flat" cmpd="sng" w="12700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 txBox="1"/>
          <p:nvPr/>
        </p:nvSpPr>
        <p:spPr>
          <a:xfrm>
            <a:off x="5294376" y="2377440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Grounding + dedupe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5202936" y="2898648"/>
            <a:ext cx="1783080" cy="438912"/>
          </a:xfrm>
          <a:prstGeom prst="roundRect">
            <a:avLst>
              <a:gd fmla="val 16667" name="adj"/>
            </a:avLst>
          </a:prstGeom>
          <a:solidFill>
            <a:srgbClr val="24365A"/>
          </a:solidFill>
          <a:ln cap="flat" cmpd="sng" w="12700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6"/>
          <p:cNvSpPr txBox="1"/>
          <p:nvPr/>
        </p:nvSpPr>
        <p:spPr>
          <a:xfrm>
            <a:off x="5294376" y="2898648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ISO-3 normalisation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5202936" y="3419856"/>
            <a:ext cx="1783080" cy="438912"/>
          </a:xfrm>
          <a:prstGeom prst="roundRect">
            <a:avLst>
              <a:gd fmla="val 16667" name="adj"/>
            </a:avLst>
          </a:prstGeom>
          <a:solidFill>
            <a:srgbClr val="24365A"/>
          </a:solidFill>
          <a:ln cap="flat" cmpd="sng" w="12700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6"/>
          <p:cNvSpPr txBox="1"/>
          <p:nvPr/>
        </p:nvSpPr>
        <p:spPr>
          <a:xfrm>
            <a:off x="5294376" y="3419856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SQLite + Parquet cache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7159752" y="2971800"/>
            <a:ext cx="128016" cy="274320"/>
          </a:xfrm>
          <a:prstGeom prst="chevron">
            <a:avLst>
              <a:gd fmla="val 50000" name="adj"/>
            </a:avLst>
          </a:prstGeom>
          <a:solidFill>
            <a:srgbClr val="93A4BD"/>
          </a:solidFill>
          <a:ln cap="flat" cmpd="sng" w="12700">
            <a:solidFill>
              <a:srgbClr val="93A4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6"/>
          <p:cNvSpPr/>
          <p:nvPr/>
        </p:nvSpPr>
        <p:spPr>
          <a:xfrm>
            <a:off x="7324344" y="1234440"/>
            <a:ext cx="2057400" cy="3794760"/>
          </a:xfrm>
          <a:prstGeom prst="roundRect">
            <a:avLst>
              <a:gd fmla="val 3556" name="adj"/>
            </a:avLst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6"/>
          <p:cNvSpPr/>
          <p:nvPr/>
        </p:nvSpPr>
        <p:spPr>
          <a:xfrm>
            <a:off x="7498080" y="1417320"/>
            <a:ext cx="237744" cy="237744"/>
          </a:xfrm>
          <a:prstGeom prst="ellipse">
            <a:avLst/>
          </a:prstGeom>
          <a:solidFill>
            <a:schemeClr val="accent1">
              <a:alpha val="30196"/>
            </a:schemeClr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6"/>
          <p:cNvSpPr/>
          <p:nvPr/>
        </p:nvSpPr>
        <p:spPr>
          <a:xfrm>
            <a:off x="7567026" y="1486266"/>
            <a:ext cx="99852" cy="9985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6"/>
          <p:cNvSpPr txBox="1"/>
          <p:nvPr/>
        </p:nvSpPr>
        <p:spPr>
          <a:xfrm>
            <a:off x="7827264" y="1399032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7461504" y="1856232"/>
            <a:ext cx="1783080" cy="438912"/>
          </a:xfrm>
          <a:prstGeom prst="roundRect">
            <a:avLst>
              <a:gd fmla="val 16667" name="adj"/>
            </a:avLst>
          </a:prstGeom>
          <a:solidFill>
            <a:srgbClr val="24365A"/>
          </a:solidFill>
          <a:ln cap="flat" cmpd="sng" w="12700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6"/>
          <p:cNvSpPr txBox="1"/>
          <p:nvPr/>
        </p:nvSpPr>
        <p:spPr>
          <a:xfrm>
            <a:off x="7552944" y="1856232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Gravity model: seats → passengers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7461504" y="2377440"/>
            <a:ext cx="1783080" cy="438912"/>
          </a:xfrm>
          <a:prstGeom prst="roundRect">
            <a:avLst>
              <a:gd fmla="val 16667" name="adj"/>
            </a:avLst>
          </a:prstGeom>
          <a:solidFill>
            <a:srgbClr val="24365A"/>
          </a:solidFill>
          <a:ln cap="flat" cmpd="sng" w="12700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6"/>
          <p:cNvSpPr txBox="1"/>
          <p:nvPr/>
        </p:nvSpPr>
        <p:spPr>
          <a:xfrm>
            <a:off x="7552944" y="2377440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Effective distance (networkx)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7461504" y="2898648"/>
            <a:ext cx="1783080" cy="438912"/>
          </a:xfrm>
          <a:prstGeom prst="roundRect">
            <a:avLst>
              <a:gd fmla="val 16667" name="adj"/>
            </a:avLst>
          </a:prstGeom>
          <a:solidFill>
            <a:srgbClr val="24365A"/>
          </a:solidFill>
          <a:ln cap="flat" cmpd="sng" w="12700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6"/>
          <p:cNvSpPr txBox="1"/>
          <p:nvPr/>
        </p:nvSpPr>
        <p:spPr>
          <a:xfrm>
            <a:off x="7552944" y="2898648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Import λ, P(import)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7461504" y="3419856"/>
            <a:ext cx="1783080" cy="438912"/>
          </a:xfrm>
          <a:prstGeom prst="roundRect">
            <a:avLst>
              <a:gd fmla="val 16667" name="adj"/>
            </a:avLst>
          </a:prstGeom>
          <a:solidFill>
            <a:srgbClr val="24365A"/>
          </a:solidFill>
          <a:ln cap="flat" cmpd="sng" w="12700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6"/>
          <p:cNvSpPr txBox="1"/>
          <p:nvPr/>
        </p:nvSpPr>
        <p:spPr>
          <a:xfrm>
            <a:off x="7552944" y="3419856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Branching P(establish)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7461504" y="3941064"/>
            <a:ext cx="1783080" cy="438912"/>
          </a:xfrm>
          <a:prstGeom prst="roundRect">
            <a:avLst>
              <a:gd fmla="val 16667" name="adj"/>
            </a:avLst>
          </a:prstGeom>
          <a:solidFill>
            <a:srgbClr val="24365A"/>
          </a:solidFill>
          <a:ln cap="flat" cmpd="sng" w="12700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6"/>
          <p:cNvSpPr txBox="1"/>
          <p:nvPr/>
        </p:nvSpPr>
        <p:spPr>
          <a:xfrm>
            <a:off x="7552944" y="3941064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Low / central / high bands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9418320" y="2971800"/>
            <a:ext cx="128016" cy="274320"/>
          </a:xfrm>
          <a:prstGeom prst="chevron">
            <a:avLst>
              <a:gd fmla="val 50000" name="adj"/>
            </a:avLst>
          </a:prstGeom>
          <a:solidFill>
            <a:srgbClr val="93A4BD"/>
          </a:solidFill>
          <a:ln cap="flat" cmpd="sng" w="12700">
            <a:solidFill>
              <a:srgbClr val="93A4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6"/>
          <p:cNvSpPr/>
          <p:nvPr/>
        </p:nvSpPr>
        <p:spPr>
          <a:xfrm>
            <a:off x="9582912" y="1234440"/>
            <a:ext cx="2057400" cy="3794760"/>
          </a:xfrm>
          <a:prstGeom prst="roundRect">
            <a:avLst>
              <a:gd fmla="val 3556" name="adj"/>
            </a:avLst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6"/>
          <p:cNvSpPr/>
          <p:nvPr/>
        </p:nvSpPr>
        <p:spPr>
          <a:xfrm>
            <a:off x="9756648" y="1417320"/>
            <a:ext cx="237744" cy="237744"/>
          </a:xfrm>
          <a:prstGeom prst="ellipse">
            <a:avLst/>
          </a:prstGeom>
          <a:solidFill>
            <a:schemeClr val="accent2">
              <a:alpha val="30196"/>
            </a:schemeClr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6"/>
          <p:cNvSpPr/>
          <p:nvPr/>
        </p:nvSpPr>
        <p:spPr>
          <a:xfrm>
            <a:off x="9825594" y="1486266"/>
            <a:ext cx="99852" cy="99852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6"/>
          <p:cNvSpPr txBox="1"/>
          <p:nvPr/>
        </p:nvSpPr>
        <p:spPr>
          <a:xfrm>
            <a:off x="10085832" y="1399032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Serve &amp; show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9720072" y="1856232"/>
            <a:ext cx="1783080" cy="438912"/>
          </a:xfrm>
          <a:prstGeom prst="roundRect">
            <a:avLst>
              <a:gd fmla="val 16667" name="adj"/>
            </a:avLst>
          </a:prstGeom>
          <a:solidFill>
            <a:srgbClr val="24365A"/>
          </a:solidFill>
          <a:ln cap="flat" cmpd="sng" w="12700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6"/>
          <p:cNvSpPr txBox="1"/>
          <p:nvPr/>
        </p:nvSpPr>
        <p:spPr>
          <a:xfrm>
            <a:off x="9811512" y="1856232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FastAPI JSON endpoints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6"/>
          <p:cNvSpPr/>
          <p:nvPr/>
        </p:nvSpPr>
        <p:spPr>
          <a:xfrm>
            <a:off x="9720072" y="2377440"/>
            <a:ext cx="1783080" cy="438912"/>
          </a:xfrm>
          <a:prstGeom prst="roundRect">
            <a:avLst>
              <a:gd fmla="val 16667" name="adj"/>
            </a:avLst>
          </a:prstGeom>
          <a:solidFill>
            <a:srgbClr val="24365A"/>
          </a:solidFill>
          <a:ln cap="flat" cmpd="sng" w="12700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6"/>
          <p:cNvSpPr txBox="1"/>
          <p:nvPr/>
        </p:nvSpPr>
        <p:spPr>
          <a:xfrm>
            <a:off x="9811512" y="2377440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React + TypeScript (Vite)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6"/>
          <p:cNvSpPr/>
          <p:nvPr/>
        </p:nvSpPr>
        <p:spPr>
          <a:xfrm>
            <a:off x="9720072" y="2898648"/>
            <a:ext cx="1783080" cy="438912"/>
          </a:xfrm>
          <a:prstGeom prst="roundRect">
            <a:avLst>
              <a:gd fmla="val 16667" name="adj"/>
            </a:avLst>
          </a:prstGeom>
          <a:solidFill>
            <a:srgbClr val="24365A"/>
          </a:solidFill>
          <a:ln cap="flat" cmpd="sng" w="12700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6"/>
          <p:cNvSpPr txBox="1"/>
          <p:nvPr/>
        </p:nvSpPr>
        <p:spPr>
          <a:xfrm>
            <a:off x="9811512" y="2898648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MapLibre GL + deck.gl arcs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6"/>
          <p:cNvSpPr/>
          <p:nvPr/>
        </p:nvSpPr>
        <p:spPr>
          <a:xfrm>
            <a:off x="9720072" y="3419856"/>
            <a:ext cx="1783080" cy="438912"/>
          </a:xfrm>
          <a:prstGeom prst="roundRect">
            <a:avLst>
              <a:gd fmla="val 16667" name="adj"/>
            </a:avLst>
          </a:prstGeom>
          <a:solidFill>
            <a:srgbClr val="24365A"/>
          </a:solidFill>
          <a:ln cap="flat" cmpd="sng" w="12700">
            <a:solidFill>
              <a:srgbClr val="2436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6"/>
          <p:cNvSpPr txBox="1"/>
          <p:nvPr/>
        </p:nvSpPr>
        <p:spPr>
          <a:xfrm>
            <a:off x="9811512" y="3419856"/>
            <a:ext cx="16002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Scenario sliders · timeline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6"/>
          <p:cNvSpPr txBox="1"/>
          <p:nvPr/>
        </p:nvSpPr>
        <p:spPr>
          <a:xfrm>
            <a:off x="548640" y="523036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Every value carries a type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6"/>
          <p:cNvSpPr txBox="1"/>
          <p:nvPr/>
        </p:nvSpPr>
        <p:spPr>
          <a:xfrm>
            <a:off x="548640" y="5522976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observed · estimated · modelled · scenario — the UI colours and labels each differently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6"/>
          <p:cNvSpPr txBox="1"/>
          <p:nvPr/>
        </p:nvSpPr>
        <p:spPr>
          <a:xfrm>
            <a:off x="4297680" y="523036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Works offline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6"/>
          <p:cNvSpPr txBox="1"/>
          <p:nvPr/>
        </p:nvSpPr>
        <p:spPr>
          <a:xfrm>
            <a:off x="4297680" y="5522976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a cached snapshot of sources lets the demo run if any live API fails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6"/>
          <p:cNvSpPr txBox="1"/>
          <p:nvPr/>
        </p:nvSpPr>
        <p:spPr>
          <a:xfrm>
            <a:off x="8046720" y="523036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One small service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6"/>
          <p:cNvSpPr txBox="1"/>
          <p:nvPr/>
        </p:nvSpPr>
        <p:spPr>
          <a:xfrm>
            <a:off x="8046720" y="5522976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no microservices or paid data; a laptop runs the whole stack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6"/>
          <p:cNvSpPr txBox="1"/>
          <p:nvPr>
            <p:ph idx="4294967295" type="sldNum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3A4BD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93A4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7"/>
          <p:cNvSpPr txBox="1"/>
          <p:nvPr>
            <p:ph type="title"/>
          </p:nvPr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</a:rPr>
              <a:t>Calibrate on COVID-19, test on outbreaks it never saw</a:t>
            </a:r>
            <a:endParaRPr sz="3200"/>
          </a:p>
        </p:txBody>
      </p:sp>
      <p:graphicFrame>
        <p:nvGraphicFramePr>
          <p:cNvPr id="299" name="Google Shape;299;p7"/>
          <p:cNvGraphicFramePr/>
          <p:nvPr/>
        </p:nvGraphicFramePr>
        <p:xfrm>
          <a:off x="54864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{81EF6F9C-73D4-4558-90A6-ABFEC186596C}</a:tableStyleId>
              </a:tblPr>
              <a:tblGrid>
                <a:gridCol w="1325875"/>
                <a:gridCol w="2606050"/>
                <a:gridCol w="21031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EF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8EEF6"/>
                          </a:solidFill>
                        </a:rPr>
                        <a:t>Input</a:t>
                      </a:r>
                      <a:endParaRPr sz="1100" u="none" cap="none" strike="noStrike"/>
                    </a:p>
                  </a:txBody>
                  <a:tcPr marT="54875" marB="54875" marR="54875" marL="54875" anchor="ctr">
                    <a:lnL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6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EF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8EEF6"/>
                          </a:solidFill>
                        </a:rPr>
                        <a:t>Source</a:t>
                      </a:r>
                      <a:endParaRPr sz="1100" u="none" cap="none" strike="noStrike"/>
                    </a:p>
                  </a:txBody>
                  <a:tcPr marT="54875" marB="54875" marR="54875" marL="54875" anchor="ctr">
                    <a:lnL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6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EF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E8EEF6"/>
                          </a:solidFill>
                        </a:rPr>
                        <a:t>Honest caveat</a:t>
                      </a:r>
                      <a:endParaRPr sz="1100" u="none" cap="none" strike="noStrike"/>
                    </a:p>
                  </a:txBody>
                  <a:tcPr marT="54875" marB="54875" marR="54875" marL="54875" anchor="ctr">
                    <a:lnL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436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EF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8EEF6"/>
                          </a:solidFill>
                        </a:rPr>
                        <a:t>Live outbreaks</a:t>
                      </a:r>
                      <a:endParaRPr sz="1100" u="none" cap="none" strike="noStrike"/>
                    </a:p>
                  </a:txBody>
                  <a:tcPr marT="54875" marB="54875" marR="54875" marL="54875" anchor="ctr">
                    <a:lnL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EF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8EEF6"/>
                          </a:solidFill>
                        </a:rPr>
                        <a:t>WHO DON API + TinyFish-extracted pages</a:t>
                      </a:r>
                      <a:endParaRPr sz="1100" u="none" cap="none" strike="noStrike"/>
                    </a:p>
                  </a:txBody>
                  <a:tcPr marT="54875" marB="54875" marR="54875" marL="54875" anchor="ctr">
                    <a:lnL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EF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8EEF6"/>
                          </a:solidFill>
                        </a:rPr>
                        <a:t>Narrative counts; reporting lags</a:t>
                      </a:r>
                      <a:endParaRPr sz="1100" u="none" cap="none" strike="noStrike"/>
                    </a:p>
                  </a:txBody>
                  <a:tcPr marT="54875" marB="54875" marR="54875" marL="54875" anchor="ctr">
                    <a:lnL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EF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8EEF6"/>
                          </a:solidFill>
                        </a:rPr>
                        <a:t>Passengers F</a:t>
                      </a:r>
                      <a:endParaRPr sz="1100" u="none" cap="none" strike="noStrike"/>
                    </a:p>
                  </a:txBody>
                  <a:tcPr marT="54875" marB="54875" marR="54875" marL="54875" anchor="ctr">
                    <a:lnL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EF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8EEF6"/>
                          </a:solidFill>
                        </a:rPr>
                        <a:t>BTS T-100 &amp; Eurostat (observed); gravity model elsewhere</a:t>
                      </a:r>
                      <a:endParaRPr sz="1100" u="none" cap="none" strike="noStrike"/>
                    </a:p>
                  </a:txBody>
                  <a:tcPr marT="54875" marB="54875" marR="54875" marL="54875" anchor="ctr">
                    <a:lnL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EF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8EEF6"/>
                          </a:solidFill>
                        </a:rPr>
                        <a:t>No free global O–D bookings → labelled proxy</a:t>
                      </a:r>
                      <a:endParaRPr sz="1100" u="none" cap="none" strike="noStrike"/>
                    </a:p>
                  </a:txBody>
                  <a:tcPr marT="54875" marB="54875" marR="54875" marL="54875" anchor="ctr">
                    <a:lnL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EF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8EEF6"/>
                          </a:solidFill>
                        </a:rPr>
                        <a:t>Route topology</a:t>
                      </a:r>
                      <a:endParaRPr sz="1100" u="none" cap="none" strike="noStrike"/>
                    </a:p>
                  </a:txBody>
                  <a:tcPr marT="54875" marB="54875" marR="54875" marL="54875" anchor="ctr">
                    <a:lnL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EF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8EEF6"/>
                          </a:solidFill>
                        </a:rPr>
                        <a:t>OpenFlights; OpenSky flight counts 2019–22</a:t>
                      </a:r>
                      <a:endParaRPr sz="1100" u="none" cap="none" strike="noStrike"/>
                    </a:p>
                  </a:txBody>
                  <a:tcPr marT="54875" marB="54875" marR="54875" marL="54875" anchor="ctr">
                    <a:lnL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EF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8EEF6"/>
                          </a:solidFill>
                        </a:rPr>
                        <a:t>Counts flights, not people</a:t>
                      </a:r>
                      <a:endParaRPr sz="1100" u="none" cap="none" strike="noStrike"/>
                    </a:p>
                  </a:txBody>
                  <a:tcPr marT="54875" marB="54875" marR="54875" marL="54875" anchor="ctr">
                    <a:lnL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EF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8EEF6"/>
                          </a:solidFill>
                        </a:rPr>
                        <a:t>Prevalence I/N</a:t>
                      </a:r>
                      <a:endParaRPr sz="1100" u="none" cap="none" strike="noStrike"/>
                    </a:p>
                  </a:txBody>
                  <a:tcPr marT="54875" marB="54875" marR="54875" marL="54875" anchor="ctr">
                    <a:lnL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EF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8EEF6"/>
                          </a:solidFill>
                        </a:rPr>
                        <a:t>OWID / JHU cases ÷ WorldPop or UN population</a:t>
                      </a:r>
                      <a:endParaRPr sz="1100" u="none" cap="none" strike="noStrike"/>
                    </a:p>
                  </a:txBody>
                  <a:tcPr marT="54875" marB="54875" marR="54875" marL="54875" anchor="ctr">
                    <a:lnL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EF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8EEF6"/>
                          </a:solidFill>
                        </a:rPr>
                        <a:t>Testing bias → under-reporting band</a:t>
                      </a:r>
                      <a:endParaRPr sz="1100" u="none" cap="none" strike="noStrike"/>
                    </a:p>
                  </a:txBody>
                  <a:tcPr marT="54875" marB="54875" marR="54875" marL="54875" anchor="ctr">
                    <a:lnL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EF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8EEF6"/>
                          </a:solidFill>
                        </a:rPr>
                        <a:t>Policy σ</a:t>
                      </a:r>
                      <a:endParaRPr sz="1100" u="none" cap="none" strike="noStrike"/>
                    </a:p>
                  </a:txBody>
                  <a:tcPr marT="54875" marB="54875" marR="54875" marL="54875" anchor="ctr">
                    <a:lnL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EF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8EEF6"/>
                          </a:solidFill>
                        </a:rPr>
                        <a:t>OxCGRT (to 2022); TinyFish flag for live</a:t>
                      </a:r>
                      <a:endParaRPr sz="1100" u="none" cap="none" strike="noStrike"/>
                    </a:p>
                  </a:txBody>
                  <a:tcPr marT="54875" marB="54875" marR="54875" marL="54875" anchor="ctr">
                    <a:lnL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A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EF6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8EEF6"/>
                          </a:solidFill>
                        </a:rPr>
                        <a:t>Needs human confirmation</a:t>
                      </a:r>
                      <a:endParaRPr sz="1100" u="none" cap="none" strike="noStrike"/>
                    </a:p>
                  </a:txBody>
                  <a:tcPr marT="54875" marB="54875" marR="54875" marL="54875" anchor="ctr">
                    <a:lnL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0B132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A44"/>
                    </a:solidFill>
                  </a:tcPr>
                </a:tc>
              </a:tr>
            </a:tbl>
          </a:graphicData>
        </a:graphic>
      </p:graphicFrame>
      <p:sp>
        <p:nvSpPr>
          <p:cNvPr id="300" name="Google Shape;300;p7"/>
          <p:cNvSpPr txBox="1"/>
          <p:nvPr/>
        </p:nvSpPr>
        <p:spPr>
          <a:xfrm>
            <a:off x="6903720" y="1234440"/>
            <a:ext cx="473659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Validation plan (to be run — no accuracy claimed yet)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6922008" y="1746504"/>
            <a:ext cx="256032" cy="256032"/>
          </a:xfrm>
          <a:prstGeom prst="ellipse">
            <a:avLst/>
          </a:prstGeom>
          <a:solidFill>
            <a:schemeClr val="accent1">
              <a:alpha val="30196"/>
            </a:schemeClr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7"/>
          <p:cNvSpPr/>
          <p:nvPr/>
        </p:nvSpPr>
        <p:spPr>
          <a:xfrm>
            <a:off x="6996257" y="1820753"/>
            <a:ext cx="107533" cy="107533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7"/>
          <p:cNvSpPr txBox="1"/>
          <p:nvPr/>
        </p:nvSpPr>
        <p:spPr>
          <a:xfrm>
            <a:off x="7315200" y="171907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7"/>
          <p:cNvSpPr txBox="1"/>
          <p:nvPr/>
        </p:nvSpPr>
        <p:spPr>
          <a:xfrm>
            <a:off x="8229600" y="1691640"/>
            <a:ext cx="341071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COVID-19 first wave: arrival time vs effective distance; fit the passenger coefficient, then freeze 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6922008" y="2615184"/>
            <a:ext cx="256032" cy="256032"/>
          </a:xfrm>
          <a:prstGeom prst="ellipse">
            <a:avLst/>
          </a:prstGeom>
          <a:solidFill>
            <a:schemeClr val="accent4">
              <a:alpha val="30196"/>
            </a:schemeClr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7"/>
          <p:cNvSpPr/>
          <p:nvPr/>
        </p:nvSpPr>
        <p:spPr>
          <a:xfrm>
            <a:off x="6996257" y="2689433"/>
            <a:ext cx="107533" cy="107533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7"/>
          <p:cNvSpPr txBox="1"/>
          <p:nvPr/>
        </p:nvSpPr>
        <p:spPr>
          <a:xfrm>
            <a:off x="7315200" y="258775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7"/>
          <p:cNvSpPr txBox="1"/>
          <p:nvPr/>
        </p:nvSpPr>
        <p:spPr>
          <a:xfrm>
            <a:off x="8229600" y="2560320"/>
            <a:ext cx="341071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Delta &amp; Omicron introduction order; H1N1 2009 and SARS 2003 rank correlation, nothing refit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6922008" y="3483864"/>
            <a:ext cx="256032" cy="256032"/>
          </a:xfrm>
          <a:prstGeom prst="ellipse">
            <a:avLst/>
          </a:prstGeom>
          <a:solidFill>
            <a:schemeClr val="accent2">
              <a:alpha val="30196"/>
            </a:schemeClr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7"/>
          <p:cNvSpPr/>
          <p:nvPr/>
        </p:nvSpPr>
        <p:spPr>
          <a:xfrm>
            <a:off x="6996257" y="3558113"/>
            <a:ext cx="107533" cy="107533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7"/>
          <p:cNvSpPr txBox="1"/>
          <p:nvPr/>
        </p:nvSpPr>
        <p:spPr>
          <a:xfrm>
            <a:off x="7315200" y="345643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Control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"/>
          <p:cNvSpPr txBox="1"/>
          <p:nvPr/>
        </p:nvSpPr>
        <p:spPr>
          <a:xfrm>
            <a:off x="8229600" y="3429000"/>
            <a:ext cx="341071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MERS &amp; Ebola: low α must keep international establishment low — if it fires, α is wrong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6922008" y="4352544"/>
            <a:ext cx="256032" cy="256032"/>
          </a:xfrm>
          <a:prstGeom prst="ellipse">
            <a:avLst/>
          </a:prstGeom>
          <a:solidFill>
            <a:schemeClr val="accent6">
              <a:alpha val="30196"/>
            </a:schemeClr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7"/>
          <p:cNvSpPr/>
          <p:nvPr/>
        </p:nvSpPr>
        <p:spPr>
          <a:xfrm>
            <a:off x="6996257" y="4426793"/>
            <a:ext cx="107533" cy="107533"/>
          </a:xfrm>
          <a:prstGeom prst="ellipse">
            <a:avLst/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7"/>
          <p:cNvSpPr txBox="1"/>
          <p:nvPr/>
        </p:nvSpPr>
        <p:spPr>
          <a:xfrm>
            <a:off x="7315200" y="4325112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Contrast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7"/>
          <p:cNvSpPr txBox="1"/>
          <p:nvPr/>
        </p:nvSpPr>
        <p:spPr>
          <a:xfrm>
            <a:off x="8229600" y="4297680"/>
            <a:ext cx="341071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Zika: high importation, establishment set by mosquito climate, not flights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7"/>
          <p:cNvSpPr/>
          <p:nvPr/>
        </p:nvSpPr>
        <p:spPr>
          <a:xfrm>
            <a:off x="548640" y="4206240"/>
            <a:ext cx="6035040" cy="1463040"/>
          </a:xfrm>
          <a:prstGeom prst="roundRect">
            <a:avLst>
              <a:gd fmla="val 5000" name="adj"/>
            </a:avLst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7"/>
          <p:cNvSpPr txBox="1"/>
          <p:nvPr/>
        </p:nvSpPr>
        <p:spPr>
          <a:xfrm>
            <a:off x="777240" y="4343400"/>
            <a:ext cx="5577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Better labels than ‘first confirmed case’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7"/>
          <p:cNvSpPr txBox="1"/>
          <p:nvPr/>
        </p:nvSpPr>
        <p:spPr>
          <a:xfrm>
            <a:off x="777240" y="4663440"/>
            <a:ext cx="55778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First official case dates mostly measure who was testing. Where available we use Nextstrain lineage-introduction dates as the arrival label, and we report rank correlation per outbreak — one pandemic cannot prove universal accuracy.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7"/>
          <p:cNvSpPr txBox="1"/>
          <p:nvPr/>
        </p:nvSpPr>
        <p:spPr>
          <a:xfrm>
            <a:off x="548640" y="6035040"/>
            <a:ext cx="11094415" cy="40233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Sources: OWID covid-19-data; JHU CSSE archive; OxCGRT final release; BTS T-100; Eurostat avia; OpenFlights; OpenSky COVID dataset (Zenodo); WorldPop (Huang 2013, Mao 2015); Nextstrain. Plan from the 14 Oct 2026 briefing note.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7"/>
          <p:cNvSpPr txBox="1"/>
          <p:nvPr>
            <p:ph idx="4294967295" type="sldNum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3A4BD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93A4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8"/>
          <p:cNvSpPr txBox="1"/>
          <p:nvPr>
            <p:ph type="title"/>
          </p:nvPr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</a:rPr>
              <a:t>Scalability, feasibility and use case</a:t>
            </a:r>
            <a:endParaRPr sz="3200"/>
          </a:p>
        </p:txBody>
      </p:sp>
      <p:sp>
        <p:nvSpPr>
          <p:cNvPr id="328" name="Google Shape;328;p8"/>
          <p:cNvSpPr/>
          <p:nvPr/>
        </p:nvSpPr>
        <p:spPr>
          <a:xfrm>
            <a:off x="548640" y="1188720"/>
            <a:ext cx="2240280" cy="3429000"/>
          </a:xfrm>
          <a:prstGeom prst="roundRect">
            <a:avLst>
              <a:gd fmla="val 3265" name="adj"/>
            </a:avLst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8"/>
          <p:cNvSpPr txBox="1"/>
          <p:nvPr/>
        </p:nvSpPr>
        <p:spPr>
          <a:xfrm>
            <a:off x="731520" y="1325880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libri"/>
              <a:buNone/>
            </a:pPr>
            <a:r>
              <a:rPr b="1" lang="en-US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Stage-1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 txBox="1"/>
          <p:nvPr/>
        </p:nvSpPr>
        <p:spPr>
          <a:xfrm>
            <a:off x="731520" y="1691640"/>
            <a:ext cx="192024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Map with real WHO DON records + source links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TinyFish Fetch→Agent extraction with validation gate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Import model with low/central/high bands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Country panel: presence vs import vs establish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Offline cached snapshot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2944368" y="1188720"/>
            <a:ext cx="2240280" cy="3429000"/>
          </a:xfrm>
          <a:prstGeom prst="roundRect">
            <a:avLst>
              <a:gd fmla="val 3265" name="adj"/>
            </a:avLst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8"/>
          <p:cNvSpPr txBox="1"/>
          <p:nvPr/>
        </p:nvSpPr>
        <p:spPr>
          <a:xfrm>
            <a:off x="3127248" y="1325880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</a:pPr>
            <a:r>
              <a:rPr b="1" lang="en-US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Stage-2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 txBox="1"/>
          <p:nvPr/>
        </p:nvSpPr>
        <p:spPr>
          <a:xfrm>
            <a:off x="3127248" y="1691640"/>
            <a:ext cx="192024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Hub arcs + effective-distance ranking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Gravity-model passenger proxy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TinyFish Monitor webhook ingest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σ policy flags with human confirm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5340096" y="1188720"/>
            <a:ext cx="2240280" cy="3429000"/>
          </a:xfrm>
          <a:prstGeom prst="roundRect">
            <a:avLst>
              <a:gd fmla="val 3265" name="adj"/>
            </a:avLst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8"/>
          <p:cNvSpPr txBox="1"/>
          <p:nvPr/>
        </p:nvSpPr>
        <p:spPr>
          <a:xfrm>
            <a:off x="5522976" y="1325880"/>
            <a:ext cx="1874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alibri"/>
              <a:buNone/>
            </a:pPr>
            <a:r>
              <a:rPr b="1" lang="en-US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Stage-3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8"/>
          <p:cNvSpPr txBox="1"/>
          <p:nvPr/>
        </p:nvSpPr>
        <p:spPr>
          <a:xfrm>
            <a:off x="5522976" y="1691640"/>
            <a:ext cx="192024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Full COVID calibration + held-out tests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Seats × load factor from live schedules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Sub-national (admin-1) resolution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Licensed O–D bookings if available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 txBox="1"/>
          <p:nvPr/>
        </p:nvSpPr>
        <p:spPr>
          <a:xfrm>
            <a:off x="7909560" y="1188720"/>
            <a:ext cx="37307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Why it is feasible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8"/>
          <p:cNvSpPr txBox="1"/>
          <p:nvPr/>
        </p:nvSpPr>
        <p:spPr>
          <a:xfrm>
            <a:off x="7909560" y="1600200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 txBox="1"/>
          <p:nvPr/>
        </p:nvSpPr>
        <p:spPr>
          <a:xfrm>
            <a:off x="9144000" y="1600200"/>
            <a:ext cx="24963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every dataset is free; paid feeds are optional upgrades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 txBox="1"/>
          <p:nvPr/>
        </p:nvSpPr>
        <p:spPr>
          <a:xfrm>
            <a:off x="7909560" y="2377440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$8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 txBox="1"/>
          <p:nvPr/>
        </p:nvSpPr>
        <p:spPr>
          <a:xfrm>
            <a:off x="9144000" y="2377440"/>
            <a:ext cx="24963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starter wallet ≈ 500 Agent steps; TinyFish Search and Fetch are free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8"/>
          <p:cNvSpPr txBox="1"/>
          <p:nvPr/>
        </p:nvSpPr>
        <p:spPr>
          <a:xfrm>
            <a:off x="7909560" y="3154680"/>
            <a:ext cx="1188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Offline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8"/>
          <p:cNvSpPr txBox="1"/>
          <p:nvPr/>
        </p:nvSpPr>
        <p:spPr>
          <a:xfrm>
            <a:off x="9144000" y="3154680"/>
            <a:ext cx="24963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cached snapshot keeps the demo alive if APIs fail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8"/>
          <p:cNvSpPr txBox="1"/>
          <p:nvPr/>
        </p:nvSpPr>
        <p:spPr>
          <a:xfrm>
            <a:off x="7909560" y="3977640"/>
            <a:ext cx="37307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How it scales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 txBox="1"/>
          <p:nvPr/>
        </p:nvSpPr>
        <p:spPr>
          <a:xfrm>
            <a:off x="7909560" y="4297680"/>
            <a:ext cx="373075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Countries are nodes and routes are edges (~200 × 200), so recomputing every destination is a sub-second matrix job; new sources are a new extraction goal + schema, not new code.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548640" y="4846320"/>
            <a:ext cx="7223760" cy="1234440"/>
          </a:xfrm>
          <a:prstGeom prst="roundRect">
            <a:avLst>
              <a:gd fmla="val 5926" name="adj"/>
            </a:avLst>
          </a:prstGeom>
          <a:solidFill>
            <a:srgbClr val="131F35"/>
          </a:solidFill>
          <a:ln cap="flat" cmpd="sng" w="12700">
            <a:solidFill>
              <a:srgbClr val="131F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8"/>
          <p:cNvSpPr txBox="1"/>
          <p:nvPr/>
        </p:nvSpPr>
        <p:spPr>
          <a:xfrm>
            <a:off x="777240" y="4956048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Use case walk-through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8"/>
          <p:cNvSpPr txBox="1"/>
          <p:nvPr/>
        </p:nvSpPr>
        <p:spPr>
          <a:xfrm>
            <a:off x="777240" y="5257800"/>
            <a:ext cx="6766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WHO publishes a new outbreak report → Monitor fires → Fetch + Agent extract it → it appears on the map within minutes with its source → an airport health officer selects India, sees the 14-day importation range and the top three origin routes, and drags σ to compare screening options.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 txBox="1"/>
          <p:nvPr>
            <p:ph idx="4294967295" type="sldNum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3A4BD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93A4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9"/>
          <p:cNvSpPr txBox="1"/>
          <p:nvPr>
            <p:ph type="title"/>
          </p:nvPr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</a:rPr>
              <a:t>Honest by design: safeguards, scenario timeline, roadmap</a:t>
            </a:r>
            <a:endParaRPr sz="3200"/>
          </a:p>
        </p:txBody>
      </p:sp>
      <p:sp>
        <p:nvSpPr>
          <p:cNvPr id="356" name="Google Shape;356;p9"/>
          <p:cNvSpPr txBox="1"/>
          <p:nvPr/>
        </p:nvSpPr>
        <p:spPr>
          <a:xfrm>
            <a:off x="548640" y="118872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Safeguards built into the product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 txBox="1"/>
          <p:nvPr/>
        </p:nvSpPr>
        <p:spPr>
          <a:xfrm>
            <a:off x="548640" y="1572768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Observed, estimated, modelled and scenario values are labelled and coloured differently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number without inputs: missing data shows ‘not estimable’, never a guess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Ranges, not point values; every assumption is a visible slider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Official WHO / national travel guidance stays the action layer; we link to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548640" y="3520440"/>
            <a:ext cx="5486400" cy="2240280"/>
          </a:xfrm>
          <a:prstGeom prst="roundRect">
            <a:avLst>
              <a:gd fmla="val 3265" name="adj"/>
            </a:avLst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9"/>
          <p:cNvSpPr txBox="1"/>
          <p:nvPr/>
        </p:nvSpPr>
        <p:spPr>
          <a:xfrm>
            <a:off x="777240" y="3639312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Scenario risk-threshold timeline (replaces ‘last safe day to leave’)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0" name="Google Shape;360;p9"/>
          <p:cNvCxnSpPr/>
          <p:nvPr/>
        </p:nvCxnSpPr>
        <p:spPr>
          <a:xfrm>
            <a:off x="914400" y="4526280"/>
            <a:ext cx="4754880" cy="0"/>
          </a:xfrm>
          <a:prstGeom prst="straightConnector1">
            <a:avLst/>
          </a:prstGeom>
          <a:noFill/>
          <a:ln cap="flat" cmpd="sng" w="19050">
            <a:solidFill>
              <a:srgbClr val="93A4B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p9"/>
          <p:cNvSpPr/>
          <p:nvPr/>
        </p:nvSpPr>
        <p:spPr>
          <a:xfrm>
            <a:off x="1660550" y="4416552"/>
            <a:ext cx="219456" cy="219456"/>
          </a:xfrm>
          <a:prstGeom prst="ellipse">
            <a:avLst/>
          </a:prstGeom>
          <a:solidFill>
            <a:schemeClr val="accent1">
              <a:alpha val="30196"/>
            </a:schemeClr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9"/>
          <p:cNvSpPr/>
          <p:nvPr/>
        </p:nvSpPr>
        <p:spPr>
          <a:xfrm>
            <a:off x="1724193" y="4480194"/>
            <a:ext cx="92172" cy="9217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9"/>
          <p:cNvSpPr txBox="1"/>
          <p:nvPr/>
        </p:nvSpPr>
        <p:spPr>
          <a:xfrm>
            <a:off x="1038758" y="4041648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Import ≥ 50%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3087014" y="4416552"/>
            <a:ext cx="219456" cy="219456"/>
          </a:xfrm>
          <a:prstGeom prst="ellipse">
            <a:avLst/>
          </a:prstGeom>
          <a:solidFill>
            <a:schemeClr val="accent2">
              <a:alpha val="30196"/>
            </a:schemeClr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9"/>
          <p:cNvSpPr/>
          <p:nvPr/>
        </p:nvSpPr>
        <p:spPr>
          <a:xfrm>
            <a:off x="3150657" y="4480194"/>
            <a:ext cx="92172" cy="92172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9"/>
          <p:cNvSpPr txBox="1"/>
          <p:nvPr/>
        </p:nvSpPr>
        <p:spPr>
          <a:xfrm>
            <a:off x="2465222" y="4041648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Establish ≥ 50%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4608576" y="4416552"/>
            <a:ext cx="219456" cy="219456"/>
          </a:xfrm>
          <a:prstGeom prst="ellipse">
            <a:avLst/>
          </a:prstGeom>
          <a:solidFill>
            <a:schemeClr val="accent6">
              <a:alpha val="30196"/>
            </a:schemeClr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9"/>
          <p:cNvSpPr/>
          <p:nvPr/>
        </p:nvSpPr>
        <p:spPr>
          <a:xfrm>
            <a:off x="4672218" y="4480194"/>
            <a:ext cx="92172" cy="92172"/>
          </a:xfrm>
          <a:prstGeom prst="ellipse">
            <a:avLst/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9"/>
          <p:cNvSpPr txBox="1"/>
          <p:nvPr/>
        </p:nvSpPr>
        <p:spPr>
          <a:xfrm>
            <a:off x="3986784" y="4041648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Local prevalence &gt; reachable places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9"/>
          <p:cNvSpPr txBox="1"/>
          <p:nvPr/>
        </p:nvSpPr>
        <p:spPr>
          <a:xfrm>
            <a:off x="777240" y="4800600"/>
            <a:ext cx="5029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Upper-band inputs (high under-reporting, high R, σ = 0, schedules unchanged) with a user-set threshold. It is a scenario marker, not a safety date; leaving late can export infection to others. Follow WHO and national advisories.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6446520" y="3520440"/>
            <a:ext cx="5193792" cy="2240280"/>
          </a:xfrm>
          <a:prstGeom prst="roundRect">
            <a:avLst>
              <a:gd fmla="val 3265" name="adj"/>
            </a:avLst>
          </a:prstGeom>
          <a:solidFill>
            <a:schemeClr val="accent5"/>
          </a:solidFill>
          <a:ln cap="flat" cmpd="sng" w="127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9"/>
          <p:cNvSpPr txBox="1"/>
          <p:nvPr/>
        </p:nvSpPr>
        <p:spPr>
          <a:xfrm>
            <a:off x="6675120" y="3639312"/>
            <a:ext cx="4736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 txBox="1"/>
          <p:nvPr/>
        </p:nvSpPr>
        <p:spPr>
          <a:xfrm>
            <a:off x="6675120" y="3959352"/>
            <a:ext cx="4782312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Brockmann &amp; Helbing. Science 2013;342:1337–42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Lloyd-Smith et al. Nature 2005;438:355–9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Huang et al. PLOS ONE 2013;8:e64317 · Mao et al. J Transp Geogr 2015;48:52–60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WHO DON API: who.int/api/news/diseaseoutbreaknews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OWID covid-19-data · JHU CSSE · OxCGRT · BTS T-100 · Eurostat · OpenFlights · OpenSky · Nextstrain · GLEAM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TinyFish docs: docs.tinyfish.ai (Agent, Fetch, Search, Monitor), accessed 15 Oct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9"/>
          <p:cNvSpPr txBox="1"/>
          <p:nvPr>
            <p:ph idx="4294967295" type="sldNum"/>
          </p:nvPr>
        </p:nvSpPr>
        <p:spPr>
          <a:xfrm>
            <a:off x="11094415" y="6473952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93A4BD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rgbClr val="93A4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piRoute Night">
  <a:themeElements>
    <a:clrScheme name="EpiRoute Night">
      <a:dk1>
        <a:srgbClr val="0B1320"/>
      </a:dk1>
      <a:lt1>
        <a:srgbClr val="E8EEF6"/>
      </a:lt1>
      <a:dk2>
        <a:srgbClr val="16213A"/>
      </a:dk2>
      <a:lt2>
        <a:srgbClr val="93A4BD"/>
      </a:lt2>
      <a:accent1>
        <a:srgbClr val="FFB547"/>
      </a:accent1>
      <a:accent2>
        <a:srgbClr val="FF6B5B"/>
      </a:accent2>
      <a:accent3>
        <a:srgbClr val="2EC4B6"/>
      </a:accent3>
      <a:accent4>
        <a:srgbClr val="8FB3FF"/>
      </a:accent4>
      <a:accent5>
        <a:srgbClr val="1C2A44"/>
      </a:accent5>
      <a:accent6>
        <a:srgbClr val="C792EA"/>
      </a:accent6>
      <a:hlink>
        <a:srgbClr val="8FB3FF"/>
      </a:hlink>
      <a:folHlink>
        <a:srgbClr val="C792E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piRoute Night">
  <a:themeElements>
    <a:clrScheme name="EpiRoute Night">
      <a:dk1>
        <a:srgbClr val="0B1320"/>
      </a:dk1>
      <a:lt1>
        <a:srgbClr val="E8EEF6"/>
      </a:lt1>
      <a:dk2>
        <a:srgbClr val="16213A"/>
      </a:dk2>
      <a:lt2>
        <a:srgbClr val="93A4BD"/>
      </a:lt2>
      <a:accent1>
        <a:srgbClr val="FFB547"/>
      </a:accent1>
      <a:accent2>
        <a:srgbClr val="FF6B5B"/>
      </a:accent2>
      <a:accent3>
        <a:srgbClr val="2EC4B6"/>
      </a:accent3>
      <a:accent4>
        <a:srgbClr val="8FB3FF"/>
      </a:accent4>
      <a:accent5>
        <a:srgbClr val="1C2A44"/>
      </a:accent5>
      <a:accent6>
        <a:srgbClr val="C792EA"/>
      </a:accent6>
      <a:hlink>
        <a:srgbClr val="8FB3FF"/>
      </a:hlink>
      <a:folHlink>
        <a:srgbClr val="C792E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2026-10-14T21:01:32Z</dcterms:created>
  <dc:creator>Team [Team name]</dc:creator>
</cp:coreProperties>
</file>